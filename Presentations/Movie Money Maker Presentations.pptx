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Montserrat"/>
      <p:bold r:id="rId17"/>
      <p:boldItalic r:id="rId18"/>
    </p:embeddedFont>
    <p:embeddedFont>
      <p:font typeface="Open Sans SemiBold"/>
      <p:regular r:id="rId19"/>
      <p:bold r:id="rId20"/>
      <p:italic r:id="rId21"/>
      <p:boldItalic r:id="rId22"/>
    </p:embeddedFont>
    <p:embeddedFont>
      <p:font typeface="Montserrat ExtraBold"/>
      <p:bold r:id="rId23"/>
      <p:boldItalic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SemiBold-bold.fntdata"/><Relationship Id="rId22" Type="http://schemas.openxmlformats.org/officeDocument/2006/relationships/font" Target="fonts/OpenSansSemiBold-boldItalic.fntdata"/><Relationship Id="rId21" Type="http://schemas.openxmlformats.org/officeDocument/2006/relationships/font" Target="fonts/OpenSansSemiBold-italic.fntdata"/><Relationship Id="rId24" Type="http://schemas.openxmlformats.org/officeDocument/2006/relationships/font" Target="fonts/MontserratExtraBold-boldItalic.fntdata"/><Relationship Id="rId23" Type="http://schemas.openxmlformats.org/officeDocument/2006/relationships/font" Target="fonts/MontserratExtra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slide" Target="slides/slide11.xml"/><Relationship Id="rId19" Type="http://schemas.openxmlformats.org/officeDocument/2006/relationships/font" Target="fonts/OpenSansSemiBold-regular.fntdata"/><Relationship Id="rId18" Type="http://schemas.openxmlformats.org/officeDocument/2006/relationships/font" Target="fonts/Montserra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409e063c4b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409e063c4b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409e063c4b2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409e063c4b2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409e063c4b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409e063c4b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409e063c4b2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409e063c4b2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409e063c4b2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409e063c4b2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409e063c4b2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409e063c4b2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409e063c4b2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409e063c4b2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409e063c4b2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409e063c4b2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409e063c4b2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409e063c4b2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b589f0591_62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b589f0591_62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b589f0591_62_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fb589f0591_62_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grpSp>
        <p:nvGrpSpPr>
          <p:cNvPr id="84" name="Google Shape;84;p13"/>
          <p:cNvGrpSpPr/>
          <p:nvPr/>
        </p:nvGrpSpPr>
        <p:grpSpPr>
          <a:xfrm>
            <a:off x="952500" y="1238250"/>
            <a:ext cx="3333900" cy="342900"/>
            <a:chOff x="0" y="0"/>
            <a:chExt cx="3333900" cy="342900"/>
          </a:xfrm>
        </p:grpSpPr>
        <p:sp>
          <p:nvSpPr>
            <p:cNvPr id="85" name="Google Shape;85;p13"/>
            <p:cNvSpPr/>
            <p:nvPr/>
          </p:nvSpPr>
          <p:spPr>
            <a:xfrm>
              <a:off x="0" y="0"/>
              <a:ext cx="3333900" cy="342900"/>
            </a:xfrm>
            <a:prstGeom prst="roundRect">
              <a:avLst>
                <a:gd fmla="val 50000" name="adj"/>
              </a:avLst>
            </a:prstGeom>
            <a:solidFill>
              <a:srgbClr val="1E293B"/>
            </a:solidFill>
            <a:ln cap="flat" cmpd="sng" w="1430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3"/>
            <p:cNvSpPr txBox="1"/>
            <p:nvPr/>
          </p:nvSpPr>
          <p:spPr>
            <a:xfrm>
              <a:off x="0" y="0"/>
              <a:ext cx="3333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39C12"/>
                  </a:solidFill>
                  <a:latin typeface="Montserrat"/>
                  <a:ea typeface="Montserrat"/>
                  <a:cs typeface="Montserrat"/>
                  <a:sym typeface="Montserrat"/>
                </a:rPr>
                <a:t>AVERY DENNISON Assignment</a:t>
              </a:r>
              <a:endParaRPr b="1" sz="1000">
                <a:solidFill>
                  <a:srgbClr val="F39C12"/>
                </a:solidFill>
                <a:latin typeface="Montserrat"/>
                <a:ea typeface="Montserrat"/>
                <a:cs typeface="Montserrat"/>
                <a:sym typeface="Montserrat"/>
              </a:endParaRPr>
            </a:p>
          </p:txBody>
        </p:sp>
      </p:grpSp>
      <p:grpSp>
        <p:nvGrpSpPr>
          <p:cNvPr id="87" name="Google Shape;87;p13"/>
          <p:cNvGrpSpPr/>
          <p:nvPr/>
        </p:nvGrpSpPr>
        <p:grpSpPr>
          <a:xfrm>
            <a:off x="952500" y="1857375"/>
            <a:ext cx="6191250" cy="3000525"/>
            <a:chOff x="0" y="0"/>
            <a:chExt cx="6191250" cy="3000525"/>
          </a:xfrm>
        </p:grpSpPr>
        <p:sp>
          <p:nvSpPr>
            <p:cNvPr id="88" name="Google Shape;88;p13"/>
            <p:cNvSpPr/>
            <p:nvPr/>
          </p:nvSpPr>
          <p:spPr>
            <a:xfrm>
              <a:off x="0" y="47625"/>
              <a:ext cx="57300" cy="29529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3"/>
            <p:cNvSpPr txBox="1"/>
            <p:nvPr/>
          </p:nvSpPr>
          <p:spPr>
            <a:xfrm>
              <a:off x="285750" y="0"/>
              <a:ext cx="59055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5200">
                  <a:solidFill>
                    <a:srgbClr val="FFFFFF"/>
                  </a:solidFill>
                  <a:latin typeface="Montserrat ExtraBold"/>
                  <a:ea typeface="Montserrat ExtraBold"/>
                  <a:cs typeface="Montserrat ExtraBold"/>
                  <a:sym typeface="Montserrat ExtraBold"/>
                </a:rPr>
                <a:t>Movie</a:t>
              </a:r>
              <a:endParaRPr b="0" sz="5200">
                <a:solidFill>
                  <a:srgbClr val="FFFFFF"/>
                </a:solidFill>
                <a:latin typeface="Montserrat ExtraBold"/>
                <a:ea typeface="Montserrat ExtraBold"/>
                <a:cs typeface="Montserrat ExtraBold"/>
                <a:sym typeface="Montserrat ExtraBold"/>
              </a:endParaRPr>
            </a:p>
            <a:p>
              <a:pPr indent="0" lvl="0" marL="0" rtl="0" algn="l">
                <a:spcBef>
                  <a:spcPts val="450"/>
                </a:spcBef>
                <a:spcAft>
                  <a:spcPts val="0"/>
                </a:spcAft>
                <a:buNone/>
              </a:pPr>
              <a:r>
                <a:rPr lang="en-US" sz="5200">
                  <a:solidFill>
                    <a:srgbClr val="F39C12"/>
                  </a:solidFill>
                  <a:latin typeface="Montserrat ExtraBold"/>
                  <a:ea typeface="Montserrat ExtraBold"/>
                  <a:cs typeface="Montserrat ExtraBold"/>
                  <a:sym typeface="Montserrat ExtraBold"/>
                </a:rPr>
                <a:t>Money Maker</a:t>
              </a:r>
              <a:endParaRPr b="0" sz="5200">
                <a:solidFill>
                  <a:srgbClr val="F39C12"/>
                </a:solidFill>
                <a:latin typeface="Montserrat ExtraBold"/>
                <a:ea typeface="Montserrat ExtraBold"/>
                <a:cs typeface="Montserrat ExtraBold"/>
                <a:sym typeface="Montserrat ExtraBold"/>
              </a:endParaRPr>
            </a:p>
          </p:txBody>
        </p:sp>
        <p:sp>
          <p:nvSpPr>
            <p:cNvPr id="90" name="Google Shape;90;p13"/>
            <p:cNvSpPr txBox="1"/>
            <p:nvPr/>
          </p:nvSpPr>
          <p:spPr>
            <a:xfrm>
              <a:off x="285750" y="2047875"/>
              <a:ext cx="5715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94A3B8"/>
                  </a:solidFill>
                  <a:latin typeface="Open Sans"/>
                  <a:ea typeface="Open Sans"/>
                  <a:cs typeface="Open Sans"/>
                  <a:sym typeface="Open Sans"/>
                </a:rPr>
                <a:t>A business proposal presentation</a:t>
              </a:r>
              <a:endParaRPr b="0" sz="2000">
                <a:solidFill>
                  <a:srgbClr val="94A3B8"/>
                </a:solidFill>
                <a:latin typeface="Open Sans"/>
                <a:ea typeface="Open Sans"/>
                <a:cs typeface="Open Sans"/>
                <a:sym typeface="Open Sans"/>
              </a:endParaRPr>
            </a:p>
          </p:txBody>
        </p:sp>
      </p:grpSp>
      <p:sp>
        <p:nvSpPr>
          <p:cNvPr id="91" name="Google Shape;91;p13"/>
          <p:cNvSpPr txBox="1"/>
          <p:nvPr>
            <p:ph idx="12" type="sldNum"/>
          </p:nvPr>
        </p:nvSpPr>
        <p:spPr>
          <a:xfrm>
            <a:off x="993025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4"/>
          <p:cNvSpPr txBox="1"/>
          <p:nvPr/>
        </p:nvSpPr>
        <p:spPr>
          <a:xfrm>
            <a:off x="666750" y="381000"/>
            <a:ext cx="10858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39C12"/>
                </a:solidFill>
                <a:latin typeface="Montserrat"/>
                <a:ea typeface="Montserrat"/>
                <a:cs typeface="Montserrat"/>
                <a:sym typeface="Montserrat"/>
              </a:rPr>
              <a:t>Executive Summary: Removing Intuition from Film Financing</a:t>
            </a:r>
            <a:endParaRPr b="1" sz="2400">
              <a:solidFill>
                <a:srgbClr val="F39C12"/>
              </a:solidFill>
              <a:latin typeface="Montserrat"/>
              <a:ea typeface="Montserrat"/>
              <a:cs typeface="Montserrat"/>
              <a:sym typeface="Montserrat"/>
            </a:endParaRPr>
          </a:p>
        </p:txBody>
      </p:sp>
      <p:grpSp>
        <p:nvGrpSpPr>
          <p:cNvPr id="97" name="Google Shape;97;p14"/>
          <p:cNvGrpSpPr/>
          <p:nvPr/>
        </p:nvGrpSpPr>
        <p:grpSpPr>
          <a:xfrm>
            <a:off x="666750" y="1143000"/>
            <a:ext cx="5143500" cy="5191275"/>
            <a:chOff x="0" y="0"/>
            <a:chExt cx="5143500" cy="5191275"/>
          </a:xfrm>
        </p:grpSpPr>
        <p:grpSp>
          <p:nvGrpSpPr>
            <p:cNvPr id="98" name="Google Shape;98;p14"/>
            <p:cNvGrpSpPr/>
            <p:nvPr/>
          </p:nvGrpSpPr>
          <p:grpSpPr>
            <a:xfrm>
              <a:off x="0" y="0"/>
              <a:ext cx="5143500" cy="1143000"/>
              <a:chOff x="0" y="0"/>
              <a:chExt cx="5143500" cy="1143000"/>
            </a:xfrm>
          </p:grpSpPr>
          <p:sp>
            <p:nvSpPr>
              <p:cNvPr id="99" name="Google Shape;99;p14"/>
              <p:cNvSpPr/>
              <p:nvPr/>
            </p:nvSpPr>
            <p:spPr>
              <a:xfrm>
                <a:off x="0" y="0"/>
                <a:ext cx="5143500" cy="1143000"/>
              </a:xfrm>
              <a:prstGeom prst="roundRect">
                <a:avLst>
                  <a:gd fmla="val 8333"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4"/>
              <p:cNvSpPr/>
              <p:nvPr/>
            </p:nvSpPr>
            <p:spPr>
              <a:xfrm>
                <a:off x="0" y="0"/>
                <a:ext cx="57300" cy="11430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txBox="1"/>
              <p:nvPr/>
            </p:nvSpPr>
            <p:spPr>
              <a:xfrm>
                <a:off x="228600" y="152400"/>
                <a:ext cx="4724400" cy="8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3B82F6"/>
                    </a:solidFill>
                    <a:latin typeface="Montserrat"/>
                    <a:ea typeface="Montserrat"/>
                    <a:cs typeface="Montserrat"/>
                    <a:sym typeface="Montserrat"/>
                  </a:rPr>
                  <a:t>THE CHALLENGE &amp; PROPOSAL</a:t>
                </a:r>
                <a:endParaRPr b="1" sz="1100">
                  <a:solidFill>
                    <a:srgbClr val="3B82F6"/>
                  </a:solidFill>
                  <a:latin typeface="Montserrat"/>
                  <a:ea typeface="Montserrat"/>
                  <a:cs typeface="Montserrat"/>
                  <a:sym typeface="Montserrat"/>
                </a:endParaRPr>
              </a:p>
              <a:p>
                <a:pPr indent="0" lvl="0" marL="0" rtl="0" algn="l">
                  <a:spcBef>
                    <a:spcPts val="400"/>
                  </a:spcBef>
                  <a:spcAft>
                    <a:spcPts val="0"/>
                  </a:spcAft>
                  <a:buNone/>
                </a:pPr>
                <a:r>
                  <a:rPr b="0" lang="en-US" sz="1150">
                    <a:solidFill>
                      <a:srgbClr val="CBD5E1"/>
                    </a:solidFill>
                    <a:latin typeface="Open Sans"/>
                    <a:ea typeface="Open Sans"/>
                    <a:cs typeface="Open Sans"/>
                    <a:sym typeface="Open Sans"/>
                  </a:rPr>
                  <a:t>The cinematic landscape relies heavily on high-risk, intuition-based investments. This proposal outlines a fully data-driven blueprint for profitable film projects.</a:t>
                </a:r>
                <a:endParaRPr b="0" sz="1150">
                  <a:solidFill>
                    <a:srgbClr val="CBD5E1"/>
                  </a:solidFill>
                  <a:latin typeface="Open Sans"/>
                  <a:ea typeface="Open Sans"/>
                  <a:cs typeface="Open Sans"/>
                  <a:sym typeface="Open Sans"/>
                </a:endParaRPr>
              </a:p>
            </p:txBody>
          </p:sp>
        </p:grpSp>
        <p:grpSp>
          <p:nvGrpSpPr>
            <p:cNvPr id="102" name="Google Shape;102;p14"/>
            <p:cNvGrpSpPr/>
            <p:nvPr/>
          </p:nvGrpSpPr>
          <p:grpSpPr>
            <a:xfrm>
              <a:off x="0" y="1285875"/>
              <a:ext cx="5143500" cy="1143000"/>
              <a:chOff x="0" y="0"/>
              <a:chExt cx="5143500" cy="1143000"/>
            </a:xfrm>
          </p:grpSpPr>
          <p:sp>
            <p:nvSpPr>
              <p:cNvPr id="103" name="Google Shape;103;p14"/>
              <p:cNvSpPr/>
              <p:nvPr/>
            </p:nvSpPr>
            <p:spPr>
              <a:xfrm>
                <a:off x="0" y="0"/>
                <a:ext cx="5143500" cy="1143000"/>
              </a:xfrm>
              <a:prstGeom prst="roundRect">
                <a:avLst>
                  <a:gd fmla="val 8333"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4"/>
              <p:cNvSpPr/>
              <p:nvPr/>
            </p:nvSpPr>
            <p:spPr>
              <a:xfrm>
                <a:off x="0" y="0"/>
                <a:ext cx="57300" cy="11430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4"/>
              <p:cNvSpPr txBox="1"/>
              <p:nvPr/>
            </p:nvSpPr>
            <p:spPr>
              <a:xfrm>
                <a:off x="228600" y="152400"/>
                <a:ext cx="4724400" cy="8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F39C12"/>
                    </a:solidFill>
                    <a:latin typeface="Montserrat"/>
                    <a:ea typeface="Montserrat"/>
                    <a:cs typeface="Montserrat"/>
                    <a:sym typeface="Montserrat"/>
                  </a:rPr>
                  <a:t>METHODOLOGY</a:t>
                </a:r>
                <a:endParaRPr b="1" sz="1100">
                  <a:solidFill>
                    <a:srgbClr val="F39C12"/>
                  </a:solidFill>
                  <a:latin typeface="Montserrat"/>
                  <a:ea typeface="Montserrat"/>
                  <a:cs typeface="Montserrat"/>
                  <a:sym typeface="Montserrat"/>
                </a:endParaRPr>
              </a:p>
              <a:p>
                <a:pPr indent="0" lvl="0" marL="0" rtl="0" algn="l">
                  <a:spcBef>
                    <a:spcPts val="400"/>
                  </a:spcBef>
                  <a:spcAft>
                    <a:spcPts val="0"/>
                  </a:spcAft>
                  <a:buNone/>
                </a:pPr>
                <a:r>
                  <a:rPr b="0" lang="en-US" sz="1150">
                    <a:solidFill>
                      <a:srgbClr val="CBD5E1"/>
                    </a:solidFill>
                    <a:latin typeface="Open Sans"/>
                    <a:ea typeface="Open Sans"/>
                    <a:cs typeface="Open Sans"/>
                    <a:sym typeface="Open Sans"/>
                  </a:rPr>
                  <a:t>We trained an advanced Machine Learning engine on over 3,000 top-grossing films, enriching historical baselines with real-time social metrics and updated global financial data.</a:t>
                </a:r>
                <a:endParaRPr b="0" sz="1150">
                  <a:solidFill>
                    <a:srgbClr val="CBD5E1"/>
                  </a:solidFill>
                  <a:latin typeface="Open Sans"/>
                  <a:ea typeface="Open Sans"/>
                  <a:cs typeface="Open Sans"/>
                  <a:sym typeface="Open Sans"/>
                </a:endParaRPr>
              </a:p>
            </p:txBody>
          </p:sp>
        </p:grpSp>
        <p:grpSp>
          <p:nvGrpSpPr>
            <p:cNvPr id="106" name="Google Shape;106;p14"/>
            <p:cNvGrpSpPr/>
            <p:nvPr/>
          </p:nvGrpSpPr>
          <p:grpSpPr>
            <a:xfrm>
              <a:off x="0" y="2571750"/>
              <a:ext cx="5143500" cy="1238400"/>
              <a:chOff x="0" y="0"/>
              <a:chExt cx="5143500" cy="1238400"/>
            </a:xfrm>
          </p:grpSpPr>
          <p:sp>
            <p:nvSpPr>
              <p:cNvPr id="107" name="Google Shape;107;p14"/>
              <p:cNvSpPr/>
              <p:nvPr/>
            </p:nvSpPr>
            <p:spPr>
              <a:xfrm>
                <a:off x="0" y="0"/>
                <a:ext cx="5143500" cy="1238400"/>
              </a:xfrm>
              <a:prstGeom prst="roundRect">
                <a:avLst>
                  <a:gd fmla="val 7692" name="adj"/>
                </a:avLst>
              </a:prstGeom>
              <a:solidFill>
                <a:srgbClr val="1E293B"/>
              </a:solidFill>
              <a:ln cap="flat" cmpd="sng" w="1430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4"/>
              <p:cNvSpPr/>
              <p:nvPr/>
            </p:nvSpPr>
            <p:spPr>
              <a:xfrm>
                <a:off x="0" y="0"/>
                <a:ext cx="57300" cy="12384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4"/>
              <p:cNvSpPr txBox="1"/>
              <p:nvPr/>
            </p:nvSpPr>
            <p:spPr>
              <a:xfrm>
                <a:off x="228600" y="152400"/>
                <a:ext cx="4724400" cy="9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0B981"/>
                    </a:solidFill>
                    <a:latin typeface="Montserrat"/>
                    <a:ea typeface="Montserrat"/>
                    <a:cs typeface="Montserrat"/>
                    <a:sym typeface="Montserrat"/>
                  </a:rPr>
                  <a:t>KEY FINDING</a:t>
                </a:r>
                <a:endParaRPr b="1" sz="1100">
                  <a:solidFill>
                    <a:srgbClr val="10B981"/>
                  </a:solidFill>
                  <a:latin typeface="Montserrat"/>
                  <a:ea typeface="Montserrat"/>
                  <a:cs typeface="Montserrat"/>
                  <a:sym typeface="Montserrat"/>
                </a:endParaRPr>
              </a:p>
              <a:p>
                <a:pPr indent="0" lvl="0" marL="0" rtl="0" algn="l">
                  <a:spcBef>
                    <a:spcPts val="400"/>
                  </a:spcBef>
                  <a:spcAft>
                    <a:spcPts val="0"/>
                  </a:spcAft>
                  <a:buNone/>
                </a:pPr>
                <a:r>
                  <a:rPr b="0" lang="en-US" sz="1150">
                    <a:solidFill>
                      <a:srgbClr val="CBD5E1"/>
                    </a:solidFill>
                    <a:latin typeface="Open Sans"/>
                    <a:ea typeface="Open Sans"/>
                    <a:cs typeface="Open Sans"/>
                    <a:sym typeface="Open Sans"/>
                  </a:rPr>
                  <a:t>Stop chasing oversaturated Drama and Comedy markets. The data explicitly points to Animation and Sci-Fi/Adventure, produced in the $40M–$100M budget range, as the ultimate vessels for maximizing returns.</a:t>
                </a:r>
                <a:endParaRPr b="0" sz="1150">
                  <a:solidFill>
                    <a:srgbClr val="CBD5E1"/>
                  </a:solidFill>
                  <a:latin typeface="Open Sans"/>
                  <a:ea typeface="Open Sans"/>
                  <a:cs typeface="Open Sans"/>
                  <a:sym typeface="Open Sans"/>
                </a:endParaRPr>
              </a:p>
            </p:txBody>
          </p:sp>
        </p:grpSp>
        <p:grpSp>
          <p:nvGrpSpPr>
            <p:cNvPr id="110" name="Google Shape;110;p14"/>
            <p:cNvGrpSpPr/>
            <p:nvPr/>
          </p:nvGrpSpPr>
          <p:grpSpPr>
            <a:xfrm>
              <a:off x="0" y="3952875"/>
              <a:ext cx="5143500" cy="1238400"/>
              <a:chOff x="0" y="0"/>
              <a:chExt cx="5143500" cy="1238400"/>
            </a:xfrm>
          </p:grpSpPr>
          <p:sp>
            <p:nvSpPr>
              <p:cNvPr id="111" name="Google Shape;111;p14"/>
              <p:cNvSpPr/>
              <p:nvPr/>
            </p:nvSpPr>
            <p:spPr>
              <a:xfrm>
                <a:off x="0" y="0"/>
                <a:ext cx="5143500" cy="1238400"/>
              </a:xfrm>
              <a:prstGeom prst="roundRect">
                <a:avLst>
                  <a:gd fmla="val 7692"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4"/>
              <p:cNvSpPr/>
              <p:nvPr/>
            </p:nvSpPr>
            <p:spPr>
              <a:xfrm>
                <a:off x="0" y="0"/>
                <a:ext cx="57300" cy="12384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4"/>
              <p:cNvSpPr txBox="1"/>
              <p:nvPr/>
            </p:nvSpPr>
            <p:spPr>
              <a:xfrm>
                <a:off x="228600" y="152400"/>
                <a:ext cx="4724400" cy="9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F4444"/>
                    </a:solidFill>
                    <a:latin typeface="Montserrat"/>
                    <a:ea typeface="Montserrat"/>
                    <a:cs typeface="Montserrat"/>
                    <a:sym typeface="Montserrat"/>
                  </a:rPr>
                  <a:t>BUSINESS OUTCOME</a:t>
                </a:r>
                <a:endParaRPr b="1" sz="1100">
                  <a:solidFill>
                    <a:srgbClr val="EF4444"/>
                  </a:solidFill>
                  <a:latin typeface="Montserrat"/>
                  <a:ea typeface="Montserrat"/>
                  <a:cs typeface="Montserrat"/>
                  <a:sym typeface="Montserrat"/>
                </a:endParaRPr>
              </a:p>
              <a:p>
                <a:pPr indent="0" lvl="0" marL="0" rtl="0" algn="l">
                  <a:spcBef>
                    <a:spcPts val="400"/>
                  </a:spcBef>
                  <a:spcAft>
                    <a:spcPts val="0"/>
                  </a:spcAft>
                  <a:buNone/>
                </a:pPr>
                <a:r>
                  <a:rPr b="0" lang="en-US" sz="1150">
                    <a:solidFill>
                      <a:srgbClr val="CBD5E1"/>
                    </a:solidFill>
                    <a:latin typeface="Open Sans"/>
                    <a:ea typeface="Open Sans"/>
                    <a:cs typeface="Open Sans"/>
                    <a:sym typeface="Open Sans"/>
                  </a:rPr>
                  <a:t>By replacing guesswork with algorithmic validation, the studio can systematically achieve Returns on Investment (ROI) exceeding 150%, securing massive profit margins before a single dollar is spent on production.</a:t>
                </a:r>
                <a:endParaRPr b="0" sz="1150">
                  <a:solidFill>
                    <a:srgbClr val="CBD5E1"/>
                  </a:solidFill>
                  <a:latin typeface="Open Sans"/>
                  <a:ea typeface="Open Sans"/>
                  <a:cs typeface="Open Sans"/>
                  <a:sym typeface="Open Sans"/>
                </a:endParaRPr>
              </a:p>
            </p:txBody>
          </p:sp>
        </p:grpSp>
      </p:grpSp>
      <p:grpSp>
        <p:nvGrpSpPr>
          <p:cNvPr id="114" name="Google Shape;114;p14"/>
          <p:cNvGrpSpPr/>
          <p:nvPr/>
        </p:nvGrpSpPr>
        <p:grpSpPr>
          <a:xfrm>
            <a:off x="6191250" y="1143000"/>
            <a:ext cx="5334000" cy="5191200"/>
            <a:chOff x="0" y="0"/>
            <a:chExt cx="5334000" cy="5191200"/>
          </a:xfrm>
        </p:grpSpPr>
        <p:sp>
          <p:nvSpPr>
            <p:cNvPr id="115" name="Google Shape;115;p14"/>
            <p:cNvSpPr/>
            <p:nvPr/>
          </p:nvSpPr>
          <p:spPr>
            <a:xfrm>
              <a:off x="0" y="0"/>
              <a:ext cx="5334000" cy="5191200"/>
            </a:xfrm>
            <a:prstGeom prst="roundRect">
              <a:avLst>
                <a:gd fmla="val 293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4"/>
            <p:cNvSpPr/>
            <p:nvPr/>
          </p:nvSpPr>
          <p:spPr>
            <a:xfrm>
              <a:off x="0" y="0"/>
              <a:ext cx="5334000" cy="47700"/>
            </a:xfrm>
            <a:prstGeom prst="roundRect">
              <a:avLst>
                <a:gd fmla="val 4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4"/>
            <p:cNvSpPr txBox="1"/>
            <p:nvPr/>
          </p:nvSpPr>
          <p:spPr>
            <a:xfrm>
              <a:off x="285750" y="209550"/>
              <a:ext cx="4762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DFEFE"/>
                  </a:solidFill>
                  <a:latin typeface="Montserrat"/>
                  <a:ea typeface="Montserrat"/>
                  <a:cs typeface="Montserrat"/>
                  <a:sym typeface="Montserrat"/>
                </a:rPr>
                <a:t>DATA-DRIVEN DECISION PIPELINE</a:t>
              </a:r>
              <a:endParaRPr b="1" sz="1100">
                <a:solidFill>
                  <a:srgbClr val="FDFEFE"/>
                </a:solidFill>
                <a:latin typeface="Montserrat"/>
                <a:ea typeface="Montserrat"/>
                <a:cs typeface="Montserrat"/>
                <a:sym typeface="Montserrat"/>
              </a:endParaRPr>
            </a:p>
          </p:txBody>
        </p:sp>
        <p:cxnSp>
          <p:nvCxnSpPr>
            <p:cNvPr id="118" name="Google Shape;118;p14"/>
            <p:cNvCxnSpPr/>
            <p:nvPr/>
          </p:nvCxnSpPr>
          <p:spPr>
            <a:xfrm>
              <a:off x="285750" y="552450"/>
              <a:ext cx="4762500" cy="0"/>
            </a:xfrm>
            <a:prstGeom prst="straightConnector1">
              <a:avLst/>
            </a:prstGeom>
            <a:solidFill>
              <a:srgbClr val="FFFFFF"/>
            </a:solidFill>
            <a:ln cap="flat" cmpd="sng" w="9525">
              <a:solidFill>
                <a:srgbClr val="334155"/>
              </a:solidFill>
              <a:prstDash val="solid"/>
              <a:round/>
              <a:headEnd len="sm" w="sm" type="none"/>
              <a:tailEnd len="sm" w="sm" type="none"/>
            </a:ln>
          </p:spPr>
        </p:cxnSp>
        <p:grpSp>
          <p:nvGrpSpPr>
            <p:cNvPr id="119" name="Google Shape;119;p14"/>
            <p:cNvGrpSpPr/>
            <p:nvPr/>
          </p:nvGrpSpPr>
          <p:grpSpPr>
            <a:xfrm>
              <a:off x="285750" y="714375"/>
              <a:ext cx="4762500" cy="1143000"/>
              <a:chOff x="0" y="0"/>
              <a:chExt cx="4762500" cy="1143000"/>
            </a:xfrm>
          </p:grpSpPr>
          <p:sp>
            <p:nvSpPr>
              <p:cNvPr id="120" name="Google Shape;120;p14"/>
              <p:cNvSpPr/>
              <p:nvPr/>
            </p:nvSpPr>
            <p:spPr>
              <a:xfrm>
                <a:off x="0" y="0"/>
                <a:ext cx="4762500" cy="11430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4"/>
              <p:cNvSpPr txBox="1"/>
              <p:nvPr/>
            </p:nvSpPr>
            <p:spPr>
              <a:xfrm>
                <a:off x="238125" y="171450"/>
                <a:ext cx="42864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3B82F6"/>
                    </a:solidFill>
                    <a:latin typeface="Montserrat"/>
                    <a:ea typeface="Montserrat"/>
                    <a:cs typeface="Montserrat"/>
                    <a:sym typeface="Montserrat"/>
                  </a:rPr>
                  <a:t>STEP 01</a:t>
                </a:r>
                <a:endParaRPr b="1" sz="950">
                  <a:solidFill>
                    <a:srgbClr val="3B82F6"/>
                  </a:solidFill>
                  <a:latin typeface="Montserrat"/>
                  <a:ea typeface="Montserrat"/>
                  <a:cs typeface="Montserrat"/>
                  <a:sym typeface="Montserrat"/>
                </a:endParaRPr>
              </a:p>
              <a:p>
                <a:pPr indent="0" lvl="0" marL="0" rtl="0" algn="l">
                  <a:spcBef>
                    <a:spcPts val="200"/>
                  </a:spcBef>
                  <a:spcAft>
                    <a:spcPts val="0"/>
                  </a:spcAft>
                  <a:buNone/>
                </a:pPr>
                <a:r>
                  <a:rPr b="1" lang="en-US" sz="1300">
                    <a:solidFill>
                      <a:srgbClr val="FDFEFE"/>
                    </a:solidFill>
                    <a:latin typeface="Open Sans"/>
                    <a:ea typeface="Open Sans"/>
                    <a:cs typeface="Open Sans"/>
                    <a:sym typeface="Open Sans"/>
                  </a:rPr>
                  <a:t>Raw Market Data</a:t>
                </a:r>
                <a:endParaRPr b="1" sz="1300">
                  <a:solidFill>
                    <a:srgbClr val="FDFEFE"/>
                  </a:solidFill>
                  <a:latin typeface="Open Sans"/>
                  <a:ea typeface="Open Sans"/>
                  <a:cs typeface="Open Sans"/>
                  <a:sym typeface="Open Sans"/>
                </a:endParaRPr>
              </a:p>
              <a:p>
                <a:pPr indent="0" lvl="0" marL="0" rtl="0" algn="l">
                  <a:spcBef>
                    <a:spcPts val="300"/>
                  </a:spcBef>
                  <a:spcAft>
                    <a:spcPts val="0"/>
                  </a:spcAft>
                  <a:buNone/>
                </a:pPr>
                <a:r>
                  <a:rPr b="0" lang="en-US" sz="1000">
                    <a:solidFill>
                      <a:srgbClr val="94A3B8"/>
                    </a:solidFill>
                    <a:latin typeface="Open Sans"/>
                    <a:ea typeface="Open Sans"/>
                    <a:cs typeface="Open Sans"/>
                    <a:sym typeface="Open Sans"/>
                  </a:rPr>
                  <a:t>3,000+ films analyzed with social &amp; global financial metrics</a:t>
                </a:r>
                <a:endParaRPr b="0" sz="1000">
                  <a:solidFill>
                    <a:srgbClr val="94A3B8"/>
                  </a:solidFill>
                  <a:latin typeface="Open Sans"/>
                  <a:ea typeface="Open Sans"/>
                  <a:cs typeface="Open Sans"/>
                  <a:sym typeface="Open Sans"/>
                </a:endParaRPr>
              </a:p>
            </p:txBody>
          </p:sp>
        </p:grpSp>
        <p:sp>
          <p:nvSpPr>
            <p:cNvPr id="122" name="Google Shape;122;p14"/>
            <p:cNvSpPr/>
            <p:nvPr/>
          </p:nvSpPr>
          <p:spPr>
            <a:xfrm>
              <a:off x="2667000" y="1905000"/>
              <a:ext cx="0" cy="190500"/>
            </a:xfrm>
            <a:custGeom>
              <a:rect b="b" l="l" r="r" t="t"/>
              <a:pathLst>
                <a:path extrusionOk="0" h="120000" w="120000">
                  <a:moveTo>
                    <a:pt x="0" y="0"/>
                  </a:moveTo>
                  <a:lnTo>
                    <a:pt x="0" y="120000"/>
                  </a:lnTo>
                </a:path>
              </a:pathLst>
            </a:custGeom>
            <a:solidFill>
              <a:srgbClr val="000000">
                <a:alpha val="0"/>
              </a:srgbClr>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4"/>
            <p:cNvSpPr/>
            <p:nvPr/>
          </p:nvSpPr>
          <p:spPr>
            <a:xfrm>
              <a:off x="2619375" y="2095500"/>
              <a:ext cx="95400" cy="57300"/>
            </a:xfrm>
            <a:custGeom>
              <a:rect b="b" l="l" r="r" t="t"/>
              <a:pathLst>
                <a:path extrusionOk="0" h="120000" w="120000">
                  <a:moveTo>
                    <a:pt x="0" y="0"/>
                  </a:moveTo>
                  <a:lnTo>
                    <a:pt x="120000" y="0"/>
                  </a:lnTo>
                  <a:lnTo>
                    <a:pt x="60000" y="120000"/>
                  </a:ln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4" name="Google Shape;124;p14"/>
            <p:cNvGrpSpPr/>
            <p:nvPr/>
          </p:nvGrpSpPr>
          <p:grpSpPr>
            <a:xfrm>
              <a:off x="285750" y="2209800"/>
              <a:ext cx="4762500" cy="1143000"/>
              <a:chOff x="0" y="0"/>
              <a:chExt cx="4762500" cy="1143000"/>
            </a:xfrm>
          </p:grpSpPr>
          <p:sp>
            <p:nvSpPr>
              <p:cNvPr id="125" name="Google Shape;125;p14"/>
              <p:cNvSpPr/>
              <p:nvPr/>
            </p:nvSpPr>
            <p:spPr>
              <a:xfrm>
                <a:off x="0" y="0"/>
                <a:ext cx="4762500" cy="11430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4"/>
              <p:cNvSpPr txBox="1"/>
              <p:nvPr/>
            </p:nvSpPr>
            <p:spPr>
              <a:xfrm>
                <a:off x="238125" y="171450"/>
                <a:ext cx="42864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F39C12"/>
                    </a:solidFill>
                    <a:latin typeface="Montserrat"/>
                    <a:ea typeface="Montserrat"/>
                    <a:cs typeface="Montserrat"/>
                    <a:sym typeface="Montserrat"/>
                  </a:rPr>
                  <a:t>STEP 02</a:t>
                </a:r>
                <a:endParaRPr b="1" sz="950">
                  <a:solidFill>
                    <a:srgbClr val="F39C12"/>
                  </a:solidFill>
                  <a:latin typeface="Montserrat"/>
                  <a:ea typeface="Montserrat"/>
                  <a:cs typeface="Montserrat"/>
                  <a:sym typeface="Montserrat"/>
                </a:endParaRPr>
              </a:p>
              <a:p>
                <a:pPr indent="0" lvl="0" marL="0" rtl="0" algn="l">
                  <a:spcBef>
                    <a:spcPts val="200"/>
                  </a:spcBef>
                  <a:spcAft>
                    <a:spcPts val="0"/>
                  </a:spcAft>
                  <a:buNone/>
                </a:pPr>
                <a:r>
                  <a:rPr b="1" lang="en-US" sz="1300">
                    <a:solidFill>
                      <a:srgbClr val="FDFEFE"/>
                    </a:solidFill>
                    <a:latin typeface="Open Sans"/>
                    <a:ea typeface="Open Sans"/>
                    <a:cs typeface="Open Sans"/>
                    <a:sym typeface="Open Sans"/>
                  </a:rPr>
                  <a:t>Predictive AI Engine</a:t>
                </a:r>
                <a:endParaRPr b="1" sz="1300">
                  <a:solidFill>
                    <a:srgbClr val="FDFEFE"/>
                  </a:solidFill>
                  <a:latin typeface="Open Sans"/>
                  <a:ea typeface="Open Sans"/>
                  <a:cs typeface="Open Sans"/>
                  <a:sym typeface="Open Sans"/>
                </a:endParaRPr>
              </a:p>
              <a:p>
                <a:pPr indent="0" lvl="0" marL="0" rtl="0" algn="l">
                  <a:spcBef>
                    <a:spcPts val="300"/>
                  </a:spcBef>
                  <a:spcAft>
                    <a:spcPts val="0"/>
                  </a:spcAft>
                  <a:buNone/>
                </a:pPr>
                <a:r>
                  <a:rPr b="0" lang="en-US" sz="1000">
                    <a:solidFill>
                      <a:srgbClr val="94A3B8"/>
                    </a:solidFill>
                    <a:latin typeface="Open Sans"/>
                    <a:ea typeface="Open Sans"/>
                    <a:cs typeface="Open Sans"/>
                    <a:sym typeface="Open Sans"/>
                  </a:rPr>
                  <a:t>Machine Learning model trained to eliminate intuition-based bias</a:t>
                </a:r>
                <a:endParaRPr b="0" sz="1000">
                  <a:solidFill>
                    <a:srgbClr val="94A3B8"/>
                  </a:solidFill>
                  <a:latin typeface="Open Sans"/>
                  <a:ea typeface="Open Sans"/>
                  <a:cs typeface="Open Sans"/>
                  <a:sym typeface="Open Sans"/>
                </a:endParaRPr>
              </a:p>
            </p:txBody>
          </p:sp>
        </p:grpSp>
        <p:sp>
          <p:nvSpPr>
            <p:cNvPr id="127" name="Google Shape;127;p14"/>
            <p:cNvSpPr/>
            <p:nvPr/>
          </p:nvSpPr>
          <p:spPr>
            <a:xfrm>
              <a:off x="2667000" y="3400425"/>
              <a:ext cx="0" cy="190500"/>
            </a:xfrm>
            <a:custGeom>
              <a:rect b="b" l="l" r="r" t="t"/>
              <a:pathLst>
                <a:path extrusionOk="0" h="120000" w="120000">
                  <a:moveTo>
                    <a:pt x="0" y="0"/>
                  </a:moveTo>
                  <a:lnTo>
                    <a:pt x="0" y="120000"/>
                  </a:lnTo>
                </a:path>
              </a:pathLst>
            </a:custGeom>
            <a:solidFill>
              <a:srgbClr val="000000">
                <a:alpha val="0"/>
              </a:srgbClr>
            </a:solidFill>
            <a:ln cap="flat" cmpd="sng" w="1905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4"/>
            <p:cNvSpPr/>
            <p:nvPr/>
          </p:nvSpPr>
          <p:spPr>
            <a:xfrm>
              <a:off x="2619375" y="3590925"/>
              <a:ext cx="95400" cy="57300"/>
            </a:xfrm>
            <a:custGeom>
              <a:rect b="b" l="l" r="r" t="t"/>
              <a:pathLst>
                <a:path extrusionOk="0" h="120000" w="120000">
                  <a:moveTo>
                    <a:pt x="0" y="0"/>
                  </a:moveTo>
                  <a:lnTo>
                    <a:pt x="120000" y="0"/>
                  </a:lnTo>
                  <a:lnTo>
                    <a:pt x="60000" y="120000"/>
                  </a:lnTo>
                  <a:close/>
                </a:path>
              </a:pathLst>
            </a:cu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9" name="Google Shape;129;p14"/>
            <p:cNvGrpSpPr/>
            <p:nvPr/>
          </p:nvGrpSpPr>
          <p:grpSpPr>
            <a:xfrm>
              <a:off x="285750" y="3705225"/>
              <a:ext cx="4762500" cy="1143000"/>
              <a:chOff x="0" y="0"/>
              <a:chExt cx="4762500" cy="1143000"/>
            </a:xfrm>
          </p:grpSpPr>
          <p:sp>
            <p:nvSpPr>
              <p:cNvPr id="130" name="Google Shape;130;p14"/>
              <p:cNvSpPr/>
              <p:nvPr/>
            </p:nvSpPr>
            <p:spPr>
              <a:xfrm>
                <a:off x="0" y="0"/>
                <a:ext cx="4762500" cy="1143000"/>
              </a:xfrm>
              <a:prstGeom prst="roundRect">
                <a:avLst>
                  <a:gd fmla="val 8333" name="adj"/>
                </a:avLst>
              </a:prstGeom>
              <a:solidFill>
                <a:srgbClr val="0F172A"/>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4"/>
              <p:cNvSpPr txBox="1"/>
              <p:nvPr/>
            </p:nvSpPr>
            <p:spPr>
              <a:xfrm>
                <a:off x="238125" y="171450"/>
                <a:ext cx="4286400" cy="800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10B981"/>
                    </a:solidFill>
                    <a:latin typeface="Montserrat"/>
                    <a:ea typeface="Montserrat"/>
                    <a:cs typeface="Montserrat"/>
                    <a:sym typeface="Montserrat"/>
                  </a:rPr>
                  <a:t>STEP 03</a:t>
                </a:r>
                <a:endParaRPr b="1" sz="950">
                  <a:solidFill>
                    <a:srgbClr val="10B981"/>
                  </a:solidFill>
                  <a:latin typeface="Montserrat"/>
                  <a:ea typeface="Montserrat"/>
                  <a:cs typeface="Montserrat"/>
                  <a:sym typeface="Montserrat"/>
                </a:endParaRPr>
              </a:p>
              <a:p>
                <a:pPr indent="0" lvl="0" marL="0" rtl="0" algn="l">
                  <a:spcBef>
                    <a:spcPts val="200"/>
                  </a:spcBef>
                  <a:spcAft>
                    <a:spcPts val="0"/>
                  </a:spcAft>
                  <a:buNone/>
                </a:pPr>
                <a:r>
                  <a:rPr b="1" lang="en-US" sz="1300">
                    <a:solidFill>
                      <a:srgbClr val="FDFEFE"/>
                    </a:solidFill>
                    <a:latin typeface="Open Sans"/>
                    <a:ea typeface="Open Sans"/>
                    <a:cs typeface="Open Sans"/>
                    <a:sym typeface="Open Sans"/>
                  </a:rPr>
                  <a:t>Optimized Strategy</a:t>
                </a:r>
                <a:endParaRPr b="1" sz="1300">
                  <a:solidFill>
                    <a:srgbClr val="FDFEFE"/>
                  </a:solidFill>
                  <a:latin typeface="Open Sans"/>
                  <a:ea typeface="Open Sans"/>
                  <a:cs typeface="Open Sans"/>
                  <a:sym typeface="Open Sans"/>
                </a:endParaRPr>
              </a:p>
              <a:p>
                <a:pPr indent="0" lvl="0" marL="0" rtl="0" algn="l">
                  <a:spcBef>
                    <a:spcPts val="300"/>
                  </a:spcBef>
                  <a:spcAft>
                    <a:spcPts val="0"/>
                  </a:spcAft>
                  <a:buNone/>
                </a:pPr>
                <a:r>
                  <a:rPr b="0" lang="en-US" sz="1000">
                    <a:solidFill>
                      <a:srgbClr val="94A3B8"/>
                    </a:solidFill>
                    <a:latin typeface="Open Sans"/>
                    <a:ea typeface="Open Sans"/>
                    <a:cs typeface="Open Sans"/>
                    <a:sym typeface="Open Sans"/>
                  </a:rPr>
                  <a:t>To target maximum revenue &amp; systematically secure ROI &gt; 150%</a:t>
                </a:r>
                <a:endParaRPr b="0" sz="1000">
                  <a:solidFill>
                    <a:srgbClr val="94A3B8"/>
                  </a:solidFill>
                  <a:latin typeface="Open Sans"/>
                  <a:ea typeface="Open Sans"/>
                  <a:cs typeface="Open Sans"/>
                  <a:sym typeface="Open Sans"/>
                </a:endParaRPr>
              </a:p>
            </p:txBody>
          </p:sp>
        </p:grpSp>
      </p:grpSp>
      <p:sp>
        <p:nvSpPr>
          <p:cNvPr id="132" name="Google Shape;132;p14"/>
          <p:cNvSpPr txBox="1"/>
          <p:nvPr>
            <p:ph idx="12" type="sldNum"/>
          </p:nvPr>
        </p:nvSpPr>
        <p:spPr>
          <a:xfrm>
            <a:off x="9880750" y="64182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833"/>
        </a:solidFill>
      </p:bgPr>
    </p:bg>
    <p:spTree>
      <p:nvGrpSpPr>
        <p:cNvPr id="136" name="Shape 136"/>
        <p:cNvGrpSpPr/>
        <p:nvPr/>
      </p:nvGrpSpPr>
      <p:grpSpPr>
        <a:xfrm>
          <a:off x="0" y="0"/>
          <a:ext cx="0" cy="0"/>
          <a:chOff x="0" y="0"/>
          <a:chExt cx="0" cy="0"/>
        </a:xfrm>
      </p:grpSpPr>
      <p:sp>
        <p:nvSpPr>
          <p:cNvPr id="137" name="Google Shape;137;p15"/>
          <p:cNvSpPr txBox="1"/>
          <p:nvPr/>
        </p:nvSpPr>
        <p:spPr>
          <a:xfrm>
            <a:off x="666750" y="476250"/>
            <a:ext cx="10858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F39C12"/>
                </a:solidFill>
                <a:latin typeface="Montserrat"/>
                <a:ea typeface="Montserrat"/>
                <a:cs typeface="Montserrat"/>
                <a:sym typeface="Montserrat"/>
              </a:rPr>
              <a:t>Capital Allocation: The $40M–$100M Risk-Adjusted Sweet Spot</a:t>
            </a:r>
            <a:endParaRPr b="1" sz="2600">
              <a:solidFill>
                <a:srgbClr val="F39C12"/>
              </a:solidFill>
              <a:latin typeface="Montserrat"/>
              <a:ea typeface="Montserrat"/>
              <a:cs typeface="Montserrat"/>
              <a:sym typeface="Montserrat"/>
            </a:endParaRPr>
          </a:p>
        </p:txBody>
      </p:sp>
      <p:grpSp>
        <p:nvGrpSpPr>
          <p:cNvPr id="138" name="Google Shape;138;p15"/>
          <p:cNvGrpSpPr/>
          <p:nvPr/>
        </p:nvGrpSpPr>
        <p:grpSpPr>
          <a:xfrm>
            <a:off x="666750" y="1333500"/>
            <a:ext cx="3744239" cy="1381200"/>
            <a:chOff x="0" y="0"/>
            <a:chExt cx="6286500" cy="1381200"/>
          </a:xfrm>
        </p:grpSpPr>
        <p:sp>
          <p:nvSpPr>
            <p:cNvPr id="139" name="Google Shape;139;p15"/>
            <p:cNvSpPr/>
            <p:nvPr/>
          </p:nvSpPr>
          <p:spPr>
            <a:xfrm>
              <a:off x="0" y="0"/>
              <a:ext cx="6286500" cy="1381200"/>
            </a:xfrm>
            <a:prstGeom prst="roundRect">
              <a:avLst>
                <a:gd fmla="val 827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5"/>
            <p:cNvSpPr/>
            <p:nvPr/>
          </p:nvSpPr>
          <p:spPr>
            <a:xfrm>
              <a:off x="0" y="0"/>
              <a:ext cx="57300" cy="1381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5"/>
            <p:cNvSpPr txBox="1"/>
            <p:nvPr/>
          </p:nvSpPr>
          <p:spPr>
            <a:xfrm>
              <a:off x="285750" y="152400"/>
              <a:ext cx="5715000" cy="10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3B82F6"/>
                  </a:solidFill>
                  <a:latin typeface="Montserrat"/>
                  <a:ea typeface="Montserrat"/>
                  <a:cs typeface="Montserrat"/>
                  <a:sym typeface="Montserrat"/>
                </a:rPr>
                <a:t>UNDER $5M BUDGET</a:t>
              </a:r>
              <a:r>
                <a:rPr lang="en-US" sz="1600">
                  <a:latin typeface="Open Sans"/>
                  <a:ea typeface="Open Sans"/>
                  <a:cs typeface="Open Sans"/>
                  <a:sym typeface="Open Sans"/>
                </a:rPr>
                <a:t> </a:t>
              </a:r>
              <a:endParaRPr sz="1600">
                <a:latin typeface="Open Sans"/>
                <a:ea typeface="Open Sans"/>
                <a:cs typeface="Open Sans"/>
                <a:sym typeface="Open Sans"/>
              </a:endParaRPr>
            </a:p>
            <a:p>
              <a:pPr indent="0" lvl="0" marL="0" rtl="0" algn="l">
                <a:spcBef>
                  <a:spcPts val="450"/>
                </a:spcBef>
                <a:spcAft>
                  <a:spcPts val="0"/>
                </a:spcAft>
                <a:buNone/>
              </a:pPr>
              <a:r>
                <a:rPr lang="en-US" sz="1100">
                  <a:solidFill>
                    <a:srgbClr val="CBD5E1"/>
                  </a:solidFill>
                  <a:latin typeface="Open Sans"/>
                  <a:ea typeface="Open Sans"/>
                  <a:cs typeface="Open Sans"/>
                  <a:sym typeface="Open Sans"/>
                </a:rPr>
                <a:t>Films under $5M yield the highest pure percentage ROI (nearly 4x) due to incredibly low exposure, but they fail to scale to blockbuster revenue levels.</a:t>
              </a:r>
              <a:endParaRPr sz="1100">
                <a:solidFill>
                  <a:srgbClr val="CBD5E1"/>
                </a:solidFill>
                <a:latin typeface="Open Sans"/>
                <a:ea typeface="Open Sans"/>
                <a:cs typeface="Open Sans"/>
                <a:sym typeface="Open Sans"/>
              </a:endParaRPr>
            </a:p>
          </p:txBody>
        </p:sp>
      </p:grpSp>
      <p:grpSp>
        <p:nvGrpSpPr>
          <p:cNvPr id="142" name="Google Shape;142;p15"/>
          <p:cNvGrpSpPr/>
          <p:nvPr/>
        </p:nvGrpSpPr>
        <p:grpSpPr>
          <a:xfrm>
            <a:off x="666750" y="2876550"/>
            <a:ext cx="3744239" cy="1524000"/>
            <a:chOff x="0" y="0"/>
            <a:chExt cx="6286500" cy="1524000"/>
          </a:xfrm>
        </p:grpSpPr>
        <p:sp>
          <p:nvSpPr>
            <p:cNvPr id="143" name="Google Shape;143;p15"/>
            <p:cNvSpPr/>
            <p:nvPr/>
          </p:nvSpPr>
          <p:spPr>
            <a:xfrm>
              <a:off x="0" y="0"/>
              <a:ext cx="6286500" cy="1524000"/>
            </a:xfrm>
            <a:prstGeom prst="roundRect">
              <a:avLst>
                <a:gd fmla="val 7500" name="adj"/>
              </a:avLst>
            </a:prstGeom>
            <a:solidFill>
              <a:srgbClr val="1E293B"/>
            </a:solidFill>
            <a:ln cap="flat" cmpd="sng" w="1905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5"/>
            <p:cNvSpPr/>
            <p:nvPr/>
          </p:nvSpPr>
          <p:spPr>
            <a:xfrm>
              <a:off x="0" y="0"/>
              <a:ext cx="57300" cy="15240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5"/>
            <p:cNvSpPr txBox="1"/>
            <p:nvPr/>
          </p:nvSpPr>
          <p:spPr>
            <a:xfrm>
              <a:off x="285750" y="171450"/>
              <a:ext cx="5715000" cy="118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F39C12"/>
                  </a:solidFill>
                  <a:latin typeface="Montserrat"/>
                  <a:ea typeface="Montserrat"/>
                  <a:cs typeface="Montserrat"/>
                  <a:sym typeface="Montserrat"/>
                </a:rPr>
                <a:t>$40M – $100M BUDGET</a:t>
              </a:r>
              <a:r>
                <a:rPr lang="en-US" sz="1600">
                  <a:latin typeface="Open Sans"/>
                  <a:ea typeface="Open Sans"/>
                  <a:cs typeface="Open Sans"/>
                  <a:sym typeface="Open Sans"/>
                </a:rPr>
                <a:t> </a:t>
              </a:r>
              <a:endParaRPr sz="1600">
                <a:latin typeface="Open Sans"/>
                <a:ea typeface="Open Sans"/>
                <a:cs typeface="Open Sans"/>
                <a:sym typeface="Open Sans"/>
              </a:endParaRPr>
            </a:p>
            <a:p>
              <a:pPr indent="0" lvl="0" marL="0" rtl="0" algn="l">
                <a:spcBef>
                  <a:spcPts val="450"/>
                </a:spcBef>
                <a:spcAft>
                  <a:spcPts val="0"/>
                </a:spcAft>
                <a:buNone/>
              </a:pPr>
              <a:r>
                <a:rPr lang="en-US" sz="1100">
                  <a:solidFill>
                    <a:srgbClr val="CBD5E1"/>
                  </a:solidFill>
                  <a:latin typeface="Open Sans"/>
                  <a:ea typeface="Open Sans"/>
                  <a:cs typeface="Open Sans"/>
                  <a:sym typeface="Open Sans"/>
                </a:rPr>
                <a:t>Budgets between $40M - $100M offer the most optimal balance. They provide sufficient scale for global marketing without catastrophic downside risk. This budget serves as a </a:t>
              </a:r>
              <a:r>
                <a:rPr b="1" lang="en-US" sz="1100">
                  <a:solidFill>
                    <a:srgbClr val="CBD5E1"/>
                  </a:solidFill>
                  <a:latin typeface="Open Sans"/>
                  <a:ea typeface="Open Sans"/>
                  <a:cs typeface="Open Sans"/>
                  <a:sym typeface="Open Sans"/>
                </a:rPr>
                <a:t>SWEET SPOT.</a:t>
              </a:r>
              <a:endParaRPr b="1" sz="1100">
                <a:solidFill>
                  <a:srgbClr val="CBD5E1"/>
                </a:solidFill>
                <a:latin typeface="Open Sans"/>
                <a:ea typeface="Open Sans"/>
                <a:cs typeface="Open Sans"/>
                <a:sym typeface="Open Sans"/>
              </a:endParaRPr>
            </a:p>
          </p:txBody>
        </p:sp>
      </p:grpSp>
      <p:grpSp>
        <p:nvGrpSpPr>
          <p:cNvPr id="146" name="Google Shape;146;p15"/>
          <p:cNvGrpSpPr/>
          <p:nvPr/>
        </p:nvGrpSpPr>
        <p:grpSpPr>
          <a:xfrm>
            <a:off x="666750" y="4562475"/>
            <a:ext cx="3744239" cy="1381200"/>
            <a:chOff x="0" y="0"/>
            <a:chExt cx="6286500" cy="1381200"/>
          </a:xfrm>
        </p:grpSpPr>
        <p:sp>
          <p:nvSpPr>
            <p:cNvPr id="147" name="Google Shape;147;p15"/>
            <p:cNvSpPr/>
            <p:nvPr/>
          </p:nvSpPr>
          <p:spPr>
            <a:xfrm>
              <a:off x="0" y="0"/>
              <a:ext cx="6286500" cy="1381200"/>
            </a:xfrm>
            <a:prstGeom prst="roundRect">
              <a:avLst>
                <a:gd fmla="val 827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5"/>
            <p:cNvSpPr/>
            <p:nvPr/>
          </p:nvSpPr>
          <p:spPr>
            <a:xfrm>
              <a:off x="0" y="0"/>
              <a:ext cx="57300" cy="13812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5"/>
            <p:cNvSpPr txBox="1"/>
            <p:nvPr/>
          </p:nvSpPr>
          <p:spPr>
            <a:xfrm>
              <a:off x="285750" y="152400"/>
              <a:ext cx="5715000" cy="10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EF4444"/>
                  </a:solidFill>
                  <a:latin typeface="Montserrat"/>
                  <a:ea typeface="Montserrat"/>
                  <a:cs typeface="Montserrat"/>
                  <a:sym typeface="Montserrat"/>
                </a:rPr>
                <a:t>OVER $100M BUDGET</a:t>
              </a:r>
              <a:r>
                <a:rPr lang="en-US" sz="1600">
                  <a:latin typeface="Open Sans"/>
                  <a:ea typeface="Open Sans"/>
                  <a:cs typeface="Open Sans"/>
                  <a:sym typeface="Open Sans"/>
                </a:rPr>
                <a:t> </a:t>
              </a:r>
              <a:endParaRPr sz="1600">
                <a:latin typeface="Open Sans"/>
                <a:ea typeface="Open Sans"/>
                <a:cs typeface="Open Sans"/>
                <a:sym typeface="Open Sans"/>
              </a:endParaRPr>
            </a:p>
            <a:p>
              <a:pPr indent="0" lvl="0" marL="0" rtl="0" algn="l">
                <a:spcBef>
                  <a:spcPts val="450"/>
                </a:spcBef>
                <a:spcAft>
                  <a:spcPts val="0"/>
                </a:spcAft>
                <a:buNone/>
              </a:pPr>
              <a:r>
                <a:rPr lang="en-US" sz="1100">
                  <a:solidFill>
                    <a:srgbClr val="CBD5E1"/>
                  </a:solidFill>
                  <a:latin typeface="Open Sans"/>
                  <a:ea typeface="Open Sans"/>
                  <a:cs typeface="Open Sans"/>
                  <a:sym typeface="Open Sans"/>
                </a:rPr>
                <a:t>To capture billion-dollar market ceilings, capital investments exceeding $100M are mathematically required, though they carry exponentially higher financial exposure.</a:t>
              </a:r>
              <a:endParaRPr sz="1100">
                <a:solidFill>
                  <a:srgbClr val="CBD5E1"/>
                </a:solidFill>
                <a:latin typeface="Open Sans"/>
                <a:ea typeface="Open Sans"/>
                <a:cs typeface="Open Sans"/>
                <a:sym typeface="Open Sans"/>
              </a:endParaRPr>
            </a:p>
          </p:txBody>
        </p:sp>
      </p:grpSp>
      <p:grpSp>
        <p:nvGrpSpPr>
          <p:cNvPr id="150" name="Google Shape;150;p15"/>
          <p:cNvGrpSpPr/>
          <p:nvPr/>
        </p:nvGrpSpPr>
        <p:grpSpPr>
          <a:xfrm>
            <a:off x="4572000" y="1333500"/>
            <a:ext cx="6953398" cy="4610100"/>
            <a:chOff x="0" y="0"/>
            <a:chExt cx="4286400" cy="4610100"/>
          </a:xfrm>
        </p:grpSpPr>
        <p:sp>
          <p:nvSpPr>
            <p:cNvPr id="151" name="Google Shape;151;p15"/>
            <p:cNvSpPr/>
            <p:nvPr/>
          </p:nvSpPr>
          <p:spPr>
            <a:xfrm>
              <a:off x="0" y="0"/>
              <a:ext cx="4286400" cy="4610100"/>
            </a:xfrm>
            <a:prstGeom prst="roundRect">
              <a:avLst>
                <a:gd fmla="val 355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5"/>
            <p:cNvSpPr/>
            <p:nvPr/>
          </p:nvSpPr>
          <p:spPr>
            <a:xfrm>
              <a:off x="0" y="0"/>
              <a:ext cx="4286400" cy="381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5"/>
            <p:cNvSpPr txBox="1"/>
            <p:nvPr/>
          </p:nvSpPr>
          <p:spPr>
            <a:xfrm>
              <a:off x="238125" y="190500"/>
              <a:ext cx="381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DFEFE"/>
                  </a:solidFill>
                  <a:latin typeface="Montserrat"/>
                  <a:ea typeface="Montserrat"/>
                  <a:cs typeface="Montserrat"/>
                  <a:sym typeface="Montserrat"/>
                </a:rPr>
                <a:t>MEDIAN ROI BY BUDGET RANGE</a:t>
              </a:r>
              <a:endParaRPr b="1" sz="1100">
                <a:solidFill>
                  <a:srgbClr val="FDFEFE"/>
                </a:solidFill>
                <a:latin typeface="Montserrat"/>
                <a:ea typeface="Montserrat"/>
                <a:cs typeface="Montserrat"/>
                <a:sym typeface="Montserrat"/>
              </a:endParaRPr>
            </a:p>
          </p:txBody>
        </p:sp>
        <p:cxnSp>
          <p:nvCxnSpPr>
            <p:cNvPr id="154" name="Google Shape;154;p15"/>
            <p:cNvCxnSpPr/>
            <p:nvPr/>
          </p:nvCxnSpPr>
          <p:spPr>
            <a:xfrm>
              <a:off x="238125" y="552450"/>
              <a:ext cx="3810000" cy="0"/>
            </a:xfrm>
            <a:prstGeom prst="straightConnector1">
              <a:avLst/>
            </a:prstGeom>
            <a:solidFill>
              <a:srgbClr val="FFFFFF"/>
            </a:solidFill>
            <a:ln cap="flat" cmpd="sng" w="9525">
              <a:solidFill>
                <a:srgbClr val="334155"/>
              </a:solidFill>
              <a:prstDash val="solid"/>
              <a:round/>
              <a:headEnd len="sm" w="sm" type="none"/>
              <a:tailEnd len="sm" w="sm" type="none"/>
            </a:ln>
          </p:spPr>
        </p:cxnSp>
      </p:grpSp>
      <p:pic>
        <p:nvPicPr>
          <p:cNvPr id="155" name="Google Shape;155;p15"/>
          <p:cNvPicPr preferRelativeResize="0"/>
          <p:nvPr/>
        </p:nvPicPr>
        <p:blipFill>
          <a:blip r:embed="rId3">
            <a:alphaModFix/>
          </a:blip>
          <a:stretch>
            <a:fillRect/>
          </a:stretch>
        </p:blipFill>
        <p:spPr>
          <a:xfrm>
            <a:off x="4821200" y="2120450"/>
            <a:ext cx="6455001" cy="3175000"/>
          </a:xfrm>
          <a:prstGeom prst="rect">
            <a:avLst/>
          </a:prstGeom>
          <a:noFill/>
          <a:ln>
            <a:noFill/>
          </a:ln>
        </p:spPr>
      </p:pic>
      <p:sp>
        <p:nvSpPr>
          <p:cNvPr id="156" name="Google Shape;156;p15"/>
          <p:cNvSpPr txBox="1"/>
          <p:nvPr>
            <p:ph idx="12" type="sldNum"/>
          </p:nvPr>
        </p:nvSpPr>
        <p:spPr>
          <a:xfrm>
            <a:off x="9831275" y="63811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833"/>
        </a:solidFill>
      </p:bgPr>
    </p:bg>
    <p:spTree>
      <p:nvGrpSpPr>
        <p:cNvPr id="160" name="Shape 160"/>
        <p:cNvGrpSpPr/>
        <p:nvPr/>
      </p:nvGrpSpPr>
      <p:grpSpPr>
        <a:xfrm>
          <a:off x="0" y="0"/>
          <a:ext cx="0" cy="0"/>
          <a:chOff x="0" y="0"/>
          <a:chExt cx="0" cy="0"/>
        </a:xfrm>
      </p:grpSpPr>
      <p:sp>
        <p:nvSpPr>
          <p:cNvPr id="161" name="Google Shape;161;p16"/>
          <p:cNvSpPr txBox="1"/>
          <p:nvPr/>
        </p:nvSpPr>
        <p:spPr>
          <a:xfrm>
            <a:off x="666750" y="428625"/>
            <a:ext cx="10858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500">
                <a:solidFill>
                  <a:srgbClr val="F39C12"/>
                </a:solidFill>
                <a:latin typeface="Montserrat"/>
                <a:ea typeface="Montserrat"/>
                <a:cs typeface="Montserrat"/>
                <a:sym typeface="Montserrat"/>
              </a:rPr>
              <a:t>Market Saturation: Animation Dominates Financial Returns</a:t>
            </a:r>
            <a:endParaRPr b="1" sz="2500">
              <a:solidFill>
                <a:srgbClr val="F39C12"/>
              </a:solidFill>
              <a:latin typeface="Montserrat"/>
              <a:ea typeface="Montserrat"/>
              <a:cs typeface="Montserrat"/>
              <a:sym typeface="Montserrat"/>
            </a:endParaRPr>
          </a:p>
        </p:txBody>
      </p:sp>
      <p:grpSp>
        <p:nvGrpSpPr>
          <p:cNvPr id="162" name="Google Shape;162;p16"/>
          <p:cNvGrpSpPr/>
          <p:nvPr/>
        </p:nvGrpSpPr>
        <p:grpSpPr>
          <a:xfrm>
            <a:off x="666750" y="1285875"/>
            <a:ext cx="3143400" cy="1428900"/>
            <a:chOff x="0" y="0"/>
            <a:chExt cx="3143400" cy="1428900"/>
          </a:xfrm>
        </p:grpSpPr>
        <p:sp>
          <p:nvSpPr>
            <p:cNvPr id="163" name="Google Shape;163;p16"/>
            <p:cNvSpPr/>
            <p:nvPr/>
          </p:nvSpPr>
          <p:spPr>
            <a:xfrm>
              <a:off x="0" y="0"/>
              <a:ext cx="3143400" cy="1428900"/>
            </a:xfrm>
            <a:prstGeom prst="roundRect">
              <a:avLst>
                <a:gd fmla="val 8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6"/>
            <p:cNvSpPr/>
            <p:nvPr/>
          </p:nvSpPr>
          <p:spPr>
            <a:xfrm>
              <a:off x="0" y="0"/>
              <a:ext cx="57300" cy="14289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6"/>
            <p:cNvSpPr txBox="1"/>
            <p:nvPr/>
          </p:nvSpPr>
          <p:spPr>
            <a:xfrm>
              <a:off x="228600" y="152400"/>
              <a:ext cx="27432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EF4444"/>
                  </a:solidFill>
                  <a:latin typeface="Montserrat"/>
                  <a:ea typeface="Montserrat"/>
                  <a:cs typeface="Montserrat"/>
                  <a:sym typeface="Montserrat"/>
                </a:rPr>
                <a:t>THE TRAP OF OVERSATURATION </a:t>
              </a:r>
              <a:endParaRPr b="1" sz="1000">
                <a:solidFill>
                  <a:srgbClr val="EF4444"/>
                </a:solidFill>
                <a:latin typeface="Montserrat"/>
                <a:ea typeface="Montserrat"/>
                <a:cs typeface="Montserrat"/>
                <a:sym typeface="Montserrat"/>
              </a:endParaRPr>
            </a:p>
            <a:p>
              <a:pPr indent="0" lvl="0" marL="0" rtl="0" algn="l">
                <a:spcBef>
                  <a:spcPts val="450"/>
                </a:spcBef>
                <a:spcAft>
                  <a:spcPts val="0"/>
                </a:spcAft>
                <a:buNone/>
              </a:pPr>
              <a:r>
                <a:rPr b="1" lang="en-US" sz="1150">
                  <a:solidFill>
                    <a:srgbClr val="FFFFFF"/>
                  </a:solidFill>
                  <a:latin typeface="Montserrat"/>
                  <a:ea typeface="Montserrat"/>
                  <a:cs typeface="Montserrat"/>
                  <a:sym typeface="Montserrat"/>
                </a:rPr>
                <a:t>• Dramas &amp; Comedies</a:t>
              </a:r>
              <a:endParaRPr b="1" sz="1000">
                <a:solidFill>
                  <a:srgbClr val="EF4444"/>
                </a:solidFill>
                <a:latin typeface="Montserrat"/>
                <a:ea typeface="Montserrat"/>
                <a:cs typeface="Montserrat"/>
                <a:sym typeface="Montserrat"/>
              </a:endParaRPr>
            </a:p>
            <a:p>
              <a:pPr indent="0" lvl="0" marL="0" rtl="0" algn="l">
                <a:spcBef>
                  <a:spcPts val="450"/>
                </a:spcBef>
                <a:spcAft>
                  <a:spcPts val="0"/>
                </a:spcAft>
                <a:buNone/>
              </a:pPr>
              <a:r>
                <a:rPr b="0" lang="en-US" sz="1050">
                  <a:solidFill>
                    <a:srgbClr val="CBD5E1"/>
                  </a:solidFill>
                  <a:latin typeface="Open Sans"/>
                  <a:ea typeface="Open Sans"/>
                  <a:cs typeface="Open Sans"/>
                  <a:sym typeface="Open Sans"/>
                </a:rPr>
                <a:t>Dramas and Comedies are vastly overproduced. They represent the most crowded markets but yield the lowest median revenues.</a:t>
              </a:r>
              <a:endParaRPr b="0" sz="1050">
                <a:solidFill>
                  <a:srgbClr val="CBD5E1"/>
                </a:solidFill>
                <a:latin typeface="Open Sans"/>
                <a:ea typeface="Open Sans"/>
                <a:cs typeface="Open Sans"/>
                <a:sym typeface="Open Sans"/>
              </a:endParaRPr>
            </a:p>
          </p:txBody>
        </p:sp>
      </p:grpSp>
      <p:grpSp>
        <p:nvGrpSpPr>
          <p:cNvPr id="166" name="Google Shape;166;p16"/>
          <p:cNvGrpSpPr/>
          <p:nvPr/>
        </p:nvGrpSpPr>
        <p:grpSpPr>
          <a:xfrm>
            <a:off x="666750" y="2905125"/>
            <a:ext cx="3143400" cy="1428900"/>
            <a:chOff x="0" y="0"/>
            <a:chExt cx="3143400" cy="1428900"/>
          </a:xfrm>
        </p:grpSpPr>
        <p:sp>
          <p:nvSpPr>
            <p:cNvPr id="167" name="Google Shape;167;p16"/>
            <p:cNvSpPr/>
            <p:nvPr/>
          </p:nvSpPr>
          <p:spPr>
            <a:xfrm>
              <a:off x="0" y="0"/>
              <a:ext cx="3143400" cy="1428900"/>
            </a:xfrm>
            <a:prstGeom prst="roundRect">
              <a:avLst>
                <a:gd fmla="val 8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6"/>
            <p:cNvSpPr/>
            <p:nvPr/>
          </p:nvSpPr>
          <p:spPr>
            <a:xfrm>
              <a:off x="0" y="0"/>
              <a:ext cx="57300" cy="14289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6"/>
            <p:cNvSpPr txBox="1"/>
            <p:nvPr/>
          </p:nvSpPr>
          <p:spPr>
            <a:xfrm>
              <a:off x="228600" y="152400"/>
              <a:ext cx="2743200" cy="112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3B82F6"/>
                  </a:solidFill>
                  <a:latin typeface="Montserrat"/>
                  <a:ea typeface="Montserrat"/>
                  <a:cs typeface="Montserrat"/>
                  <a:sym typeface="Montserrat"/>
                </a:rPr>
                <a:t>THE BLUE OCEAN </a:t>
              </a:r>
              <a:endParaRPr b="1" sz="1000">
                <a:solidFill>
                  <a:srgbClr val="3B82F6"/>
                </a:solidFill>
                <a:latin typeface="Montserrat"/>
                <a:ea typeface="Montserrat"/>
                <a:cs typeface="Montserrat"/>
                <a:sym typeface="Montserrat"/>
              </a:endParaRPr>
            </a:p>
            <a:p>
              <a:pPr indent="0" lvl="0" marL="0" rtl="0" algn="l">
                <a:spcBef>
                  <a:spcPts val="450"/>
                </a:spcBef>
                <a:spcAft>
                  <a:spcPts val="0"/>
                </a:spcAft>
                <a:buNone/>
              </a:pPr>
              <a:r>
                <a:rPr b="1" lang="en-US" sz="1150">
                  <a:solidFill>
                    <a:srgbClr val="FFFFFF"/>
                  </a:solidFill>
                  <a:latin typeface="Montserrat"/>
                  <a:ea typeface="Montserrat"/>
                  <a:cs typeface="Montserrat"/>
                  <a:sym typeface="Montserrat"/>
                </a:rPr>
                <a:t>• Animation &amp; Sci-Fi</a:t>
              </a:r>
              <a:endParaRPr b="1" sz="1000">
                <a:solidFill>
                  <a:srgbClr val="3B82F6"/>
                </a:solidFill>
                <a:latin typeface="Montserrat"/>
                <a:ea typeface="Montserrat"/>
                <a:cs typeface="Montserrat"/>
                <a:sym typeface="Montserrat"/>
              </a:endParaRPr>
            </a:p>
            <a:p>
              <a:pPr indent="0" lvl="0" marL="0" rtl="0" algn="l">
                <a:spcBef>
                  <a:spcPts val="450"/>
                </a:spcBef>
                <a:spcAft>
                  <a:spcPts val="0"/>
                </a:spcAft>
                <a:buNone/>
              </a:pPr>
              <a:r>
                <a:rPr b="0" lang="en-US" sz="1050">
                  <a:solidFill>
                    <a:srgbClr val="CBD5E1"/>
                  </a:solidFill>
                  <a:latin typeface="Open Sans"/>
                  <a:ea typeface="Open Sans"/>
                  <a:cs typeface="Open Sans"/>
                  <a:sym typeface="Open Sans"/>
                </a:rPr>
                <a:t>Animation and Sci-Fi/Adventure represent clear high-yield opportunities that remain significantly less crowded than live-action counterparts.</a:t>
              </a:r>
              <a:endParaRPr b="0" sz="1050">
                <a:solidFill>
                  <a:srgbClr val="CBD5E1"/>
                </a:solidFill>
                <a:latin typeface="Open Sans"/>
                <a:ea typeface="Open Sans"/>
                <a:cs typeface="Open Sans"/>
                <a:sym typeface="Open Sans"/>
              </a:endParaRPr>
            </a:p>
          </p:txBody>
        </p:sp>
      </p:grpSp>
      <p:grpSp>
        <p:nvGrpSpPr>
          <p:cNvPr id="170" name="Google Shape;170;p16"/>
          <p:cNvGrpSpPr/>
          <p:nvPr/>
        </p:nvGrpSpPr>
        <p:grpSpPr>
          <a:xfrm>
            <a:off x="666750" y="4524375"/>
            <a:ext cx="3143400" cy="1524000"/>
            <a:chOff x="0" y="0"/>
            <a:chExt cx="3143400" cy="1524000"/>
          </a:xfrm>
        </p:grpSpPr>
        <p:sp>
          <p:nvSpPr>
            <p:cNvPr id="171" name="Google Shape;171;p16"/>
            <p:cNvSpPr/>
            <p:nvPr/>
          </p:nvSpPr>
          <p:spPr>
            <a:xfrm>
              <a:off x="0" y="0"/>
              <a:ext cx="3143400" cy="1524000"/>
            </a:xfrm>
            <a:prstGeom prst="roundRect">
              <a:avLst>
                <a:gd fmla="val 7500" name="adj"/>
              </a:avLst>
            </a:prstGeom>
            <a:solidFill>
              <a:srgbClr val="1E293B"/>
            </a:solidFill>
            <a:ln cap="flat" cmpd="sng" w="1905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6"/>
            <p:cNvSpPr/>
            <p:nvPr/>
          </p:nvSpPr>
          <p:spPr>
            <a:xfrm>
              <a:off x="0" y="0"/>
              <a:ext cx="57300" cy="15240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6"/>
            <p:cNvSpPr txBox="1"/>
            <p:nvPr/>
          </p:nvSpPr>
          <p:spPr>
            <a:xfrm>
              <a:off x="228600" y="152400"/>
              <a:ext cx="2743200" cy="12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39C12"/>
                  </a:solidFill>
                  <a:latin typeface="Montserrat"/>
                  <a:ea typeface="Montserrat"/>
                  <a:cs typeface="Montserrat"/>
                  <a:sym typeface="Montserrat"/>
                </a:rPr>
                <a:t>THE INSIGHT </a:t>
              </a:r>
              <a:endParaRPr b="1" sz="1000">
                <a:solidFill>
                  <a:srgbClr val="F39C12"/>
                </a:solidFill>
                <a:latin typeface="Montserrat"/>
                <a:ea typeface="Montserrat"/>
                <a:cs typeface="Montserrat"/>
                <a:sym typeface="Montserrat"/>
              </a:endParaRPr>
            </a:p>
            <a:p>
              <a:pPr indent="0" lvl="0" marL="0" rtl="0" algn="l">
                <a:spcBef>
                  <a:spcPts val="450"/>
                </a:spcBef>
                <a:spcAft>
                  <a:spcPts val="0"/>
                </a:spcAft>
                <a:buNone/>
              </a:pPr>
              <a:r>
                <a:rPr b="1" lang="en-US" sz="1150">
                  <a:solidFill>
                    <a:srgbClr val="FFFFFF"/>
                  </a:solidFill>
                  <a:latin typeface="Montserrat"/>
                  <a:ea typeface="Montserrat"/>
                  <a:cs typeface="Montserrat"/>
                  <a:sym typeface="Montserrat"/>
                </a:rPr>
                <a:t>★ Massive Market Gap</a:t>
              </a:r>
              <a:endParaRPr b="1" sz="1000">
                <a:solidFill>
                  <a:srgbClr val="F39C12"/>
                </a:solidFill>
                <a:latin typeface="Montserrat"/>
                <a:ea typeface="Montserrat"/>
                <a:cs typeface="Montserrat"/>
                <a:sym typeface="Montserrat"/>
              </a:endParaRPr>
            </a:p>
            <a:p>
              <a:pPr indent="0" lvl="0" marL="0" rtl="0" algn="l">
                <a:spcBef>
                  <a:spcPts val="450"/>
                </a:spcBef>
                <a:spcAft>
                  <a:spcPts val="0"/>
                </a:spcAft>
                <a:buNone/>
              </a:pPr>
              <a:r>
                <a:rPr b="1" lang="en-US" sz="1050">
                  <a:solidFill>
                    <a:srgbClr val="FDFEFE"/>
                  </a:solidFill>
                  <a:latin typeface="Open Sans"/>
                  <a:ea typeface="Open Sans"/>
                  <a:cs typeface="Open Sans"/>
                  <a:sym typeface="Open Sans"/>
                </a:rPr>
                <a:t>Animation </a:t>
              </a:r>
              <a:r>
                <a:rPr b="0" lang="en-US" sz="1050">
                  <a:solidFill>
                    <a:srgbClr val="FDFEFE"/>
                  </a:solidFill>
                  <a:latin typeface="Open Sans"/>
                  <a:ea typeface="Open Sans"/>
                  <a:cs typeface="Open Sans"/>
                  <a:sym typeface="Open Sans"/>
                </a:rPr>
                <a:t>delivers the highest median return in the industry (approaching $200 million) while remaining structurally undersupplied by major studios, representing a massive market gap.</a:t>
              </a:r>
              <a:endParaRPr b="0" sz="1050">
                <a:solidFill>
                  <a:srgbClr val="FDFEFE"/>
                </a:solidFill>
                <a:latin typeface="Open Sans"/>
                <a:ea typeface="Open Sans"/>
                <a:cs typeface="Open Sans"/>
                <a:sym typeface="Open Sans"/>
              </a:endParaRPr>
            </a:p>
          </p:txBody>
        </p:sp>
      </p:grpSp>
      <p:grpSp>
        <p:nvGrpSpPr>
          <p:cNvPr id="174" name="Google Shape;174;p16"/>
          <p:cNvGrpSpPr/>
          <p:nvPr/>
        </p:nvGrpSpPr>
        <p:grpSpPr>
          <a:xfrm>
            <a:off x="4095750" y="1285875"/>
            <a:ext cx="8041691" cy="5154930"/>
            <a:chOff x="0" y="0"/>
            <a:chExt cx="7429500" cy="4762500"/>
          </a:xfrm>
        </p:grpSpPr>
        <p:sp>
          <p:nvSpPr>
            <p:cNvPr id="175" name="Google Shape;175;p16"/>
            <p:cNvSpPr/>
            <p:nvPr/>
          </p:nvSpPr>
          <p:spPr>
            <a:xfrm>
              <a:off x="0" y="0"/>
              <a:ext cx="7429500" cy="4762500"/>
            </a:xfrm>
            <a:prstGeom prst="roundRect">
              <a:avLst>
                <a:gd fmla="val 3200" name="adj"/>
              </a:avLst>
            </a:prstGeom>
            <a:solidFill>
              <a:srgbClr val="1E293B"/>
            </a:solidFill>
            <a:ln cap="flat" cmpd="sng" w="1547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6"/>
            <p:cNvSpPr/>
            <p:nvPr/>
          </p:nvSpPr>
          <p:spPr>
            <a:xfrm>
              <a:off x="0" y="0"/>
              <a:ext cx="7429500" cy="381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6"/>
            <p:cNvSpPr txBox="1"/>
            <p:nvPr/>
          </p:nvSpPr>
          <p:spPr>
            <a:xfrm>
              <a:off x="238125" y="171450"/>
              <a:ext cx="6953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91">
                  <a:solidFill>
                    <a:srgbClr val="FDFEFE"/>
                  </a:solidFill>
                  <a:latin typeface="Montserrat"/>
                  <a:ea typeface="Montserrat"/>
                  <a:cs typeface="Montserrat"/>
                  <a:sym typeface="Montserrat"/>
                </a:rPr>
                <a:t>MEDIAN REVENUE &amp; MOVIE COUNT BY GENRE</a:t>
              </a:r>
              <a:endParaRPr b="1" sz="1191">
                <a:solidFill>
                  <a:srgbClr val="FDFEFE"/>
                </a:solidFill>
                <a:latin typeface="Montserrat"/>
                <a:ea typeface="Montserrat"/>
                <a:cs typeface="Montserrat"/>
                <a:sym typeface="Montserrat"/>
              </a:endParaRPr>
            </a:p>
          </p:txBody>
        </p:sp>
        <p:cxnSp>
          <p:nvCxnSpPr>
            <p:cNvPr id="178" name="Google Shape;178;p16"/>
            <p:cNvCxnSpPr/>
            <p:nvPr/>
          </p:nvCxnSpPr>
          <p:spPr>
            <a:xfrm>
              <a:off x="238125" y="495300"/>
              <a:ext cx="6953400" cy="0"/>
            </a:xfrm>
            <a:prstGeom prst="straightConnector1">
              <a:avLst/>
            </a:prstGeom>
            <a:solidFill>
              <a:srgbClr val="FFFFFF"/>
            </a:solidFill>
            <a:ln cap="flat" cmpd="sng" w="10300">
              <a:solidFill>
                <a:srgbClr val="334155"/>
              </a:solidFill>
              <a:prstDash val="solid"/>
              <a:round/>
              <a:headEnd len="sm" w="sm" type="none"/>
              <a:tailEnd len="sm" w="sm" type="none"/>
            </a:ln>
          </p:spPr>
        </p:cxnSp>
      </p:grpSp>
      <p:pic>
        <p:nvPicPr>
          <p:cNvPr id="179" name="Google Shape;179;p16"/>
          <p:cNvPicPr preferRelativeResize="0"/>
          <p:nvPr/>
        </p:nvPicPr>
        <p:blipFill>
          <a:blip r:embed="rId3">
            <a:alphaModFix/>
          </a:blip>
          <a:stretch>
            <a:fillRect/>
          </a:stretch>
        </p:blipFill>
        <p:spPr>
          <a:xfrm>
            <a:off x="4153575" y="2150950"/>
            <a:ext cx="7926026" cy="3424764"/>
          </a:xfrm>
          <a:prstGeom prst="rect">
            <a:avLst/>
          </a:prstGeom>
          <a:noFill/>
          <a:ln>
            <a:noFill/>
          </a:ln>
        </p:spPr>
      </p:pic>
      <p:sp>
        <p:nvSpPr>
          <p:cNvPr id="180" name="Google Shape;180;p16"/>
          <p:cNvSpPr txBox="1"/>
          <p:nvPr>
            <p:ph idx="12" type="sldNum"/>
          </p:nvPr>
        </p:nvSpPr>
        <p:spPr>
          <a:xfrm>
            <a:off x="9946000" y="64408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833"/>
        </a:solidFill>
      </p:bgPr>
    </p:bg>
    <p:spTree>
      <p:nvGrpSpPr>
        <p:cNvPr id="184" name="Shape 184"/>
        <p:cNvGrpSpPr/>
        <p:nvPr/>
      </p:nvGrpSpPr>
      <p:grpSpPr>
        <a:xfrm>
          <a:off x="0" y="0"/>
          <a:ext cx="0" cy="0"/>
          <a:chOff x="0" y="0"/>
          <a:chExt cx="0" cy="0"/>
        </a:xfrm>
      </p:grpSpPr>
      <p:sp>
        <p:nvSpPr>
          <p:cNvPr id="185" name="Google Shape;185;p17"/>
          <p:cNvSpPr txBox="1"/>
          <p:nvPr/>
        </p:nvSpPr>
        <p:spPr>
          <a:xfrm>
            <a:off x="666750" y="476250"/>
            <a:ext cx="10858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F39C12"/>
                </a:solidFill>
                <a:latin typeface="Montserrat"/>
                <a:ea typeface="Montserrat"/>
                <a:cs typeface="Montserrat"/>
                <a:sym typeface="Montserrat"/>
              </a:rPr>
              <a:t>The Talent Multiplier: Producers Ensure Consistency</a:t>
            </a:r>
            <a:endParaRPr b="1" sz="2600">
              <a:solidFill>
                <a:srgbClr val="F39C12"/>
              </a:solidFill>
              <a:latin typeface="Montserrat"/>
              <a:ea typeface="Montserrat"/>
              <a:cs typeface="Montserrat"/>
              <a:sym typeface="Montserrat"/>
            </a:endParaRPr>
          </a:p>
        </p:txBody>
      </p:sp>
      <p:grpSp>
        <p:nvGrpSpPr>
          <p:cNvPr id="186" name="Google Shape;186;p17"/>
          <p:cNvGrpSpPr/>
          <p:nvPr/>
        </p:nvGrpSpPr>
        <p:grpSpPr>
          <a:xfrm>
            <a:off x="666750" y="1333500"/>
            <a:ext cx="3064040" cy="1467249"/>
            <a:chOff x="0" y="0"/>
            <a:chExt cx="6286500" cy="1381200"/>
          </a:xfrm>
        </p:grpSpPr>
        <p:sp>
          <p:nvSpPr>
            <p:cNvPr id="187" name="Google Shape;187;p17"/>
            <p:cNvSpPr/>
            <p:nvPr/>
          </p:nvSpPr>
          <p:spPr>
            <a:xfrm>
              <a:off x="0" y="0"/>
              <a:ext cx="6286500" cy="1381200"/>
            </a:xfrm>
            <a:prstGeom prst="roundRect">
              <a:avLst>
                <a:gd fmla="val 827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7"/>
            <p:cNvSpPr/>
            <p:nvPr/>
          </p:nvSpPr>
          <p:spPr>
            <a:xfrm>
              <a:off x="0" y="0"/>
              <a:ext cx="57300" cy="1381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7"/>
            <p:cNvSpPr txBox="1"/>
            <p:nvPr/>
          </p:nvSpPr>
          <p:spPr>
            <a:xfrm>
              <a:off x="285750" y="171450"/>
              <a:ext cx="5715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3B82F6"/>
                  </a:solidFill>
                  <a:latin typeface="Montserrat"/>
                  <a:ea typeface="Montserrat"/>
                  <a:cs typeface="Montserrat"/>
                  <a:sym typeface="Montserrat"/>
                </a:rPr>
                <a:t>DIRECTORIAL PEAKS</a:t>
              </a:r>
              <a:r>
                <a:rPr b="1" lang="en-US" sz="1000">
                  <a:solidFill>
                    <a:srgbClr val="3B82F6"/>
                  </a:solidFill>
                  <a:latin typeface="Montserrat"/>
                  <a:ea typeface="Montserrat"/>
                  <a:cs typeface="Montserrat"/>
                  <a:sym typeface="Montserrat"/>
                </a:rPr>
                <a:t> </a:t>
              </a:r>
              <a:endParaRPr b="1" sz="1000">
                <a:solidFill>
                  <a:srgbClr val="3B82F6"/>
                </a:solidFill>
                <a:latin typeface="Montserrat"/>
                <a:ea typeface="Montserrat"/>
                <a:cs typeface="Montserrat"/>
                <a:sym typeface="Montserrat"/>
              </a:endParaRPr>
            </a:p>
            <a:p>
              <a:pPr indent="0" lvl="0" marL="0" rtl="0" algn="l">
                <a:spcBef>
                  <a:spcPts val="450"/>
                </a:spcBef>
                <a:spcAft>
                  <a:spcPts val="0"/>
                </a:spcAft>
                <a:buNone/>
              </a:pPr>
              <a:r>
                <a:rPr b="1" lang="en-US" sz="1200">
                  <a:solidFill>
                    <a:srgbClr val="FDFEFE"/>
                  </a:solidFill>
                  <a:latin typeface="Montserrat"/>
                  <a:ea typeface="Montserrat"/>
                  <a:cs typeface="Montserrat"/>
                  <a:sym typeface="Montserrat"/>
                </a:rPr>
                <a:t>• </a:t>
              </a:r>
              <a:r>
                <a:rPr b="1" lang="en-US" sz="1200">
                  <a:solidFill>
                    <a:srgbClr val="FDFEFE"/>
                  </a:solidFill>
                  <a:latin typeface="Montserrat"/>
                  <a:ea typeface="Montserrat"/>
                  <a:cs typeface="Montserrat"/>
                  <a:sym typeface="Montserrat"/>
                </a:rPr>
                <a:t>Franchise Ceilings </a:t>
              </a:r>
              <a:endParaRPr b="1" sz="1000">
                <a:solidFill>
                  <a:srgbClr val="3B82F6"/>
                </a:solidFill>
                <a:latin typeface="Montserrat"/>
                <a:ea typeface="Montserrat"/>
                <a:cs typeface="Montserrat"/>
                <a:sym typeface="Montserrat"/>
              </a:endParaRPr>
            </a:p>
            <a:p>
              <a:pPr indent="0" lvl="0" marL="0" rtl="0" algn="l">
                <a:spcBef>
                  <a:spcPts val="450"/>
                </a:spcBef>
                <a:spcAft>
                  <a:spcPts val="0"/>
                </a:spcAft>
                <a:buNone/>
              </a:pPr>
              <a:r>
                <a:rPr lang="en-US" sz="1100">
                  <a:solidFill>
                    <a:srgbClr val="CBD5E1"/>
                  </a:solidFill>
                  <a:latin typeface="Open Sans"/>
                  <a:ea typeface="Open Sans"/>
                  <a:cs typeface="Open Sans"/>
                  <a:sym typeface="Open Sans"/>
                </a:rPr>
                <a:t>Visionary directors (e.g., Joss Whedon, David Yates) command the highest overall median revenues, proving their ability to execute massive, high-ceiling blockbuster events.</a:t>
              </a:r>
              <a:endParaRPr b="0" sz="1100">
                <a:solidFill>
                  <a:srgbClr val="CBD5E1"/>
                </a:solidFill>
                <a:latin typeface="Open Sans"/>
                <a:ea typeface="Open Sans"/>
                <a:cs typeface="Open Sans"/>
                <a:sym typeface="Open Sans"/>
              </a:endParaRPr>
            </a:p>
          </p:txBody>
        </p:sp>
      </p:grpSp>
      <p:grpSp>
        <p:nvGrpSpPr>
          <p:cNvPr id="190" name="Google Shape;190;p17"/>
          <p:cNvGrpSpPr/>
          <p:nvPr/>
        </p:nvGrpSpPr>
        <p:grpSpPr>
          <a:xfrm>
            <a:off x="666750" y="2976750"/>
            <a:ext cx="3099328" cy="1738579"/>
            <a:chOff x="0" y="0"/>
            <a:chExt cx="6358899" cy="1524000"/>
          </a:xfrm>
        </p:grpSpPr>
        <p:sp>
          <p:nvSpPr>
            <p:cNvPr id="191" name="Google Shape;191;p17"/>
            <p:cNvSpPr/>
            <p:nvPr/>
          </p:nvSpPr>
          <p:spPr>
            <a:xfrm>
              <a:off x="72399" y="0"/>
              <a:ext cx="6286500" cy="1524000"/>
            </a:xfrm>
            <a:prstGeom prst="roundRect">
              <a:avLst>
                <a:gd fmla="val 7500" name="adj"/>
              </a:avLst>
            </a:prstGeom>
            <a:solidFill>
              <a:srgbClr val="1E293B"/>
            </a:solidFill>
            <a:ln cap="flat" cmpd="sng" w="1905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7"/>
            <p:cNvSpPr/>
            <p:nvPr/>
          </p:nvSpPr>
          <p:spPr>
            <a:xfrm>
              <a:off x="0" y="0"/>
              <a:ext cx="57300" cy="15240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7"/>
            <p:cNvSpPr txBox="1"/>
            <p:nvPr/>
          </p:nvSpPr>
          <p:spPr>
            <a:xfrm>
              <a:off x="285750" y="171450"/>
              <a:ext cx="5715000" cy="118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39C12"/>
                  </a:solidFill>
                  <a:latin typeface="Montserrat"/>
                  <a:ea typeface="Montserrat"/>
                  <a:cs typeface="Montserrat"/>
                  <a:sym typeface="Montserrat"/>
                </a:rPr>
                <a:t>THE PRODUCER'S PREMIUM </a:t>
              </a:r>
              <a:endParaRPr b="1" sz="1000">
                <a:solidFill>
                  <a:srgbClr val="F39C12"/>
                </a:solidFill>
                <a:latin typeface="Montserrat"/>
                <a:ea typeface="Montserrat"/>
                <a:cs typeface="Montserrat"/>
                <a:sym typeface="Montserrat"/>
              </a:endParaRPr>
            </a:p>
            <a:p>
              <a:pPr indent="0" lvl="0" marL="0" rtl="0" algn="l">
                <a:spcBef>
                  <a:spcPts val="450"/>
                </a:spcBef>
                <a:spcAft>
                  <a:spcPts val="0"/>
                </a:spcAft>
                <a:buNone/>
              </a:pPr>
              <a:r>
                <a:rPr b="1" lang="en-US" sz="1200">
                  <a:solidFill>
                    <a:srgbClr val="FFFFFF"/>
                  </a:solidFill>
                  <a:latin typeface="Montserrat"/>
                  <a:ea typeface="Montserrat"/>
                  <a:cs typeface="Montserrat"/>
                  <a:sym typeface="Montserrat"/>
                </a:rPr>
                <a:t>★ High Baseline &amp; Consistency</a:t>
              </a:r>
              <a:endParaRPr b="1" sz="900">
                <a:solidFill>
                  <a:srgbClr val="F39C12"/>
                </a:solidFill>
                <a:latin typeface="Montserrat"/>
                <a:ea typeface="Montserrat"/>
                <a:cs typeface="Montserrat"/>
                <a:sym typeface="Montserrat"/>
              </a:endParaRPr>
            </a:p>
            <a:p>
              <a:pPr indent="0" lvl="0" marL="0" rtl="0" algn="l">
                <a:spcBef>
                  <a:spcPts val="450"/>
                </a:spcBef>
                <a:spcAft>
                  <a:spcPts val="0"/>
                </a:spcAft>
                <a:buNone/>
              </a:pPr>
              <a:r>
                <a:rPr b="0" lang="en-US" sz="1100">
                  <a:solidFill>
                    <a:srgbClr val="FDFEFE"/>
                  </a:solidFill>
                  <a:latin typeface="Open Sans"/>
                  <a:ea typeface="Open Sans"/>
                  <a:cs typeface="Open Sans"/>
                  <a:sym typeface="Open Sans"/>
                </a:rPr>
                <a:t>While star directors can generate massive, unpredictable spikes, elite producers maintain a remarkably high, reliable financial baseline across multi-film portfolios.</a:t>
              </a:r>
              <a:endParaRPr b="0" sz="1100">
                <a:solidFill>
                  <a:srgbClr val="FDFEFE"/>
                </a:solidFill>
                <a:latin typeface="Open Sans"/>
                <a:ea typeface="Open Sans"/>
                <a:cs typeface="Open Sans"/>
                <a:sym typeface="Open Sans"/>
              </a:endParaRPr>
            </a:p>
          </p:txBody>
        </p:sp>
      </p:grpSp>
      <p:grpSp>
        <p:nvGrpSpPr>
          <p:cNvPr id="194" name="Google Shape;194;p17"/>
          <p:cNvGrpSpPr/>
          <p:nvPr/>
        </p:nvGrpSpPr>
        <p:grpSpPr>
          <a:xfrm>
            <a:off x="632813" y="4891325"/>
            <a:ext cx="3131934" cy="1381200"/>
            <a:chOff x="0" y="0"/>
            <a:chExt cx="6286500" cy="1381200"/>
          </a:xfrm>
        </p:grpSpPr>
        <p:sp>
          <p:nvSpPr>
            <p:cNvPr id="195" name="Google Shape;195;p17"/>
            <p:cNvSpPr/>
            <p:nvPr/>
          </p:nvSpPr>
          <p:spPr>
            <a:xfrm>
              <a:off x="0" y="0"/>
              <a:ext cx="6286500" cy="1381200"/>
            </a:xfrm>
            <a:prstGeom prst="roundRect">
              <a:avLst>
                <a:gd fmla="val 827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7"/>
            <p:cNvSpPr/>
            <p:nvPr/>
          </p:nvSpPr>
          <p:spPr>
            <a:xfrm>
              <a:off x="0" y="0"/>
              <a:ext cx="57300" cy="1381200"/>
            </a:xfrm>
            <a:prstGeom prst="roundRect">
              <a:avLst>
                <a:gd fmla="val 50000" name="adj"/>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7"/>
            <p:cNvSpPr txBox="1"/>
            <p:nvPr/>
          </p:nvSpPr>
          <p:spPr>
            <a:xfrm>
              <a:off x="285750" y="171450"/>
              <a:ext cx="5715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2C55E"/>
                  </a:solidFill>
                  <a:latin typeface="Montserrat"/>
                  <a:ea typeface="Montserrat"/>
                  <a:cs typeface="Montserrat"/>
                  <a:sym typeface="Montserrat"/>
                </a:rPr>
                <a:t>RECOMMENDATION </a:t>
              </a:r>
              <a:endParaRPr b="1" sz="1000">
                <a:solidFill>
                  <a:srgbClr val="22C55E"/>
                </a:solidFill>
                <a:latin typeface="Montserrat"/>
                <a:ea typeface="Montserrat"/>
                <a:cs typeface="Montserrat"/>
                <a:sym typeface="Montserrat"/>
              </a:endParaRPr>
            </a:p>
            <a:p>
              <a:pPr indent="0" lvl="0" marL="0" rtl="0" algn="l">
                <a:spcBef>
                  <a:spcPts val="450"/>
                </a:spcBef>
                <a:spcAft>
                  <a:spcPts val="0"/>
                </a:spcAft>
                <a:buNone/>
              </a:pPr>
              <a:r>
                <a:rPr b="1" lang="en-US" sz="1200">
                  <a:solidFill>
                    <a:srgbClr val="FDFEFE"/>
                  </a:solidFill>
                  <a:latin typeface="Montserrat"/>
                  <a:ea typeface="Montserrat"/>
                  <a:cs typeface="Montserrat"/>
                  <a:sym typeface="Montserrat"/>
                </a:rPr>
                <a:t>• Track Record Risk Assessment</a:t>
              </a:r>
              <a:endParaRPr b="1" sz="1000">
                <a:solidFill>
                  <a:srgbClr val="22C55E"/>
                </a:solidFill>
                <a:latin typeface="Montserrat"/>
                <a:ea typeface="Montserrat"/>
                <a:cs typeface="Montserrat"/>
                <a:sym typeface="Montserrat"/>
              </a:endParaRPr>
            </a:p>
            <a:p>
              <a:pPr indent="0" lvl="0" marL="0" rtl="0" algn="l">
                <a:spcBef>
                  <a:spcPts val="450"/>
                </a:spcBef>
                <a:spcAft>
                  <a:spcPts val="0"/>
                </a:spcAft>
                <a:buNone/>
              </a:pPr>
              <a:r>
                <a:rPr b="0" lang="en-US" sz="1100">
                  <a:solidFill>
                    <a:srgbClr val="CBD5E1"/>
                  </a:solidFill>
                  <a:latin typeface="Open Sans"/>
                  <a:ea typeface="Open Sans"/>
                  <a:cs typeface="Open Sans"/>
                  <a:sym typeface="Open Sans"/>
                </a:rPr>
                <a:t>Prioritize producer track records over director acclaim when assessing a project's financial risk.</a:t>
              </a:r>
              <a:endParaRPr b="0" sz="1100">
                <a:solidFill>
                  <a:srgbClr val="CBD5E1"/>
                </a:solidFill>
                <a:latin typeface="Open Sans"/>
                <a:ea typeface="Open Sans"/>
                <a:cs typeface="Open Sans"/>
                <a:sym typeface="Open Sans"/>
              </a:endParaRPr>
            </a:p>
          </p:txBody>
        </p:sp>
      </p:grpSp>
      <p:grpSp>
        <p:nvGrpSpPr>
          <p:cNvPr id="198" name="Google Shape;198;p17"/>
          <p:cNvGrpSpPr/>
          <p:nvPr/>
        </p:nvGrpSpPr>
        <p:grpSpPr>
          <a:xfrm>
            <a:off x="3844025" y="1333500"/>
            <a:ext cx="8229459" cy="4938800"/>
            <a:chOff x="0" y="0"/>
            <a:chExt cx="4286400" cy="4610100"/>
          </a:xfrm>
        </p:grpSpPr>
        <p:sp>
          <p:nvSpPr>
            <p:cNvPr id="199" name="Google Shape;199;p17"/>
            <p:cNvSpPr/>
            <p:nvPr/>
          </p:nvSpPr>
          <p:spPr>
            <a:xfrm>
              <a:off x="0" y="0"/>
              <a:ext cx="4286400" cy="4610100"/>
            </a:xfrm>
            <a:prstGeom prst="roundRect">
              <a:avLst>
                <a:gd fmla="val 3555" name="adj"/>
              </a:avLst>
            </a:prstGeom>
            <a:solidFill>
              <a:srgbClr val="1E293B"/>
            </a:solidFill>
            <a:ln cap="flat" cmpd="sng" w="153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200" name="Google Shape;200;p17"/>
            <p:cNvSpPr/>
            <p:nvPr/>
          </p:nvSpPr>
          <p:spPr>
            <a:xfrm>
              <a:off x="0" y="0"/>
              <a:ext cx="4286400" cy="381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7"/>
            <p:cNvSpPr txBox="1"/>
            <p:nvPr/>
          </p:nvSpPr>
          <p:spPr>
            <a:xfrm>
              <a:off x="238125" y="190500"/>
              <a:ext cx="381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78">
                  <a:solidFill>
                    <a:srgbClr val="FDFEFE"/>
                  </a:solidFill>
                  <a:latin typeface="Montserrat"/>
                  <a:ea typeface="Montserrat"/>
                  <a:cs typeface="Montserrat"/>
                  <a:sym typeface="Montserrat"/>
                </a:rPr>
                <a:t>TOP TALENT BY MEDIAN REVENUE</a:t>
              </a:r>
              <a:endParaRPr b="1" sz="1178">
                <a:solidFill>
                  <a:srgbClr val="FDFEFE"/>
                </a:solidFill>
                <a:latin typeface="Montserrat"/>
                <a:ea typeface="Montserrat"/>
                <a:cs typeface="Montserrat"/>
                <a:sym typeface="Montserrat"/>
              </a:endParaRPr>
            </a:p>
          </p:txBody>
        </p:sp>
        <p:cxnSp>
          <p:nvCxnSpPr>
            <p:cNvPr id="202" name="Google Shape;202;p17"/>
            <p:cNvCxnSpPr/>
            <p:nvPr/>
          </p:nvCxnSpPr>
          <p:spPr>
            <a:xfrm>
              <a:off x="238125" y="552450"/>
              <a:ext cx="3810000" cy="0"/>
            </a:xfrm>
            <a:prstGeom prst="straightConnector1">
              <a:avLst/>
            </a:prstGeom>
            <a:solidFill>
              <a:srgbClr val="FFFFFF"/>
            </a:solidFill>
            <a:ln cap="flat" cmpd="sng" w="10200">
              <a:solidFill>
                <a:srgbClr val="334155"/>
              </a:solidFill>
              <a:prstDash val="solid"/>
              <a:round/>
              <a:headEnd len="sm" w="sm" type="none"/>
              <a:tailEnd len="sm" w="sm" type="none"/>
            </a:ln>
          </p:spPr>
        </p:cxnSp>
      </p:grpSp>
      <p:pic>
        <p:nvPicPr>
          <p:cNvPr id="203" name="Google Shape;203;p17"/>
          <p:cNvPicPr preferRelativeResize="0"/>
          <p:nvPr/>
        </p:nvPicPr>
        <p:blipFill>
          <a:blip r:embed="rId3">
            <a:alphaModFix/>
          </a:blip>
          <a:stretch>
            <a:fillRect/>
          </a:stretch>
        </p:blipFill>
        <p:spPr>
          <a:xfrm>
            <a:off x="3908950" y="2145800"/>
            <a:ext cx="8077699" cy="3488101"/>
          </a:xfrm>
          <a:prstGeom prst="rect">
            <a:avLst/>
          </a:prstGeom>
          <a:noFill/>
          <a:ln>
            <a:noFill/>
          </a:ln>
        </p:spPr>
      </p:pic>
      <p:sp>
        <p:nvSpPr>
          <p:cNvPr id="204" name="Google Shape;204;p17"/>
          <p:cNvSpPr txBox="1"/>
          <p:nvPr>
            <p:ph idx="12" type="sldNum"/>
          </p:nvPr>
        </p:nvSpPr>
        <p:spPr>
          <a:xfrm>
            <a:off x="9939875"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833"/>
        </a:solidFill>
      </p:bgPr>
    </p:bg>
    <p:spTree>
      <p:nvGrpSpPr>
        <p:cNvPr id="208" name="Shape 208"/>
        <p:cNvGrpSpPr/>
        <p:nvPr/>
      </p:nvGrpSpPr>
      <p:grpSpPr>
        <a:xfrm>
          <a:off x="0" y="0"/>
          <a:ext cx="0" cy="0"/>
          <a:chOff x="0" y="0"/>
          <a:chExt cx="0" cy="0"/>
        </a:xfrm>
      </p:grpSpPr>
      <p:sp>
        <p:nvSpPr>
          <p:cNvPr id="209" name="Google Shape;209;p18"/>
          <p:cNvSpPr txBox="1"/>
          <p:nvPr/>
        </p:nvSpPr>
        <p:spPr>
          <a:xfrm>
            <a:off x="666750" y="476250"/>
            <a:ext cx="10858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2600">
                <a:solidFill>
                  <a:srgbClr val="F39C12"/>
                </a:solidFill>
                <a:latin typeface="Montserrat"/>
                <a:ea typeface="Montserrat"/>
                <a:cs typeface="Montserrat"/>
                <a:sym typeface="Montserrat"/>
              </a:rPr>
              <a:t>Structural Scale: Timing and Pre-Release Demand</a:t>
            </a:r>
            <a:endParaRPr b="1" i="0" sz="2600">
              <a:solidFill>
                <a:srgbClr val="F39C12"/>
              </a:solidFill>
              <a:latin typeface="Montserrat"/>
              <a:ea typeface="Montserrat"/>
              <a:cs typeface="Montserrat"/>
              <a:sym typeface="Montserrat"/>
            </a:endParaRPr>
          </a:p>
        </p:txBody>
      </p:sp>
      <p:grpSp>
        <p:nvGrpSpPr>
          <p:cNvPr id="210" name="Google Shape;210;p18"/>
          <p:cNvGrpSpPr/>
          <p:nvPr/>
        </p:nvGrpSpPr>
        <p:grpSpPr>
          <a:xfrm>
            <a:off x="666750" y="1333500"/>
            <a:ext cx="3302298" cy="1381200"/>
            <a:chOff x="0" y="0"/>
            <a:chExt cx="6286500" cy="1381200"/>
          </a:xfrm>
        </p:grpSpPr>
        <p:sp>
          <p:nvSpPr>
            <p:cNvPr id="211" name="Google Shape;211;p18"/>
            <p:cNvSpPr/>
            <p:nvPr/>
          </p:nvSpPr>
          <p:spPr>
            <a:xfrm>
              <a:off x="0" y="0"/>
              <a:ext cx="6286500" cy="1381200"/>
            </a:xfrm>
            <a:prstGeom prst="roundRect">
              <a:avLst>
                <a:gd fmla="val 827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8"/>
            <p:cNvSpPr/>
            <p:nvPr/>
          </p:nvSpPr>
          <p:spPr>
            <a:xfrm>
              <a:off x="0" y="0"/>
              <a:ext cx="57300" cy="1381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3" name="Google Shape;213;p18"/>
            <p:cNvGrpSpPr/>
            <p:nvPr/>
          </p:nvGrpSpPr>
          <p:grpSpPr>
            <a:xfrm>
              <a:off x="285750" y="171450"/>
              <a:ext cx="5715000" cy="1047900"/>
              <a:chOff x="0" y="0"/>
              <a:chExt cx="5715000" cy="1047900"/>
            </a:xfrm>
          </p:grpSpPr>
          <p:sp>
            <p:nvSpPr>
              <p:cNvPr id="214" name="Google Shape;214;p18"/>
              <p:cNvSpPr/>
              <p:nvPr/>
            </p:nvSpPr>
            <p:spPr>
              <a:xfrm>
                <a:off x="0" y="0"/>
                <a:ext cx="57150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18"/>
              <p:cNvSpPr txBox="1"/>
              <p:nvPr/>
            </p:nvSpPr>
            <p:spPr>
              <a:xfrm>
                <a:off x="0" y="0"/>
                <a:ext cx="5715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1000">
                    <a:solidFill>
                      <a:srgbClr val="3B82F6"/>
                    </a:solidFill>
                    <a:latin typeface="Montserrat"/>
                    <a:ea typeface="Montserrat"/>
                    <a:cs typeface="Montserrat"/>
                    <a:sym typeface="Montserrat"/>
                  </a:rPr>
                  <a:t>STRATEGIC WINDOWS </a:t>
                </a:r>
                <a:endParaRPr b="1" i="0" sz="1000">
                  <a:solidFill>
                    <a:srgbClr val="3B82F6"/>
                  </a:solidFill>
                  <a:latin typeface="Montserrat"/>
                  <a:ea typeface="Montserrat"/>
                  <a:cs typeface="Montserrat"/>
                  <a:sym typeface="Montserrat"/>
                </a:endParaRPr>
              </a:p>
              <a:p>
                <a:pPr indent="0" lvl="0" marL="0" rtl="0" algn="l">
                  <a:spcBef>
                    <a:spcPts val="450"/>
                  </a:spcBef>
                  <a:spcAft>
                    <a:spcPts val="0"/>
                  </a:spcAft>
                  <a:buNone/>
                </a:pPr>
                <a:r>
                  <a:rPr b="1" i="0" lang="en-US" sz="1200">
                    <a:solidFill>
                      <a:srgbClr val="FDFEFE"/>
                    </a:solidFill>
                    <a:latin typeface="Montserrat"/>
                    <a:ea typeface="Montserrat"/>
                    <a:cs typeface="Montserrat"/>
                    <a:sym typeface="Montserrat"/>
                  </a:rPr>
                  <a:t>• Peak Consumer Spending</a:t>
                </a:r>
                <a:endParaRPr b="1" i="0" sz="1000">
                  <a:solidFill>
                    <a:srgbClr val="3B82F6"/>
                  </a:solidFill>
                  <a:latin typeface="Montserrat"/>
                  <a:ea typeface="Montserrat"/>
                  <a:cs typeface="Montserrat"/>
                  <a:sym typeface="Montserrat"/>
                </a:endParaRPr>
              </a:p>
              <a:p>
                <a:pPr indent="0" lvl="0" marL="0" rtl="0" algn="l">
                  <a:spcBef>
                    <a:spcPts val="450"/>
                  </a:spcBef>
                  <a:spcAft>
                    <a:spcPts val="450"/>
                  </a:spcAft>
                  <a:buNone/>
                </a:pPr>
                <a:r>
                  <a:rPr b="0" i="0" lang="en-US" sz="1100">
                    <a:solidFill>
                      <a:srgbClr val="CBD5E1"/>
                    </a:solidFill>
                    <a:latin typeface="Open Sans"/>
                    <a:ea typeface="Open Sans"/>
                    <a:cs typeface="Open Sans"/>
                    <a:sym typeface="Open Sans"/>
                  </a:rPr>
                  <a:t>Global consumer spending peaks drastically during two distinct corridors: the Summer Blockbuster season (May–June) and the Holiday season (Nov–Dec).</a:t>
                </a:r>
                <a:endParaRPr b="1" i="0" sz="1000">
                  <a:solidFill>
                    <a:srgbClr val="3B82F6"/>
                  </a:solidFill>
                  <a:latin typeface="Montserrat"/>
                  <a:ea typeface="Montserrat"/>
                  <a:cs typeface="Montserrat"/>
                  <a:sym typeface="Montserrat"/>
                </a:endParaRPr>
              </a:p>
            </p:txBody>
          </p:sp>
        </p:grpSp>
      </p:grpSp>
      <p:grpSp>
        <p:nvGrpSpPr>
          <p:cNvPr id="216" name="Google Shape;216;p18"/>
          <p:cNvGrpSpPr/>
          <p:nvPr/>
        </p:nvGrpSpPr>
        <p:grpSpPr>
          <a:xfrm>
            <a:off x="666750" y="2859275"/>
            <a:ext cx="3308760" cy="1398475"/>
            <a:chOff x="0" y="-17275"/>
            <a:chExt cx="6298801" cy="1398475"/>
          </a:xfrm>
        </p:grpSpPr>
        <p:sp>
          <p:nvSpPr>
            <p:cNvPr id="217" name="Google Shape;217;p18"/>
            <p:cNvSpPr/>
            <p:nvPr/>
          </p:nvSpPr>
          <p:spPr>
            <a:xfrm>
              <a:off x="57301" y="0"/>
              <a:ext cx="6241500" cy="1381200"/>
            </a:xfrm>
            <a:prstGeom prst="roundRect">
              <a:avLst>
                <a:gd fmla="val 8275" name="adj"/>
              </a:avLst>
            </a:prstGeom>
            <a:solidFill>
              <a:srgbClr val="1E293B"/>
            </a:solidFill>
            <a:ln cap="flat" cmpd="sng" w="1905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8"/>
            <p:cNvSpPr/>
            <p:nvPr/>
          </p:nvSpPr>
          <p:spPr>
            <a:xfrm>
              <a:off x="0" y="-17275"/>
              <a:ext cx="57300" cy="13812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9" name="Google Shape;219;p18"/>
            <p:cNvGrpSpPr/>
            <p:nvPr/>
          </p:nvGrpSpPr>
          <p:grpSpPr>
            <a:xfrm>
              <a:off x="285750" y="171450"/>
              <a:ext cx="5715000" cy="1047900"/>
              <a:chOff x="0" y="0"/>
              <a:chExt cx="5715000" cy="1047900"/>
            </a:xfrm>
          </p:grpSpPr>
          <p:sp>
            <p:nvSpPr>
              <p:cNvPr id="220" name="Google Shape;220;p18"/>
              <p:cNvSpPr/>
              <p:nvPr/>
            </p:nvSpPr>
            <p:spPr>
              <a:xfrm>
                <a:off x="0" y="0"/>
                <a:ext cx="57150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8"/>
              <p:cNvSpPr txBox="1"/>
              <p:nvPr/>
            </p:nvSpPr>
            <p:spPr>
              <a:xfrm>
                <a:off x="0" y="0"/>
                <a:ext cx="5715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1000">
                    <a:solidFill>
                      <a:srgbClr val="F39C12"/>
                    </a:solidFill>
                    <a:latin typeface="Montserrat"/>
                    <a:ea typeface="Montserrat"/>
                    <a:cs typeface="Montserrat"/>
                    <a:sym typeface="Montserrat"/>
                  </a:rPr>
                  <a:t>FORMAT PARAMETERS </a:t>
                </a:r>
                <a:endParaRPr b="1" i="0" sz="1000">
                  <a:solidFill>
                    <a:srgbClr val="F39C12"/>
                  </a:solidFill>
                  <a:latin typeface="Montserrat"/>
                  <a:ea typeface="Montserrat"/>
                  <a:cs typeface="Montserrat"/>
                  <a:sym typeface="Montserrat"/>
                </a:endParaRPr>
              </a:p>
              <a:p>
                <a:pPr indent="0" lvl="0" marL="0" rtl="0" algn="l">
                  <a:spcBef>
                    <a:spcPts val="450"/>
                  </a:spcBef>
                  <a:spcAft>
                    <a:spcPts val="0"/>
                  </a:spcAft>
                  <a:buNone/>
                </a:pPr>
                <a:r>
                  <a:rPr b="1" i="0" lang="en-US" sz="1200">
                    <a:solidFill>
                      <a:srgbClr val="FFFFFF"/>
                    </a:solidFill>
                    <a:latin typeface="Montserrat"/>
                    <a:ea typeface="Montserrat"/>
                    <a:cs typeface="Montserrat"/>
                    <a:sym typeface="Montserrat"/>
                  </a:rPr>
                  <a:t>★ Revenue Expansion</a:t>
                </a:r>
                <a:endParaRPr b="1" i="0" sz="1000">
                  <a:solidFill>
                    <a:srgbClr val="F39C12"/>
                  </a:solidFill>
                  <a:latin typeface="Montserrat"/>
                  <a:ea typeface="Montserrat"/>
                  <a:cs typeface="Montserrat"/>
                  <a:sym typeface="Montserrat"/>
                </a:endParaRPr>
              </a:p>
              <a:p>
                <a:pPr indent="0" lvl="0" marL="0" rtl="0" algn="l">
                  <a:spcBef>
                    <a:spcPts val="450"/>
                  </a:spcBef>
                  <a:spcAft>
                    <a:spcPts val="450"/>
                  </a:spcAft>
                  <a:buNone/>
                </a:pPr>
                <a:r>
                  <a:rPr b="0" i="0" lang="en-US" sz="1100">
                    <a:solidFill>
                      <a:srgbClr val="FDFEFE"/>
                    </a:solidFill>
                    <a:latin typeface="Open Sans"/>
                    <a:ea typeface="Open Sans"/>
                    <a:cs typeface="Open Sans"/>
                    <a:sym typeface="Open Sans"/>
                  </a:rPr>
                  <a:t>Runtimes between 120-150 minutes significantly expand global reach and revenue caps.</a:t>
                </a:r>
                <a:endParaRPr b="1" i="0" sz="1000">
                  <a:solidFill>
                    <a:srgbClr val="F39C12"/>
                  </a:solidFill>
                  <a:latin typeface="Montserrat"/>
                  <a:ea typeface="Montserrat"/>
                  <a:cs typeface="Montserrat"/>
                  <a:sym typeface="Montserrat"/>
                </a:endParaRPr>
              </a:p>
            </p:txBody>
          </p:sp>
        </p:grpSp>
      </p:grpSp>
      <p:grpSp>
        <p:nvGrpSpPr>
          <p:cNvPr id="222" name="Google Shape;222;p18"/>
          <p:cNvGrpSpPr/>
          <p:nvPr/>
        </p:nvGrpSpPr>
        <p:grpSpPr>
          <a:xfrm>
            <a:off x="666750" y="4419600"/>
            <a:ext cx="3302298" cy="1524000"/>
            <a:chOff x="0" y="0"/>
            <a:chExt cx="6286500" cy="1524000"/>
          </a:xfrm>
        </p:grpSpPr>
        <p:sp>
          <p:nvSpPr>
            <p:cNvPr id="223" name="Google Shape;223;p18"/>
            <p:cNvSpPr/>
            <p:nvPr/>
          </p:nvSpPr>
          <p:spPr>
            <a:xfrm>
              <a:off x="0" y="0"/>
              <a:ext cx="6286500" cy="1524000"/>
            </a:xfrm>
            <a:prstGeom prst="roundRect">
              <a:avLst>
                <a:gd fmla="val 75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8"/>
            <p:cNvSpPr/>
            <p:nvPr/>
          </p:nvSpPr>
          <p:spPr>
            <a:xfrm>
              <a:off x="0" y="0"/>
              <a:ext cx="57300" cy="1524000"/>
            </a:xfrm>
            <a:prstGeom prst="roundRect">
              <a:avLst>
                <a:gd fmla="val 50000" name="adj"/>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5" name="Google Shape;225;p18"/>
            <p:cNvGrpSpPr/>
            <p:nvPr/>
          </p:nvGrpSpPr>
          <p:grpSpPr>
            <a:xfrm>
              <a:off x="285750" y="171450"/>
              <a:ext cx="5715000" cy="1181100"/>
              <a:chOff x="0" y="0"/>
              <a:chExt cx="5715000" cy="1181100"/>
            </a:xfrm>
          </p:grpSpPr>
          <p:sp>
            <p:nvSpPr>
              <p:cNvPr id="226" name="Google Shape;226;p18"/>
              <p:cNvSpPr/>
              <p:nvPr/>
            </p:nvSpPr>
            <p:spPr>
              <a:xfrm>
                <a:off x="0" y="0"/>
                <a:ext cx="5715000" cy="1181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8"/>
              <p:cNvSpPr txBox="1"/>
              <p:nvPr/>
            </p:nvSpPr>
            <p:spPr>
              <a:xfrm>
                <a:off x="0" y="0"/>
                <a:ext cx="5715000" cy="118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1000">
                    <a:solidFill>
                      <a:srgbClr val="22C55E"/>
                    </a:solidFill>
                    <a:latin typeface="Montserrat"/>
                    <a:ea typeface="Montserrat"/>
                    <a:cs typeface="Montserrat"/>
                    <a:sym typeface="Montserrat"/>
                  </a:rPr>
                  <a:t>HYPE DICTATES SCALE </a:t>
                </a:r>
                <a:endParaRPr b="1" i="0" sz="1000">
                  <a:solidFill>
                    <a:srgbClr val="22C55E"/>
                  </a:solidFill>
                  <a:latin typeface="Montserrat"/>
                  <a:ea typeface="Montserrat"/>
                  <a:cs typeface="Montserrat"/>
                  <a:sym typeface="Montserrat"/>
                </a:endParaRPr>
              </a:p>
              <a:p>
                <a:pPr indent="0" lvl="0" marL="0" rtl="0" algn="l">
                  <a:spcBef>
                    <a:spcPts val="450"/>
                  </a:spcBef>
                  <a:spcAft>
                    <a:spcPts val="0"/>
                  </a:spcAft>
                  <a:buNone/>
                </a:pPr>
                <a:r>
                  <a:rPr b="1" i="0" lang="en-US" sz="1200">
                    <a:solidFill>
                      <a:srgbClr val="FDFEFE"/>
                    </a:solidFill>
                    <a:latin typeface="Montserrat"/>
                    <a:ea typeface="Montserrat"/>
                    <a:cs typeface="Montserrat"/>
                    <a:sym typeface="Montserrat"/>
                  </a:rPr>
                  <a:t>• Pre-Release Demand</a:t>
                </a:r>
                <a:endParaRPr b="1" i="0" sz="1000">
                  <a:solidFill>
                    <a:srgbClr val="22C55E"/>
                  </a:solidFill>
                  <a:latin typeface="Montserrat"/>
                  <a:ea typeface="Montserrat"/>
                  <a:cs typeface="Montserrat"/>
                  <a:sym typeface="Montserrat"/>
                </a:endParaRPr>
              </a:p>
              <a:p>
                <a:pPr indent="0" lvl="0" marL="0" rtl="0" algn="l">
                  <a:spcBef>
                    <a:spcPts val="450"/>
                  </a:spcBef>
                  <a:spcAft>
                    <a:spcPts val="450"/>
                  </a:spcAft>
                  <a:buNone/>
                </a:pPr>
                <a:r>
                  <a:rPr b="0" i="0" lang="en-US" sz="1100">
                    <a:solidFill>
                      <a:srgbClr val="CBD5E1"/>
                    </a:solidFill>
                    <a:latin typeface="Open Sans"/>
                    <a:ea typeface="Open Sans"/>
                    <a:cs typeface="Open Sans"/>
                    <a:sym typeface="Open Sans"/>
                  </a:rPr>
                  <a:t>Pre-release popularity metrics account for the vast majority of our revenue predictability, emphasizing the need for front-loaded marketing campaigns.</a:t>
                </a:r>
                <a:endParaRPr b="1" i="0" sz="1000">
                  <a:solidFill>
                    <a:srgbClr val="22C55E"/>
                  </a:solidFill>
                  <a:latin typeface="Montserrat"/>
                  <a:ea typeface="Montserrat"/>
                  <a:cs typeface="Montserrat"/>
                  <a:sym typeface="Montserrat"/>
                </a:endParaRPr>
              </a:p>
            </p:txBody>
          </p:sp>
        </p:grpSp>
      </p:grpSp>
      <p:grpSp>
        <p:nvGrpSpPr>
          <p:cNvPr id="228" name="Google Shape;228;p18"/>
          <p:cNvGrpSpPr/>
          <p:nvPr/>
        </p:nvGrpSpPr>
        <p:grpSpPr>
          <a:xfrm>
            <a:off x="4048125" y="1333500"/>
            <a:ext cx="8073434" cy="5059585"/>
            <a:chOff x="0" y="0"/>
            <a:chExt cx="4286400" cy="4610100"/>
          </a:xfrm>
        </p:grpSpPr>
        <p:sp>
          <p:nvSpPr>
            <p:cNvPr id="229" name="Google Shape;229;p18"/>
            <p:cNvSpPr/>
            <p:nvPr/>
          </p:nvSpPr>
          <p:spPr>
            <a:xfrm>
              <a:off x="0" y="0"/>
              <a:ext cx="4286400" cy="4610100"/>
            </a:xfrm>
            <a:prstGeom prst="roundRect">
              <a:avLst>
                <a:gd fmla="val 3555" name="adj"/>
              </a:avLst>
            </a:prstGeom>
            <a:solidFill>
              <a:srgbClr val="1E293B"/>
            </a:solidFill>
            <a:ln cap="flat" cmpd="sng" w="1545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8"/>
            <p:cNvSpPr/>
            <p:nvPr/>
          </p:nvSpPr>
          <p:spPr>
            <a:xfrm>
              <a:off x="0" y="0"/>
              <a:ext cx="4286400" cy="381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1" name="Google Shape;231;p18"/>
            <p:cNvGrpSpPr/>
            <p:nvPr/>
          </p:nvGrpSpPr>
          <p:grpSpPr>
            <a:xfrm>
              <a:off x="238125" y="190500"/>
              <a:ext cx="3810000" cy="285900"/>
              <a:chOff x="0" y="0"/>
              <a:chExt cx="3810000" cy="285900"/>
            </a:xfrm>
          </p:grpSpPr>
          <p:sp>
            <p:nvSpPr>
              <p:cNvPr id="232" name="Google Shape;232;p18"/>
              <p:cNvSpPr/>
              <p:nvPr/>
            </p:nvSpPr>
            <p:spPr>
              <a:xfrm>
                <a:off x="0" y="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8"/>
              <p:cNvSpPr txBox="1"/>
              <p:nvPr/>
            </p:nvSpPr>
            <p:spPr>
              <a:xfrm>
                <a:off x="0" y="0"/>
                <a:ext cx="381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188">
                    <a:solidFill>
                      <a:srgbClr val="FDFEFE"/>
                    </a:solidFill>
                    <a:latin typeface="Montserrat"/>
                    <a:ea typeface="Montserrat"/>
                    <a:cs typeface="Montserrat"/>
                    <a:sym typeface="Montserrat"/>
                  </a:rPr>
                  <a:t>MEAN REVENUE BY RELEASE MONTH</a:t>
                </a:r>
                <a:endParaRPr b="1" i="0" sz="1188">
                  <a:solidFill>
                    <a:srgbClr val="FDFEFE"/>
                  </a:solidFill>
                  <a:latin typeface="Montserrat"/>
                  <a:ea typeface="Montserrat"/>
                  <a:cs typeface="Montserrat"/>
                  <a:sym typeface="Montserrat"/>
                </a:endParaRPr>
              </a:p>
            </p:txBody>
          </p:sp>
        </p:grpSp>
        <p:cxnSp>
          <p:nvCxnSpPr>
            <p:cNvPr id="234" name="Google Shape;234;p18"/>
            <p:cNvCxnSpPr/>
            <p:nvPr/>
          </p:nvCxnSpPr>
          <p:spPr>
            <a:xfrm>
              <a:off x="238125" y="552450"/>
              <a:ext cx="3810000" cy="0"/>
            </a:xfrm>
            <a:prstGeom prst="straightConnector1">
              <a:avLst/>
            </a:prstGeom>
            <a:solidFill>
              <a:srgbClr val="FFFFFF"/>
            </a:solidFill>
            <a:ln cap="flat" cmpd="sng" w="10275">
              <a:solidFill>
                <a:srgbClr val="334155"/>
              </a:solidFill>
              <a:prstDash val="solid"/>
              <a:round/>
              <a:headEnd len="sm" w="sm" type="none"/>
              <a:tailEnd len="sm" w="sm" type="none"/>
            </a:ln>
          </p:spPr>
        </p:cxnSp>
      </p:grpSp>
      <p:pic>
        <p:nvPicPr>
          <p:cNvPr id="235" name="Google Shape;235;p18"/>
          <p:cNvPicPr preferRelativeResize="0"/>
          <p:nvPr/>
        </p:nvPicPr>
        <p:blipFill>
          <a:blip r:embed="rId3">
            <a:alphaModFix/>
          </a:blip>
          <a:stretch>
            <a:fillRect/>
          </a:stretch>
        </p:blipFill>
        <p:spPr>
          <a:xfrm>
            <a:off x="4133100" y="2399037"/>
            <a:ext cx="7903475" cy="3293625"/>
          </a:xfrm>
          <a:prstGeom prst="rect">
            <a:avLst/>
          </a:prstGeom>
          <a:noFill/>
          <a:ln>
            <a:noFill/>
          </a:ln>
        </p:spPr>
      </p:pic>
      <p:sp>
        <p:nvSpPr>
          <p:cNvPr id="236" name="Google Shape;236;p18"/>
          <p:cNvSpPr txBox="1"/>
          <p:nvPr>
            <p:ph idx="12" type="sldNum"/>
          </p:nvPr>
        </p:nvSpPr>
        <p:spPr>
          <a:xfrm>
            <a:off x="9987950" y="63931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833"/>
        </a:solidFill>
      </p:bgPr>
    </p:bg>
    <p:spTree>
      <p:nvGrpSpPr>
        <p:cNvPr id="240" name="Shape 240"/>
        <p:cNvGrpSpPr/>
        <p:nvPr/>
      </p:nvGrpSpPr>
      <p:grpSpPr>
        <a:xfrm>
          <a:off x="0" y="0"/>
          <a:ext cx="0" cy="0"/>
          <a:chOff x="0" y="0"/>
          <a:chExt cx="0" cy="0"/>
        </a:xfrm>
      </p:grpSpPr>
      <p:sp>
        <p:nvSpPr>
          <p:cNvPr id="241" name="Google Shape;241;p19"/>
          <p:cNvSpPr txBox="1"/>
          <p:nvPr/>
        </p:nvSpPr>
        <p:spPr>
          <a:xfrm>
            <a:off x="666750" y="476250"/>
            <a:ext cx="10858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F39C12"/>
                </a:solidFill>
                <a:latin typeface="Montserrat"/>
                <a:ea typeface="Montserrat"/>
                <a:cs typeface="Montserrat"/>
                <a:sym typeface="Montserrat"/>
              </a:rPr>
              <a:t>Algorithmic Validation: Our XGBoost Predictive Engine</a:t>
            </a:r>
            <a:endParaRPr b="1" sz="2600">
              <a:solidFill>
                <a:srgbClr val="F39C12"/>
              </a:solidFill>
              <a:latin typeface="Montserrat"/>
              <a:ea typeface="Montserrat"/>
              <a:cs typeface="Montserrat"/>
              <a:sym typeface="Montserrat"/>
            </a:endParaRPr>
          </a:p>
        </p:txBody>
      </p:sp>
      <p:grpSp>
        <p:nvGrpSpPr>
          <p:cNvPr id="242" name="Google Shape;242;p19"/>
          <p:cNvGrpSpPr/>
          <p:nvPr/>
        </p:nvGrpSpPr>
        <p:grpSpPr>
          <a:xfrm>
            <a:off x="666750" y="1333500"/>
            <a:ext cx="4528795" cy="1381200"/>
            <a:chOff x="0" y="0"/>
            <a:chExt cx="6286500" cy="1381200"/>
          </a:xfrm>
        </p:grpSpPr>
        <p:sp>
          <p:nvSpPr>
            <p:cNvPr id="243" name="Google Shape;243;p19"/>
            <p:cNvSpPr/>
            <p:nvPr/>
          </p:nvSpPr>
          <p:spPr>
            <a:xfrm>
              <a:off x="0" y="0"/>
              <a:ext cx="6286500" cy="1381200"/>
            </a:xfrm>
            <a:prstGeom prst="roundRect">
              <a:avLst>
                <a:gd fmla="val 827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9"/>
            <p:cNvSpPr/>
            <p:nvPr/>
          </p:nvSpPr>
          <p:spPr>
            <a:xfrm>
              <a:off x="0" y="0"/>
              <a:ext cx="57300" cy="13812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9"/>
            <p:cNvSpPr txBox="1"/>
            <p:nvPr/>
          </p:nvSpPr>
          <p:spPr>
            <a:xfrm>
              <a:off x="285750" y="171450"/>
              <a:ext cx="5715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3B82F6"/>
                  </a:solidFill>
                  <a:latin typeface="Montserrat"/>
                  <a:ea typeface="Montserrat"/>
                  <a:cs typeface="Montserrat"/>
                  <a:sym typeface="Montserrat"/>
                </a:rPr>
                <a:t>ML ENGINE ARCHITECTURE </a:t>
              </a:r>
              <a:endParaRPr b="1" sz="1000">
                <a:solidFill>
                  <a:srgbClr val="3B82F6"/>
                </a:solidFill>
                <a:latin typeface="Montserrat"/>
                <a:ea typeface="Montserrat"/>
                <a:cs typeface="Montserrat"/>
                <a:sym typeface="Montserrat"/>
              </a:endParaRPr>
            </a:p>
            <a:p>
              <a:pPr indent="0" lvl="0" marL="0" rtl="0" algn="l">
                <a:spcBef>
                  <a:spcPts val="450"/>
                </a:spcBef>
                <a:spcAft>
                  <a:spcPts val="0"/>
                </a:spcAft>
                <a:buNone/>
              </a:pPr>
              <a:r>
                <a:rPr b="1" lang="en-US" sz="1200">
                  <a:solidFill>
                    <a:srgbClr val="FDFEFE"/>
                  </a:solidFill>
                  <a:latin typeface="Montserrat"/>
                  <a:ea typeface="Montserrat"/>
                  <a:cs typeface="Montserrat"/>
                  <a:sym typeface="Montserrat"/>
                </a:rPr>
                <a:t>• Non-Linear Pattern Recognition</a:t>
              </a:r>
              <a:endParaRPr b="1" sz="1000">
                <a:solidFill>
                  <a:srgbClr val="3B82F6"/>
                </a:solidFill>
                <a:latin typeface="Montserrat"/>
                <a:ea typeface="Montserrat"/>
                <a:cs typeface="Montserrat"/>
                <a:sym typeface="Montserrat"/>
              </a:endParaRPr>
            </a:p>
            <a:p>
              <a:pPr indent="0" lvl="0" marL="0" rtl="0" algn="l">
                <a:spcBef>
                  <a:spcPts val="450"/>
                </a:spcBef>
                <a:spcAft>
                  <a:spcPts val="450"/>
                </a:spcAft>
                <a:buNone/>
              </a:pPr>
              <a:r>
                <a:rPr b="0" lang="en-US" sz="1100">
                  <a:solidFill>
                    <a:srgbClr val="CBD5E1"/>
                  </a:solidFill>
                  <a:latin typeface="Open Sans"/>
                  <a:ea typeface="Open Sans"/>
                  <a:cs typeface="Open Sans"/>
                  <a:sym typeface="Open Sans"/>
                </a:rPr>
                <a:t>To ensure insights are actionable, we engineered a Machine Learning engine (XGBoost Regressor) trained to identify complex, non-linear relationships in film production data.</a:t>
              </a:r>
              <a:endParaRPr b="1" sz="1000">
                <a:solidFill>
                  <a:srgbClr val="3B82F6"/>
                </a:solidFill>
                <a:latin typeface="Montserrat"/>
                <a:ea typeface="Montserrat"/>
                <a:cs typeface="Montserrat"/>
                <a:sym typeface="Montserrat"/>
              </a:endParaRPr>
            </a:p>
          </p:txBody>
        </p:sp>
      </p:grpSp>
      <p:grpSp>
        <p:nvGrpSpPr>
          <p:cNvPr id="246" name="Google Shape;246;p19"/>
          <p:cNvGrpSpPr/>
          <p:nvPr/>
        </p:nvGrpSpPr>
        <p:grpSpPr>
          <a:xfrm>
            <a:off x="666750" y="2876550"/>
            <a:ext cx="4528795" cy="1381200"/>
            <a:chOff x="0" y="0"/>
            <a:chExt cx="6286500" cy="1381200"/>
          </a:xfrm>
        </p:grpSpPr>
        <p:sp>
          <p:nvSpPr>
            <p:cNvPr id="247" name="Google Shape;247;p19"/>
            <p:cNvSpPr/>
            <p:nvPr/>
          </p:nvSpPr>
          <p:spPr>
            <a:xfrm>
              <a:off x="0" y="0"/>
              <a:ext cx="6286500" cy="1381200"/>
            </a:xfrm>
            <a:prstGeom prst="roundRect">
              <a:avLst>
                <a:gd fmla="val 8275" name="adj"/>
              </a:avLst>
            </a:prstGeom>
            <a:solidFill>
              <a:srgbClr val="1E293B"/>
            </a:solidFill>
            <a:ln cap="flat" cmpd="sng" w="1905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9"/>
            <p:cNvSpPr/>
            <p:nvPr/>
          </p:nvSpPr>
          <p:spPr>
            <a:xfrm>
              <a:off x="0" y="0"/>
              <a:ext cx="57300" cy="13812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9"/>
            <p:cNvSpPr txBox="1"/>
            <p:nvPr/>
          </p:nvSpPr>
          <p:spPr>
            <a:xfrm>
              <a:off x="285750" y="171450"/>
              <a:ext cx="5715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39C12"/>
                  </a:solidFill>
                  <a:latin typeface="Montserrat"/>
                  <a:ea typeface="Montserrat"/>
                  <a:cs typeface="Montserrat"/>
                  <a:sym typeface="Montserrat"/>
                </a:rPr>
                <a:t>FEATURE ISOLATION </a:t>
              </a:r>
              <a:endParaRPr b="1" sz="1000">
                <a:solidFill>
                  <a:srgbClr val="F39C12"/>
                </a:solidFill>
                <a:latin typeface="Montserrat"/>
                <a:ea typeface="Montserrat"/>
                <a:cs typeface="Montserrat"/>
                <a:sym typeface="Montserrat"/>
              </a:endParaRPr>
            </a:p>
            <a:p>
              <a:pPr indent="0" lvl="0" marL="0" rtl="0" algn="l">
                <a:spcBef>
                  <a:spcPts val="450"/>
                </a:spcBef>
                <a:spcAft>
                  <a:spcPts val="0"/>
                </a:spcAft>
                <a:buNone/>
              </a:pPr>
              <a:r>
                <a:rPr b="1" lang="en-US" sz="1200">
                  <a:solidFill>
                    <a:srgbClr val="FFFFFF"/>
                  </a:solidFill>
                  <a:latin typeface="Montserrat"/>
                  <a:ea typeface="Montserrat"/>
                  <a:cs typeface="Montserrat"/>
                  <a:sym typeface="Montserrat"/>
                </a:rPr>
                <a:t>★ Core Data Drivers</a:t>
              </a:r>
              <a:endParaRPr b="1" sz="1000">
                <a:solidFill>
                  <a:srgbClr val="F39C12"/>
                </a:solidFill>
                <a:latin typeface="Montserrat"/>
                <a:ea typeface="Montserrat"/>
                <a:cs typeface="Montserrat"/>
                <a:sym typeface="Montserrat"/>
              </a:endParaRPr>
            </a:p>
            <a:p>
              <a:pPr indent="0" lvl="0" marL="0" rtl="0" algn="l">
                <a:spcBef>
                  <a:spcPts val="450"/>
                </a:spcBef>
                <a:spcAft>
                  <a:spcPts val="450"/>
                </a:spcAft>
                <a:buNone/>
              </a:pPr>
              <a:r>
                <a:rPr b="0" lang="en-US" sz="1100">
                  <a:solidFill>
                    <a:srgbClr val="FDFEFE"/>
                  </a:solidFill>
                  <a:latin typeface="Open Sans"/>
                  <a:ea typeface="Open Sans"/>
                  <a:cs typeface="Open Sans"/>
                  <a:sym typeface="Open Sans"/>
                </a:rPr>
                <a:t>By isolating pre-release popularity, structured budget scale, and historical talent performance, the system isolates high-impact success variables.</a:t>
              </a:r>
              <a:endParaRPr b="1" sz="1000">
                <a:solidFill>
                  <a:srgbClr val="F39C12"/>
                </a:solidFill>
                <a:latin typeface="Montserrat"/>
                <a:ea typeface="Montserrat"/>
                <a:cs typeface="Montserrat"/>
                <a:sym typeface="Montserrat"/>
              </a:endParaRPr>
            </a:p>
          </p:txBody>
        </p:sp>
      </p:grpSp>
      <p:grpSp>
        <p:nvGrpSpPr>
          <p:cNvPr id="250" name="Google Shape;250;p19"/>
          <p:cNvGrpSpPr/>
          <p:nvPr/>
        </p:nvGrpSpPr>
        <p:grpSpPr>
          <a:xfrm>
            <a:off x="666750" y="4419600"/>
            <a:ext cx="4528951" cy="1524000"/>
            <a:chOff x="0" y="0"/>
            <a:chExt cx="3465150" cy="1524000"/>
          </a:xfrm>
        </p:grpSpPr>
        <p:sp>
          <p:nvSpPr>
            <p:cNvPr id="251" name="Google Shape;251;p19"/>
            <p:cNvSpPr/>
            <p:nvPr/>
          </p:nvSpPr>
          <p:spPr>
            <a:xfrm>
              <a:off x="0" y="0"/>
              <a:ext cx="3465000" cy="1524000"/>
            </a:xfrm>
            <a:prstGeom prst="roundRect">
              <a:avLst>
                <a:gd fmla="val 75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19"/>
            <p:cNvSpPr/>
            <p:nvPr/>
          </p:nvSpPr>
          <p:spPr>
            <a:xfrm>
              <a:off x="0" y="0"/>
              <a:ext cx="57300" cy="1524000"/>
            </a:xfrm>
            <a:prstGeom prst="roundRect">
              <a:avLst>
                <a:gd fmla="val 50000" name="adj"/>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9"/>
            <p:cNvSpPr txBox="1"/>
            <p:nvPr/>
          </p:nvSpPr>
          <p:spPr>
            <a:xfrm>
              <a:off x="285750" y="171450"/>
              <a:ext cx="3179400" cy="118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2C55E"/>
                  </a:solidFill>
                  <a:latin typeface="Montserrat"/>
                  <a:ea typeface="Montserrat"/>
                  <a:cs typeface="Montserrat"/>
                  <a:sym typeface="Montserrat"/>
                </a:rPr>
                <a:t>PRE-PRODUCTION FORECAST </a:t>
              </a:r>
              <a:endParaRPr b="1" sz="1000">
                <a:solidFill>
                  <a:srgbClr val="22C55E"/>
                </a:solidFill>
                <a:latin typeface="Montserrat"/>
                <a:ea typeface="Montserrat"/>
                <a:cs typeface="Montserrat"/>
                <a:sym typeface="Montserrat"/>
              </a:endParaRPr>
            </a:p>
            <a:p>
              <a:pPr indent="0" lvl="0" marL="0" rtl="0" algn="l">
                <a:spcBef>
                  <a:spcPts val="450"/>
                </a:spcBef>
                <a:spcAft>
                  <a:spcPts val="0"/>
                </a:spcAft>
                <a:buNone/>
              </a:pPr>
              <a:r>
                <a:rPr b="1" lang="en-US" sz="1200">
                  <a:solidFill>
                    <a:srgbClr val="FDFEFE"/>
                  </a:solidFill>
                  <a:latin typeface="Montserrat"/>
                  <a:ea typeface="Montserrat"/>
                  <a:cs typeface="Montserrat"/>
                  <a:sym typeface="Montserrat"/>
                </a:rPr>
                <a:t>• Revenue Simulation</a:t>
              </a:r>
              <a:endParaRPr b="1" sz="1000">
                <a:solidFill>
                  <a:srgbClr val="22C55E"/>
                </a:solidFill>
                <a:latin typeface="Montserrat"/>
                <a:ea typeface="Montserrat"/>
                <a:cs typeface="Montserrat"/>
                <a:sym typeface="Montserrat"/>
              </a:endParaRPr>
            </a:p>
            <a:p>
              <a:pPr indent="0" lvl="0" marL="0" rtl="0" algn="l">
                <a:spcBef>
                  <a:spcPts val="450"/>
                </a:spcBef>
                <a:spcAft>
                  <a:spcPts val="450"/>
                </a:spcAft>
                <a:buNone/>
              </a:pPr>
              <a:r>
                <a:rPr b="0" lang="en-US" sz="1100">
                  <a:solidFill>
                    <a:srgbClr val="CBD5E1"/>
                  </a:solidFill>
                  <a:latin typeface="Open Sans"/>
                  <a:ea typeface="Open Sans"/>
                  <a:cs typeface="Open Sans"/>
                  <a:sym typeface="Open Sans"/>
                </a:rPr>
                <a:t>Allows us to input a hypothetical movie's parameters and output a highly accurate revenue forecast before production begins.</a:t>
              </a:r>
              <a:endParaRPr b="1" sz="1000">
                <a:solidFill>
                  <a:srgbClr val="22C55E"/>
                </a:solidFill>
                <a:latin typeface="Montserrat"/>
                <a:ea typeface="Montserrat"/>
                <a:cs typeface="Montserrat"/>
                <a:sym typeface="Montserrat"/>
              </a:endParaRPr>
            </a:p>
          </p:txBody>
        </p:sp>
      </p:grpSp>
      <p:grpSp>
        <p:nvGrpSpPr>
          <p:cNvPr id="254" name="Google Shape;254;p19"/>
          <p:cNvGrpSpPr/>
          <p:nvPr/>
        </p:nvGrpSpPr>
        <p:grpSpPr>
          <a:xfrm>
            <a:off x="5273450" y="1333500"/>
            <a:ext cx="6762653" cy="5185440"/>
            <a:chOff x="0" y="0"/>
            <a:chExt cx="4286400" cy="4610100"/>
          </a:xfrm>
        </p:grpSpPr>
        <p:sp>
          <p:nvSpPr>
            <p:cNvPr id="255" name="Google Shape;255;p19"/>
            <p:cNvSpPr/>
            <p:nvPr/>
          </p:nvSpPr>
          <p:spPr>
            <a:xfrm>
              <a:off x="0" y="0"/>
              <a:ext cx="4286400" cy="4610100"/>
            </a:xfrm>
            <a:prstGeom prst="roundRect">
              <a:avLst>
                <a:gd fmla="val 3555" name="adj"/>
              </a:avLst>
            </a:prstGeom>
            <a:solidFill>
              <a:srgbClr val="1E293B"/>
            </a:solidFill>
            <a:ln cap="flat" cmpd="sng" w="1607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19"/>
            <p:cNvSpPr/>
            <p:nvPr/>
          </p:nvSpPr>
          <p:spPr>
            <a:xfrm>
              <a:off x="0" y="0"/>
              <a:ext cx="4286400" cy="381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19"/>
            <p:cNvSpPr txBox="1"/>
            <p:nvPr/>
          </p:nvSpPr>
          <p:spPr>
            <a:xfrm>
              <a:off x="238125" y="190500"/>
              <a:ext cx="381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37">
                  <a:solidFill>
                    <a:srgbClr val="FDFEFE"/>
                  </a:solidFill>
                  <a:latin typeface="Montserrat"/>
                  <a:ea typeface="Montserrat"/>
                  <a:cs typeface="Montserrat"/>
                  <a:sym typeface="Montserrat"/>
                </a:rPr>
                <a:t>FEATURE IMPORTANCE CHART</a:t>
              </a:r>
              <a:endParaRPr b="1" sz="1237">
                <a:solidFill>
                  <a:srgbClr val="FDFEFE"/>
                </a:solidFill>
                <a:latin typeface="Montserrat"/>
                <a:ea typeface="Montserrat"/>
                <a:cs typeface="Montserrat"/>
                <a:sym typeface="Montserrat"/>
              </a:endParaRPr>
            </a:p>
          </p:txBody>
        </p:sp>
        <p:cxnSp>
          <p:nvCxnSpPr>
            <p:cNvPr id="258" name="Google Shape;258;p19"/>
            <p:cNvCxnSpPr/>
            <p:nvPr/>
          </p:nvCxnSpPr>
          <p:spPr>
            <a:xfrm>
              <a:off x="238125" y="552450"/>
              <a:ext cx="3810000" cy="0"/>
            </a:xfrm>
            <a:prstGeom prst="straightConnector1">
              <a:avLst/>
            </a:prstGeom>
            <a:solidFill>
              <a:srgbClr val="FFFFFF"/>
            </a:solidFill>
            <a:ln cap="flat" cmpd="sng" w="10725">
              <a:solidFill>
                <a:srgbClr val="334155"/>
              </a:solidFill>
              <a:prstDash val="solid"/>
              <a:round/>
              <a:headEnd len="sm" w="sm" type="none"/>
              <a:tailEnd len="sm" w="sm" type="none"/>
            </a:ln>
          </p:spPr>
        </p:cxnSp>
      </p:grpSp>
      <p:pic>
        <p:nvPicPr>
          <p:cNvPr id="259" name="Google Shape;259;p19"/>
          <p:cNvPicPr preferRelativeResize="0"/>
          <p:nvPr/>
        </p:nvPicPr>
        <p:blipFill>
          <a:blip r:embed="rId3">
            <a:alphaModFix/>
          </a:blip>
          <a:stretch>
            <a:fillRect/>
          </a:stretch>
        </p:blipFill>
        <p:spPr>
          <a:xfrm>
            <a:off x="5776850" y="1961150"/>
            <a:ext cx="5637326" cy="4491524"/>
          </a:xfrm>
          <a:prstGeom prst="rect">
            <a:avLst/>
          </a:prstGeom>
          <a:noFill/>
          <a:ln>
            <a:noFill/>
          </a:ln>
        </p:spPr>
      </p:pic>
      <p:sp>
        <p:nvSpPr>
          <p:cNvPr id="260" name="Google Shape;260;p19"/>
          <p:cNvSpPr txBox="1"/>
          <p:nvPr>
            <p:ph idx="12" type="sldNum"/>
          </p:nvPr>
        </p:nvSpPr>
        <p:spPr>
          <a:xfrm>
            <a:off x="9902500" y="64526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833"/>
        </a:solidFill>
      </p:bgPr>
    </p:bg>
    <p:spTree>
      <p:nvGrpSpPr>
        <p:cNvPr id="264" name="Shape 264"/>
        <p:cNvGrpSpPr/>
        <p:nvPr/>
      </p:nvGrpSpPr>
      <p:grpSpPr>
        <a:xfrm>
          <a:off x="0" y="0"/>
          <a:ext cx="0" cy="0"/>
          <a:chOff x="0" y="0"/>
          <a:chExt cx="0" cy="0"/>
        </a:xfrm>
      </p:grpSpPr>
      <p:sp>
        <p:nvSpPr>
          <p:cNvPr id="265" name="Google Shape;265;p20"/>
          <p:cNvSpPr txBox="1"/>
          <p:nvPr/>
        </p:nvSpPr>
        <p:spPr>
          <a:xfrm>
            <a:off x="666750" y="428625"/>
            <a:ext cx="108585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F39C12"/>
                </a:solidFill>
                <a:latin typeface="Montserrat"/>
                <a:ea typeface="Montserrat"/>
                <a:cs typeface="Montserrat"/>
                <a:sym typeface="Montserrat"/>
              </a:rPr>
              <a:t>Applied Strategy: Hypothetical Project 'Avery NEXUS'</a:t>
            </a:r>
            <a:endParaRPr b="1" sz="2600">
              <a:solidFill>
                <a:srgbClr val="F39C12"/>
              </a:solidFill>
              <a:latin typeface="Montserrat"/>
              <a:ea typeface="Montserrat"/>
              <a:cs typeface="Montserrat"/>
              <a:sym typeface="Montserrat"/>
            </a:endParaRPr>
          </a:p>
        </p:txBody>
      </p:sp>
      <p:grpSp>
        <p:nvGrpSpPr>
          <p:cNvPr id="266" name="Google Shape;266;p20"/>
          <p:cNvGrpSpPr/>
          <p:nvPr/>
        </p:nvGrpSpPr>
        <p:grpSpPr>
          <a:xfrm>
            <a:off x="666750" y="1047750"/>
            <a:ext cx="5530863" cy="400200"/>
            <a:chOff x="0" y="0"/>
            <a:chExt cx="6286500" cy="400200"/>
          </a:xfrm>
        </p:grpSpPr>
        <p:sp>
          <p:nvSpPr>
            <p:cNvPr id="267" name="Google Shape;267;p20"/>
            <p:cNvSpPr/>
            <p:nvPr/>
          </p:nvSpPr>
          <p:spPr>
            <a:xfrm>
              <a:off x="0" y="0"/>
              <a:ext cx="6286500" cy="400200"/>
            </a:xfrm>
            <a:prstGeom prst="roundRect">
              <a:avLst>
                <a:gd fmla="val 19047"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0"/>
            <p:cNvSpPr txBox="1"/>
            <p:nvPr/>
          </p:nvSpPr>
          <p:spPr>
            <a:xfrm>
              <a:off x="152400" y="0"/>
              <a:ext cx="5981700" cy="4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350">
                  <a:solidFill>
                    <a:srgbClr val="CBD5E1"/>
                  </a:solidFill>
                  <a:latin typeface="Open Sans"/>
                  <a:ea typeface="Open Sans"/>
                  <a:cs typeface="Open Sans"/>
                  <a:sym typeface="Open Sans"/>
                </a:rPr>
                <a:t>We designed a theoretical film project calibrated to trigger our algorithm's highest success indicators:</a:t>
              </a:r>
              <a:endParaRPr b="0" sz="1350">
                <a:solidFill>
                  <a:srgbClr val="CBD5E1"/>
                </a:solidFill>
                <a:latin typeface="Open Sans"/>
                <a:ea typeface="Open Sans"/>
                <a:cs typeface="Open Sans"/>
                <a:sym typeface="Open Sans"/>
              </a:endParaRPr>
            </a:p>
          </p:txBody>
        </p:sp>
      </p:grpSp>
      <p:grpSp>
        <p:nvGrpSpPr>
          <p:cNvPr id="269" name="Google Shape;269;p20"/>
          <p:cNvGrpSpPr/>
          <p:nvPr/>
        </p:nvGrpSpPr>
        <p:grpSpPr>
          <a:xfrm>
            <a:off x="666750" y="1600200"/>
            <a:ext cx="5530863" cy="2238300"/>
            <a:chOff x="0" y="0"/>
            <a:chExt cx="6286500" cy="2238300"/>
          </a:xfrm>
        </p:grpSpPr>
        <p:sp>
          <p:nvSpPr>
            <p:cNvPr id="270" name="Google Shape;270;p20"/>
            <p:cNvSpPr/>
            <p:nvPr/>
          </p:nvSpPr>
          <p:spPr>
            <a:xfrm>
              <a:off x="0" y="0"/>
              <a:ext cx="6286500" cy="2238300"/>
            </a:xfrm>
            <a:prstGeom prst="roundRect">
              <a:avLst>
                <a:gd fmla="val 5106"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20"/>
            <p:cNvSpPr/>
            <p:nvPr/>
          </p:nvSpPr>
          <p:spPr>
            <a:xfrm>
              <a:off x="0" y="0"/>
              <a:ext cx="57300" cy="2238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0"/>
            <p:cNvSpPr txBox="1"/>
            <p:nvPr/>
          </p:nvSpPr>
          <p:spPr>
            <a:xfrm>
              <a:off x="266700" y="152400"/>
              <a:ext cx="57531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3B82F6"/>
                  </a:solidFill>
                  <a:latin typeface="Montserrat"/>
                  <a:ea typeface="Montserrat"/>
                  <a:cs typeface="Montserrat"/>
                  <a:sym typeface="Montserrat"/>
                </a:rPr>
                <a:t>CORE PARAMETERS </a:t>
              </a:r>
              <a:r>
                <a:rPr b="1" lang="en-US" sz="1100">
                  <a:solidFill>
                    <a:srgbClr val="FFFFFF"/>
                  </a:solidFill>
                  <a:latin typeface="Montserrat"/>
                  <a:ea typeface="Montserrat"/>
                  <a:cs typeface="Montserrat"/>
                  <a:sym typeface="Montserrat"/>
                </a:rPr>
                <a:t>• Film Specifications</a:t>
              </a:r>
              <a:endParaRPr b="1" sz="1100">
                <a:solidFill>
                  <a:srgbClr val="3B82F6"/>
                </a:solidFill>
                <a:latin typeface="Montserrat"/>
                <a:ea typeface="Montserrat"/>
                <a:cs typeface="Montserrat"/>
                <a:sym typeface="Montserrat"/>
              </a:endParaRPr>
            </a:p>
          </p:txBody>
        </p:sp>
        <p:grpSp>
          <p:nvGrpSpPr>
            <p:cNvPr id="273" name="Google Shape;273;p20"/>
            <p:cNvGrpSpPr/>
            <p:nvPr/>
          </p:nvGrpSpPr>
          <p:grpSpPr>
            <a:xfrm>
              <a:off x="266700" y="533400"/>
              <a:ext cx="2781300" cy="685800"/>
              <a:chOff x="0" y="0"/>
              <a:chExt cx="2781300" cy="685800"/>
            </a:xfrm>
          </p:grpSpPr>
          <p:sp>
            <p:nvSpPr>
              <p:cNvPr id="274" name="Google Shape;274;p20"/>
              <p:cNvSpPr/>
              <p:nvPr/>
            </p:nvSpPr>
            <p:spPr>
              <a:xfrm>
                <a:off x="0" y="0"/>
                <a:ext cx="2781300" cy="685800"/>
              </a:xfrm>
              <a:prstGeom prst="roundRect">
                <a:avLst>
                  <a:gd fmla="val 11111"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0"/>
              <p:cNvSpPr txBox="1"/>
              <p:nvPr/>
            </p:nvSpPr>
            <p:spPr>
              <a:xfrm>
                <a:off x="152400" y="0"/>
                <a:ext cx="24765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3B82F6"/>
                    </a:solidFill>
                    <a:latin typeface="Montserrat"/>
                    <a:ea typeface="Montserrat"/>
                    <a:cs typeface="Montserrat"/>
                    <a:sym typeface="Montserrat"/>
                  </a:rPr>
                  <a:t>GENRE &amp; CONCEPT</a:t>
                </a:r>
                <a:endParaRPr b="1" sz="900">
                  <a:solidFill>
                    <a:srgbClr val="3B82F6"/>
                  </a:solidFill>
                  <a:latin typeface="Montserrat"/>
                  <a:ea typeface="Montserrat"/>
                  <a:cs typeface="Montserrat"/>
                  <a:sym typeface="Montserrat"/>
                </a:endParaRPr>
              </a:p>
              <a:p>
                <a:pPr indent="0" lvl="0" marL="0" rtl="0" algn="l">
                  <a:spcBef>
                    <a:spcPts val="300"/>
                  </a:spcBef>
                  <a:spcAft>
                    <a:spcPts val="0"/>
                  </a:spcAft>
                  <a:buNone/>
                </a:pPr>
                <a:r>
                  <a:rPr b="0" lang="en-US" sz="1100">
                    <a:solidFill>
                      <a:srgbClr val="FDFEFE"/>
                    </a:solidFill>
                    <a:latin typeface="Open Sans SemiBold"/>
                    <a:ea typeface="Open Sans SemiBold"/>
                    <a:cs typeface="Open Sans SemiBold"/>
                    <a:sym typeface="Open Sans SemiBold"/>
                  </a:rPr>
                  <a:t>Sci-Fi / Action / Adventure</a:t>
                </a:r>
                <a:endParaRPr b="0" sz="1100">
                  <a:solidFill>
                    <a:srgbClr val="FDFEFE"/>
                  </a:solidFill>
                  <a:latin typeface="Open Sans SemiBold"/>
                  <a:ea typeface="Open Sans SemiBold"/>
                  <a:cs typeface="Open Sans SemiBold"/>
                  <a:sym typeface="Open Sans SemiBold"/>
                </a:endParaRPr>
              </a:p>
              <a:p>
                <a:pPr indent="0" lvl="0" marL="0" rtl="0" algn="l">
                  <a:spcBef>
                    <a:spcPts val="0"/>
                  </a:spcBef>
                  <a:spcAft>
                    <a:spcPts val="0"/>
                  </a:spcAft>
                  <a:buNone/>
                </a:pPr>
                <a:r>
                  <a:rPr lang="en-US" sz="950">
                    <a:solidFill>
                      <a:srgbClr val="94A3B8"/>
                    </a:solidFill>
                    <a:latin typeface="Open Sans"/>
                    <a:ea typeface="Open Sans"/>
                    <a:cs typeface="Open Sans"/>
                    <a:sym typeface="Open Sans"/>
                  </a:rPr>
                  <a:t>English Language</a:t>
                </a:r>
                <a:endParaRPr sz="950">
                  <a:solidFill>
                    <a:srgbClr val="94A3B8"/>
                  </a:solidFill>
                  <a:latin typeface="Open Sans"/>
                  <a:ea typeface="Open Sans"/>
                  <a:cs typeface="Open Sans"/>
                  <a:sym typeface="Open Sans"/>
                </a:endParaRPr>
              </a:p>
            </p:txBody>
          </p:sp>
        </p:grpSp>
        <p:grpSp>
          <p:nvGrpSpPr>
            <p:cNvPr id="276" name="Google Shape;276;p20"/>
            <p:cNvGrpSpPr/>
            <p:nvPr/>
          </p:nvGrpSpPr>
          <p:grpSpPr>
            <a:xfrm>
              <a:off x="3238500" y="533400"/>
              <a:ext cx="2781300" cy="685800"/>
              <a:chOff x="0" y="0"/>
              <a:chExt cx="2781300" cy="685800"/>
            </a:xfrm>
          </p:grpSpPr>
          <p:sp>
            <p:nvSpPr>
              <p:cNvPr id="277" name="Google Shape;277;p20"/>
              <p:cNvSpPr/>
              <p:nvPr/>
            </p:nvSpPr>
            <p:spPr>
              <a:xfrm>
                <a:off x="0" y="0"/>
                <a:ext cx="2781300" cy="685800"/>
              </a:xfrm>
              <a:prstGeom prst="roundRect">
                <a:avLst>
                  <a:gd fmla="val 11111"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0"/>
              <p:cNvSpPr txBox="1"/>
              <p:nvPr/>
            </p:nvSpPr>
            <p:spPr>
              <a:xfrm>
                <a:off x="152400" y="0"/>
                <a:ext cx="24765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22C55E"/>
                    </a:solidFill>
                    <a:latin typeface="Montserrat"/>
                    <a:ea typeface="Montserrat"/>
                    <a:cs typeface="Montserrat"/>
                    <a:sym typeface="Montserrat"/>
                  </a:rPr>
                  <a:t>BUDGET ALLOCATION</a:t>
                </a:r>
                <a:endParaRPr b="1" sz="900">
                  <a:solidFill>
                    <a:srgbClr val="22C55E"/>
                  </a:solidFill>
                  <a:latin typeface="Montserrat"/>
                  <a:ea typeface="Montserrat"/>
                  <a:cs typeface="Montserrat"/>
                  <a:sym typeface="Montserrat"/>
                </a:endParaRPr>
              </a:p>
              <a:p>
                <a:pPr indent="0" lvl="0" marL="0" rtl="0" algn="l">
                  <a:spcBef>
                    <a:spcPts val="300"/>
                  </a:spcBef>
                  <a:spcAft>
                    <a:spcPts val="0"/>
                  </a:spcAft>
                  <a:buNone/>
                </a:pPr>
                <a:r>
                  <a:rPr b="1" lang="en-US" sz="1600">
                    <a:solidFill>
                      <a:srgbClr val="FFFFFF"/>
                    </a:solidFill>
                    <a:latin typeface="Montserrat"/>
                    <a:ea typeface="Montserrat"/>
                    <a:cs typeface="Montserrat"/>
                    <a:sym typeface="Montserrat"/>
                  </a:rPr>
                  <a:t>$180,000,000</a:t>
                </a:r>
                <a:endParaRPr b="1" sz="1600">
                  <a:solidFill>
                    <a:srgbClr val="FFFFFF"/>
                  </a:solidFill>
                  <a:latin typeface="Montserrat"/>
                  <a:ea typeface="Montserrat"/>
                  <a:cs typeface="Montserrat"/>
                  <a:sym typeface="Montserrat"/>
                </a:endParaRPr>
              </a:p>
            </p:txBody>
          </p:sp>
        </p:grpSp>
        <p:grpSp>
          <p:nvGrpSpPr>
            <p:cNvPr id="279" name="Google Shape;279;p20"/>
            <p:cNvGrpSpPr/>
            <p:nvPr/>
          </p:nvGrpSpPr>
          <p:grpSpPr>
            <a:xfrm>
              <a:off x="266700" y="1333500"/>
              <a:ext cx="2781300" cy="685800"/>
              <a:chOff x="0" y="0"/>
              <a:chExt cx="2781300" cy="685800"/>
            </a:xfrm>
          </p:grpSpPr>
          <p:sp>
            <p:nvSpPr>
              <p:cNvPr id="280" name="Google Shape;280;p20"/>
              <p:cNvSpPr/>
              <p:nvPr/>
            </p:nvSpPr>
            <p:spPr>
              <a:xfrm>
                <a:off x="0" y="0"/>
                <a:ext cx="2781300" cy="685800"/>
              </a:xfrm>
              <a:prstGeom prst="roundRect">
                <a:avLst>
                  <a:gd fmla="val 11111"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0"/>
              <p:cNvSpPr txBox="1"/>
              <p:nvPr/>
            </p:nvSpPr>
            <p:spPr>
              <a:xfrm>
                <a:off x="152400" y="0"/>
                <a:ext cx="24765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F39C12"/>
                    </a:solidFill>
                    <a:latin typeface="Montserrat"/>
                    <a:ea typeface="Montserrat"/>
                    <a:cs typeface="Montserrat"/>
                    <a:sym typeface="Montserrat"/>
                  </a:rPr>
                  <a:t>TARGET RELEASE</a:t>
                </a:r>
                <a:endParaRPr b="1" sz="900">
                  <a:solidFill>
                    <a:srgbClr val="F39C12"/>
                  </a:solidFill>
                  <a:latin typeface="Montserrat"/>
                  <a:ea typeface="Montserrat"/>
                  <a:cs typeface="Montserrat"/>
                  <a:sym typeface="Montserrat"/>
                </a:endParaRPr>
              </a:p>
              <a:p>
                <a:pPr indent="0" lvl="0" marL="0" rtl="0" algn="l">
                  <a:spcBef>
                    <a:spcPts val="300"/>
                  </a:spcBef>
                  <a:spcAft>
                    <a:spcPts val="0"/>
                  </a:spcAft>
                  <a:buNone/>
                </a:pPr>
                <a:r>
                  <a:rPr b="0" lang="en-US" sz="1100">
                    <a:solidFill>
                      <a:srgbClr val="FDFEFE"/>
                    </a:solidFill>
                    <a:latin typeface="Open Sans SemiBold"/>
                    <a:ea typeface="Open Sans SemiBold"/>
                    <a:cs typeface="Open Sans SemiBold"/>
                    <a:sym typeface="Open Sans SemiBold"/>
                  </a:rPr>
                  <a:t>June Release Window</a:t>
                </a:r>
                <a:endParaRPr b="0" sz="1100">
                  <a:solidFill>
                    <a:srgbClr val="FDFEFE"/>
                  </a:solidFill>
                  <a:latin typeface="Open Sans SemiBold"/>
                  <a:ea typeface="Open Sans SemiBold"/>
                  <a:cs typeface="Open Sans SemiBold"/>
                  <a:sym typeface="Open Sans SemiBold"/>
                </a:endParaRPr>
              </a:p>
              <a:p>
                <a:pPr indent="0" lvl="0" marL="0" rtl="0" algn="l">
                  <a:spcBef>
                    <a:spcPts val="0"/>
                  </a:spcBef>
                  <a:spcAft>
                    <a:spcPts val="0"/>
                  </a:spcAft>
                  <a:buNone/>
                </a:pPr>
                <a:r>
                  <a:rPr lang="en-US" sz="950">
                    <a:solidFill>
                      <a:srgbClr val="94A3B8"/>
                    </a:solidFill>
                    <a:latin typeface="Open Sans"/>
                    <a:ea typeface="Open Sans"/>
                    <a:cs typeface="Open Sans"/>
                    <a:sym typeface="Open Sans"/>
                  </a:rPr>
                  <a:t>Prime Summer Blockbuster</a:t>
                </a:r>
                <a:endParaRPr sz="950">
                  <a:solidFill>
                    <a:srgbClr val="94A3B8"/>
                  </a:solidFill>
                  <a:latin typeface="Open Sans"/>
                  <a:ea typeface="Open Sans"/>
                  <a:cs typeface="Open Sans"/>
                  <a:sym typeface="Open Sans"/>
                </a:endParaRPr>
              </a:p>
            </p:txBody>
          </p:sp>
        </p:grpSp>
        <p:grpSp>
          <p:nvGrpSpPr>
            <p:cNvPr id="282" name="Google Shape;282;p20"/>
            <p:cNvGrpSpPr/>
            <p:nvPr/>
          </p:nvGrpSpPr>
          <p:grpSpPr>
            <a:xfrm>
              <a:off x="3238500" y="1333500"/>
              <a:ext cx="2781300" cy="685800"/>
              <a:chOff x="0" y="0"/>
              <a:chExt cx="2781300" cy="685800"/>
            </a:xfrm>
          </p:grpSpPr>
          <p:sp>
            <p:nvSpPr>
              <p:cNvPr id="283" name="Google Shape;283;p20"/>
              <p:cNvSpPr/>
              <p:nvPr/>
            </p:nvSpPr>
            <p:spPr>
              <a:xfrm>
                <a:off x="0" y="0"/>
                <a:ext cx="2781300" cy="685800"/>
              </a:xfrm>
              <a:prstGeom prst="roundRect">
                <a:avLst>
                  <a:gd fmla="val 11111"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4" name="Google Shape;284;p20"/>
              <p:cNvSpPr txBox="1"/>
              <p:nvPr/>
            </p:nvSpPr>
            <p:spPr>
              <a:xfrm>
                <a:off x="152400" y="0"/>
                <a:ext cx="24765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A855F7"/>
                    </a:solidFill>
                    <a:latin typeface="Montserrat"/>
                    <a:ea typeface="Montserrat"/>
                    <a:cs typeface="Montserrat"/>
                    <a:sym typeface="Montserrat"/>
                  </a:rPr>
                  <a:t>RUN-TIME DURATION</a:t>
                </a:r>
                <a:endParaRPr b="1" sz="900">
                  <a:solidFill>
                    <a:srgbClr val="A855F7"/>
                  </a:solidFill>
                  <a:latin typeface="Montserrat"/>
                  <a:ea typeface="Montserrat"/>
                  <a:cs typeface="Montserrat"/>
                  <a:sym typeface="Montserrat"/>
                </a:endParaRPr>
              </a:p>
              <a:p>
                <a:pPr indent="0" lvl="0" marL="0" rtl="0" algn="l">
                  <a:spcBef>
                    <a:spcPts val="300"/>
                  </a:spcBef>
                  <a:spcAft>
                    <a:spcPts val="0"/>
                  </a:spcAft>
                  <a:buNone/>
                </a:pPr>
                <a:r>
                  <a:rPr b="1" lang="en-US" sz="1600">
                    <a:solidFill>
                      <a:srgbClr val="FFFFFF"/>
                    </a:solidFill>
                    <a:latin typeface="Montserrat"/>
                    <a:ea typeface="Montserrat"/>
                    <a:cs typeface="Montserrat"/>
                    <a:sym typeface="Montserrat"/>
                  </a:rPr>
                  <a:t>142 Minutes</a:t>
                </a:r>
                <a:endParaRPr b="1" sz="1600">
                  <a:solidFill>
                    <a:srgbClr val="FFFFFF"/>
                  </a:solidFill>
                  <a:latin typeface="Montserrat"/>
                  <a:ea typeface="Montserrat"/>
                  <a:cs typeface="Montserrat"/>
                  <a:sym typeface="Montserrat"/>
                </a:endParaRPr>
              </a:p>
            </p:txBody>
          </p:sp>
        </p:grpSp>
      </p:grpSp>
      <p:grpSp>
        <p:nvGrpSpPr>
          <p:cNvPr id="285" name="Google Shape;285;p20"/>
          <p:cNvGrpSpPr/>
          <p:nvPr/>
        </p:nvGrpSpPr>
        <p:grpSpPr>
          <a:xfrm>
            <a:off x="666750" y="3981450"/>
            <a:ext cx="5530863" cy="2209800"/>
            <a:chOff x="0" y="0"/>
            <a:chExt cx="6286500" cy="2209800"/>
          </a:xfrm>
        </p:grpSpPr>
        <p:sp>
          <p:nvSpPr>
            <p:cNvPr id="286" name="Google Shape;286;p20"/>
            <p:cNvSpPr/>
            <p:nvPr/>
          </p:nvSpPr>
          <p:spPr>
            <a:xfrm>
              <a:off x="0" y="0"/>
              <a:ext cx="6286500" cy="2209800"/>
            </a:xfrm>
            <a:prstGeom prst="roundRect">
              <a:avLst>
                <a:gd fmla="val 5172" name="adj"/>
              </a:avLst>
            </a:prstGeom>
            <a:solidFill>
              <a:srgbClr val="1E293B"/>
            </a:solidFill>
            <a:ln cap="flat" cmpd="sng" w="1430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0"/>
            <p:cNvSpPr/>
            <p:nvPr/>
          </p:nvSpPr>
          <p:spPr>
            <a:xfrm>
              <a:off x="0" y="0"/>
              <a:ext cx="57300" cy="22098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0"/>
            <p:cNvSpPr txBox="1"/>
            <p:nvPr/>
          </p:nvSpPr>
          <p:spPr>
            <a:xfrm>
              <a:off x="266700" y="152400"/>
              <a:ext cx="57531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39C12"/>
                  </a:solidFill>
                  <a:latin typeface="Montserrat"/>
                  <a:ea typeface="Montserrat"/>
                  <a:cs typeface="Montserrat"/>
                  <a:sym typeface="Montserrat"/>
                </a:rPr>
                <a:t>TALENT ROSTER </a:t>
              </a:r>
              <a:endParaRPr b="1" sz="1100">
                <a:solidFill>
                  <a:srgbClr val="F39C12"/>
                </a:solidFill>
                <a:latin typeface="Montserrat"/>
                <a:ea typeface="Montserrat"/>
                <a:cs typeface="Montserrat"/>
                <a:sym typeface="Montserrat"/>
              </a:endParaRPr>
            </a:p>
            <a:p>
              <a:pPr indent="0" lvl="0" marL="0" rtl="0" algn="l">
                <a:spcBef>
                  <a:spcPts val="0"/>
                </a:spcBef>
                <a:spcAft>
                  <a:spcPts val="0"/>
                </a:spcAft>
                <a:buNone/>
              </a:pPr>
              <a:r>
                <a:rPr b="1" lang="en-US" sz="1100">
                  <a:solidFill>
                    <a:srgbClr val="FFFFFF"/>
                  </a:solidFill>
                  <a:latin typeface="Montserrat"/>
                  <a:ea typeface="Montserrat"/>
                  <a:cs typeface="Montserrat"/>
                  <a:sym typeface="Montserrat"/>
                </a:rPr>
                <a:t>★ Attached Talent</a:t>
              </a:r>
              <a:endParaRPr b="1" sz="1100">
                <a:solidFill>
                  <a:srgbClr val="F39C12"/>
                </a:solidFill>
                <a:latin typeface="Montserrat"/>
                <a:ea typeface="Montserrat"/>
                <a:cs typeface="Montserrat"/>
                <a:sym typeface="Montserrat"/>
              </a:endParaRPr>
            </a:p>
          </p:txBody>
        </p:sp>
        <p:grpSp>
          <p:nvGrpSpPr>
            <p:cNvPr id="289" name="Google Shape;289;p20"/>
            <p:cNvGrpSpPr/>
            <p:nvPr/>
          </p:nvGrpSpPr>
          <p:grpSpPr>
            <a:xfrm>
              <a:off x="266700" y="533400"/>
              <a:ext cx="1809600" cy="1447800"/>
              <a:chOff x="0" y="0"/>
              <a:chExt cx="1809600" cy="1447800"/>
            </a:xfrm>
          </p:grpSpPr>
          <p:sp>
            <p:nvSpPr>
              <p:cNvPr id="290" name="Google Shape;290;p20"/>
              <p:cNvSpPr/>
              <p:nvPr/>
            </p:nvSpPr>
            <p:spPr>
              <a:xfrm>
                <a:off x="0" y="0"/>
                <a:ext cx="1809600" cy="1447800"/>
              </a:xfrm>
              <a:prstGeom prst="roundRect">
                <a:avLst>
                  <a:gd fmla="val 5263"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0"/>
              <p:cNvSpPr txBox="1"/>
              <p:nvPr/>
            </p:nvSpPr>
            <p:spPr>
              <a:xfrm>
                <a:off x="133350" y="0"/>
                <a:ext cx="1543200" cy="14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F39C12"/>
                    </a:solidFill>
                    <a:latin typeface="Montserrat"/>
                    <a:ea typeface="Montserrat"/>
                    <a:cs typeface="Montserrat"/>
                    <a:sym typeface="Montserrat"/>
                  </a:rPr>
                  <a:t>DIRECTOR</a:t>
                </a:r>
                <a:endParaRPr b="1" sz="850">
                  <a:solidFill>
                    <a:srgbClr val="F39C12"/>
                  </a:solidFill>
                  <a:latin typeface="Montserrat"/>
                  <a:ea typeface="Montserrat"/>
                  <a:cs typeface="Montserrat"/>
                  <a:sym typeface="Montserrat"/>
                </a:endParaRPr>
              </a:p>
              <a:p>
                <a:pPr indent="0" lvl="0" marL="0" rtl="0" algn="l">
                  <a:spcBef>
                    <a:spcPts val="450"/>
                  </a:spcBef>
                  <a:spcAft>
                    <a:spcPts val="0"/>
                  </a:spcAft>
                  <a:buNone/>
                </a:pPr>
                <a:r>
                  <a:rPr b="1" lang="en-US" sz="1300">
                    <a:solidFill>
                      <a:srgbClr val="FFFFFF"/>
                    </a:solidFill>
                    <a:latin typeface="Montserrat"/>
                    <a:ea typeface="Montserrat"/>
                    <a:cs typeface="Montserrat"/>
                    <a:sym typeface="Montserrat"/>
                  </a:rPr>
                  <a:t>Joss Whedon</a:t>
                </a:r>
                <a:endParaRPr b="1" sz="1300">
                  <a:solidFill>
                    <a:srgbClr val="FFFFFF"/>
                  </a:solidFill>
                  <a:latin typeface="Montserrat"/>
                  <a:ea typeface="Montserrat"/>
                  <a:cs typeface="Montserrat"/>
                  <a:sym typeface="Montserrat"/>
                </a:endParaRPr>
              </a:p>
              <a:p>
                <a:pPr indent="0" lvl="0" marL="0" rtl="0" algn="l">
                  <a:spcBef>
                    <a:spcPts val="600"/>
                  </a:spcBef>
                  <a:spcAft>
                    <a:spcPts val="0"/>
                  </a:spcAft>
                  <a:buNone/>
                </a:pPr>
                <a:r>
                  <a:rPr lang="en-US" sz="900">
                    <a:solidFill>
                      <a:srgbClr val="94A3B8"/>
                    </a:solidFill>
                    <a:latin typeface="Open Sans"/>
                    <a:ea typeface="Open Sans"/>
                    <a:cs typeface="Open Sans"/>
                    <a:sym typeface="Open Sans"/>
                  </a:rPr>
                  <a:t>Action &amp; Sci-Fi Visionary</a:t>
                </a:r>
                <a:endParaRPr sz="900">
                  <a:solidFill>
                    <a:srgbClr val="94A3B8"/>
                  </a:solidFill>
                  <a:latin typeface="Open Sans"/>
                  <a:ea typeface="Open Sans"/>
                  <a:cs typeface="Open Sans"/>
                  <a:sym typeface="Open Sans"/>
                </a:endParaRPr>
              </a:p>
            </p:txBody>
          </p:sp>
        </p:grpSp>
        <p:grpSp>
          <p:nvGrpSpPr>
            <p:cNvPr id="292" name="Google Shape;292;p20"/>
            <p:cNvGrpSpPr/>
            <p:nvPr/>
          </p:nvGrpSpPr>
          <p:grpSpPr>
            <a:xfrm>
              <a:off x="2190750" y="533400"/>
              <a:ext cx="1809600" cy="1447800"/>
              <a:chOff x="0" y="0"/>
              <a:chExt cx="1809600" cy="1447800"/>
            </a:xfrm>
          </p:grpSpPr>
          <p:sp>
            <p:nvSpPr>
              <p:cNvPr id="293" name="Google Shape;293;p20"/>
              <p:cNvSpPr/>
              <p:nvPr/>
            </p:nvSpPr>
            <p:spPr>
              <a:xfrm>
                <a:off x="0" y="0"/>
                <a:ext cx="1809600" cy="1447800"/>
              </a:xfrm>
              <a:prstGeom prst="roundRect">
                <a:avLst>
                  <a:gd fmla="val 5263"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20"/>
              <p:cNvSpPr txBox="1"/>
              <p:nvPr/>
            </p:nvSpPr>
            <p:spPr>
              <a:xfrm>
                <a:off x="133350" y="0"/>
                <a:ext cx="1543200" cy="14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F39C12"/>
                    </a:solidFill>
                    <a:latin typeface="Montserrat"/>
                    <a:ea typeface="Montserrat"/>
                    <a:cs typeface="Montserrat"/>
                    <a:sym typeface="Montserrat"/>
                  </a:rPr>
                  <a:t>PRODUCER</a:t>
                </a:r>
                <a:endParaRPr b="1" sz="850">
                  <a:solidFill>
                    <a:srgbClr val="F39C12"/>
                  </a:solidFill>
                  <a:latin typeface="Montserrat"/>
                  <a:ea typeface="Montserrat"/>
                  <a:cs typeface="Montserrat"/>
                  <a:sym typeface="Montserrat"/>
                </a:endParaRPr>
              </a:p>
              <a:p>
                <a:pPr indent="0" lvl="0" marL="0" rtl="0" algn="l">
                  <a:spcBef>
                    <a:spcPts val="450"/>
                  </a:spcBef>
                  <a:spcAft>
                    <a:spcPts val="0"/>
                  </a:spcAft>
                  <a:buNone/>
                </a:pPr>
                <a:r>
                  <a:rPr b="1" lang="en-US" sz="1300">
                    <a:solidFill>
                      <a:srgbClr val="FFFFFF"/>
                    </a:solidFill>
                    <a:latin typeface="Montserrat"/>
                    <a:ea typeface="Montserrat"/>
                    <a:cs typeface="Montserrat"/>
                    <a:sym typeface="Montserrat"/>
                  </a:rPr>
                  <a:t>C. Meledandri</a:t>
                </a:r>
                <a:endParaRPr b="1" sz="1300">
                  <a:solidFill>
                    <a:srgbClr val="FFFFFF"/>
                  </a:solidFill>
                  <a:latin typeface="Montserrat"/>
                  <a:ea typeface="Montserrat"/>
                  <a:cs typeface="Montserrat"/>
                  <a:sym typeface="Montserrat"/>
                </a:endParaRPr>
              </a:p>
              <a:p>
                <a:pPr indent="0" lvl="0" marL="0" rtl="0" algn="l">
                  <a:spcBef>
                    <a:spcPts val="600"/>
                  </a:spcBef>
                  <a:spcAft>
                    <a:spcPts val="0"/>
                  </a:spcAft>
                  <a:buNone/>
                </a:pPr>
                <a:r>
                  <a:rPr lang="en-US" sz="900">
                    <a:solidFill>
                      <a:srgbClr val="94A3B8"/>
                    </a:solidFill>
                    <a:latin typeface="Open Sans"/>
                    <a:ea typeface="Open Sans"/>
                    <a:cs typeface="Open Sans"/>
                    <a:sym typeface="Open Sans"/>
                  </a:rPr>
                  <a:t>High-Track Record Producer</a:t>
                </a:r>
                <a:endParaRPr sz="900">
                  <a:solidFill>
                    <a:srgbClr val="94A3B8"/>
                  </a:solidFill>
                  <a:latin typeface="Open Sans"/>
                  <a:ea typeface="Open Sans"/>
                  <a:cs typeface="Open Sans"/>
                  <a:sym typeface="Open Sans"/>
                </a:endParaRPr>
              </a:p>
            </p:txBody>
          </p:sp>
        </p:grpSp>
        <p:grpSp>
          <p:nvGrpSpPr>
            <p:cNvPr id="295" name="Google Shape;295;p20"/>
            <p:cNvGrpSpPr/>
            <p:nvPr/>
          </p:nvGrpSpPr>
          <p:grpSpPr>
            <a:xfrm>
              <a:off x="4114800" y="533400"/>
              <a:ext cx="1905000" cy="1447800"/>
              <a:chOff x="0" y="0"/>
              <a:chExt cx="1905000" cy="1447800"/>
            </a:xfrm>
          </p:grpSpPr>
          <p:sp>
            <p:nvSpPr>
              <p:cNvPr id="296" name="Google Shape;296;p20"/>
              <p:cNvSpPr/>
              <p:nvPr/>
            </p:nvSpPr>
            <p:spPr>
              <a:xfrm>
                <a:off x="0" y="0"/>
                <a:ext cx="1905000" cy="1447800"/>
              </a:xfrm>
              <a:prstGeom prst="roundRect">
                <a:avLst>
                  <a:gd fmla="val 5263" name="adj"/>
                </a:avLst>
              </a:prstGeom>
              <a:solidFill>
                <a:srgbClr val="0F172A"/>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0"/>
              <p:cNvSpPr txBox="1"/>
              <p:nvPr/>
            </p:nvSpPr>
            <p:spPr>
              <a:xfrm>
                <a:off x="133350" y="0"/>
                <a:ext cx="1638300" cy="1447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F39C12"/>
                    </a:solidFill>
                    <a:latin typeface="Montserrat"/>
                    <a:ea typeface="Montserrat"/>
                    <a:cs typeface="Montserrat"/>
                    <a:sym typeface="Montserrat"/>
                  </a:rPr>
                  <a:t>STAR CAST</a:t>
                </a:r>
                <a:endParaRPr b="1" sz="850">
                  <a:solidFill>
                    <a:srgbClr val="F39C12"/>
                  </a:solidFill>
                  <a:latin typeface="Montserrat"/>
                  <a:ea typeface="Montserrat"/>
                  <a:cs typeface="Montserrat"/>
                  <a:sym typeface="Montserrat"/>
                </a:endParaRPr>
              </a:p>
              <a:p>
                <a:pPr indent="0" lvl="0" marL="0" rtl="0" algn="l">
                  <a:spcBef>
                    <a:spcPts val="450"/>
                  </a:spcBef>
                  <a:spcAft>
                    <a:spcPts val="0"/>
                  </a:spcAft>
                  <a:buNone/>
                </a:pPr>
                <a:r>
                  <a:rPr b="1" lang="en-US" sz="1050">
                    <a:solidFill>
                      <a:srgbClr val="FFFFFF"/>
                    </a:solidFill>
                    <a:latin typeface="Open Sans"/>
                    <a:ea typeface="Open Sans"/>
                    <a:cs typeface="Open Sans"/>
                    <a:sym typeface="Open Sans"/>
                  </a:rPr>
                  <a:t>Daniel Radcliffe</a:t>
                </a:r>
                <a:endParaRPr b="1" sz="1050">
                  <a:solidFill>
                    <a:srgbClr val="FFFFFF"/>
                  </a:solidFill>
                  <a:latin typeface="Open Sans"/>
                  <a:ea typeface="Open Sans"/>
                  <a:cs typeface="Open Sans"/>
                  <a:sym typeface="Open Sans"/>
                </a:endParaRPr>
              </a:p>
              <a:p>
                <a:pPr indent="0" lvl="0" marL="0" rtl="0" algn="l">
                  <a:spcBef>
                    <a:spcPts val="150"/>
                  </a:spcBef>
                  <a:spcAft>
                    <a:spcPts val="0"/>
                  </a:spcAft>
                  <a:buNone/>
                </a:pPr>
                <a:r>
                  <a:rPr b="1" lang="en-US" sz="1050">
                    <a:solidFill>
                      <a:srgbClr val="FFFFFF"/>
                    </a:solidFill>
                    <a:latin typeface="Open Sans"/>
                    <a:ea typeface="Open Sans"/>
                    <a:cs typeface="Open Sans"/>
                    <a:sym typeface="Open Sans"/>
                  </a:rPr>
                  <a:t>Emma Watson</a:t>
                </a:r>
                <a:endParaRPr b="1" sz="1050">
                  <a:solidFill>
                    <a:srgbClr val="FFFFFF"/>
                  </a:solidFill>
                  <a:latin typeface="Open Sans"/>
                  <a:ea typeface="Open Sans"/>
                  <a:cs typeface="Open Sans"/>
                  <a:sym typeface="Open Sans"/>
                </a:endParaRPr>
              </a:p>
              <a:p>
                <a:pPr indent="0" lvl="0" marL="0" rtl="0" algn="l">
                  <a:spcBef>
                    <a:spcPts val="150"/>
                  </a:spcBef>
                  <a:spcAft>
                    <a:spcPts val="0"/>
                  </a:spcAft>
                  <a:buNone/>
                </a:pPr>
                <a:r>
                  <a:rPr b="1" lang="en-US" sz="1050">
                    <a:solidFill>
                      <a:srgbClr val="FFFFFF"/>
                    </a:solidFill>
                    <a:latin typeface="Open Sans"/>
                    <a:ea typeface="Open Sans"/>
                    <a:cs typeface="Open Sans"/>
                    <a:sym typeface="Open Sans"/>
                  </a:rPr>
                  <a:t>Rupert Grint</a:t>
                </a:r>
                <a:endParaRPr b="1" sz="1050">
                  <a:solidFill>
                    <a:srgbClr val="FFFFFF"/>
                  </a:solidFill>
                  <a:latin typeface="Open Sans"/>
                  <a:ea typeface="Open Sans"/>
                  <a:cs typeface="Open Sans"/>
                  <a:sym typeface="Open Sans"/>
                </a:endParaRPr>
              </a:p>
            </p:txBody>
          </p:sp>
        </p:grpSp>
      </p:grpSp>
      <p:sp>
        <p:nvSpPr>
          <p:cNvPr id="298" name="Google Shape;298;p20"/>
          <p:cNvSpPr/>
          <p:nvPr/>
        </p:nvSpPr>
        <p:spPr>
          <a:xfrm>
            <a:off x="6469575" y="1047750"/>
            <a:ext cx="5055900" cy="5143500"/>
          </a:xfrm>
          <a:prstGeom prst="roundRect">
            <a:avLst>
              <a:gd fmla="val 355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0"/>
          <p:cNvSpPr/>
          <p:nvPr/>
        </p:nvSpPr>
        <p:spPr>
          <a:xfrm>
            <a:off x="7239000" y="1047750"/>
            <a:ext cx="4286400" cy="381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0"/>
          <p:cNvSpPr txBox="1"/>
          <p:nvPr/>
        </p:nvSpPr>
        <p:spPr>
          <a:xfrm>
            <a:off x="7082925" y="1181175"/>
            <a:ext cx="38292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FDFEFE"/>
                </a:solidFill>
                <a:latin typeface="Montserrat"/>
                <a:ea typeface="Montserrat"/>
                <a:cs typeface="Montserrat"/>
                <a:sym typeface="Montserrat"/>
              </a:rPr>
              <a:t>CONCEPT MOVIE PREDICTION</a:t>
            </a:r>
            <a:endParaRPr b="1" sz="1100">
              <a:solidFill>
                <a:srgbClr val="FDFEFE"/>
              </a:solidFill>
              <a:latin typeface="Montserrat"/>
              <a:ea typeface="Montserrat"/>
              <a:cs typeface="Montserrat"/>
              <a:sym typeface="Montserrat"/>
            </a:endParaRPr>
          </a:p>
        </p:txBody>
      </p:sp>
      <p:pic>
        <p:nvPicPr>
          <p:cNvPr id="301" name="Google Shape;301;p20"/>
          <p:cNvPicPr preferRelativeResize="0"/>
          <p:nvPr/>
        </p:nvPicPr>
        <p:blipFill>
          <a:blip r:embed="rId3">
            <a:alphaModFix/>
          </a:blip>
          <a:stretch>
            <a:fillRect/>
          </a:stretch>
        </p:blipFill>
        <p:spPr>
          <a:xfrm>
            <a:off x="7284663" y="4276715"/>
            <a:ext cx="3425725" cy="1852675"/>
          </a:xfrm>
          <a:prstGeom prst="rect">
            <a:avLst/>
          </a:prstGeom>
          <a:solidFill>
            <a:srgbClr val="1E293B"/>
          </a:solidFill>
          <a:ln cap="flat" cmpd="sng" w="14300">
            <a:solidFill>
              <a:srgbClr val="334155"/>
            </a:solidFill>
            <a:prstDash val="solid"/>
            <a:round/>
            <a:headEnd len="sm" w="sm" type="none"/>
            <a:tailEnd len="sm" w="sm" type="none"/>
          </a:ln>
        </p:spPr>
      </p:pic>
      <p:sp>
        <p:nvSpPr>
          <p:cNvPr id="302" name="Google Shape;302;p20"/>
          <p:cNvSpPr txBox="1"/>
          <p:nvPr>
            <p:ph idx="12" type="sldNum"/>
          </p:nvPr>
        </p:nvSpPr>
        <p:spPr>
          <a:xfrm>
            <a:off x="939165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03" name="Google Shape;303;p20"/>
          <p:cNvPicPr preferRelativeResize="0"/>
          <p:nvPr/>
        </p:nvPicPr>
        <p:blipFill>
          <a:blip r:embed="rId4">
            <a:alphaModFix/>
          </a:blip>
          <a:stretch>
            <a:fillRect/>
          </a:stretch>
        </p:blipFill>
        <p:spPr>
          <a:xfrm>
            <a:off x="6725800" y="1963463"/>
            <a:ext cx="4543425" cy="2238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833"/>
        </a:solidFill>
      </p:bgPr>
    </p:bg>
    <p:spTree>
      <p:nvGrpSpPr>
        <p:cNvPr id="307" name="Shape 307"/>
        <p:cNvGrpSpPr/>
        <p:nvPr/>
      </p:nvGrpSpPr>
      <p:grpSpPr>
        <a:xfrm>
          <a:off x="0" y="0"/>
          <a:ext cx="0" cy="0"/>
          <a:chOff x="0" y="0"/>
          <a:chExt cx="0" cy="0"/>
        </a:xfrm>
      </p:grpSpPr>
      <p:grpSp>
        <p:nvGrpSpPr>
          <p:cNvPr id="308" name="Google Shape;308;p21"/>
          <p:cNvGrpSpPr/>
          <p:nvPr/>
        </p:nvGrpSpPr>
        <p:grpSpPr>
          <a:xfrm>
            <a:off x="666750" y="428625"/>
            <a:ext cx="10858500" cy="571500"/>
            <a:chOff x="0" y="0"/>
            <a:chExt cx="10858500" cy="571500"/>
          </a:xfrm>
        </p:grpSpPr>
        <p:sp>
          <p:nvSpPr>
            <p:cNvPr id="309" name="Google Shape;309;p21"/>
            <p:cNvSpPr/>
            <p:nvPr/>
          </p:nvSpPr>
          <p:spPr>
            <a:xfrm>
              <a:off x="0" y="0"/>
              <a:ext cx="10858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1"/>
            <p:cNvSpPr txBox="1"/>
            <p:nvPr/>
          </p:nvSpPr>
          <p:spPr>
            <a:xfrm>
              <a:off x="0" y="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F39C12"/>
                  </a:solidFill>
                  <a:latin typeface="Montserrat"/>
                  <a:ea typeface="Montserrat"/>
                  <a:cs typeface="Montserrat"/>
                  <a:sym typeface="Montserrat"/>
                </a:rPr>
                <a:t>Financial Forecast: Project Avery NEXUS ROI</a:t>
              </a:r>
              <a:endParaRPr b="1" sz="2600">
                <a:solidFill>
                  <a:srgbClr val="F39C12"/>
                </a:solidFill>
                <a:latin typeface="Montserrat"/>
                <a:ea typeface="Montserrat"/>
                <a:cs typeface="Montserrat"/>
                <a:sym typeface="Montserrat"/>
              </a:endParaRPr>
            </a:p>
          </p:txBody>
        </p:sp>
      </p:grpSp>
      <p:grpSp>
        <p:nvGrpSpPr>
          <p:cNvPr id="311" name="Google Shape;311;p21"/>
          <p:cNvGrpSpPr/>
          <p:nvPr/>
        </p:nvGrpSpPr>
        <p:grpSpPr>
          <a:xfrm>
            <a:off x="666750" y="1095375"/>
            <a:ext cx="10858500" cy="457200"/>
            <a:chOff x="0" y="0"/>
            <a:chExt cx="10858500" cy="457200"/>
          </a:xfrm>
        </p:grpSpPr>
        <p:sp>
          <p:nvSpPr>
            <p:cNvPr id="312" name="Google Shape;312;p21"/>
            <p:cNvSpPr/>
            <p:nvPr/>
          </p:nvSpPr>
          <p:spPr>
            <a:xfrm>
              <a:off x="0" y="0"/>
              <a:ext cx="10858500" cy="457200"/>
            </a:xfrm>
            <a:prstGeom prst="roundRect">
              <a:avLst>
                <a:gd fmla="val 16666" name="adj"/>
              </a:avLst>
            </a:prstGeom>
            <a:solidFill>
              <a:srgbClr val="1E293B"/>
            </a:solidFill>
            <a:ln cap="flat" cmpd="sng" w="9525">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1"/>
            <p:cNvSpPr txBox="1"/>
            <p:nvPr/>
          </p:nvSpPr>
          <p:spPr>
            <a:xfrm>
              <a:off x="190500" y="0"/>
              <a:ext cx="104775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300">
                  <a:solidFill>
                    <a:srgbClr val="CBD5E1"/>
                  </a:solidFill>
                  <a:latin typeface="Open Sans"/>
                  <a:ea typeface="Open Sans"/>
                  <a:cs typeface="Open Sans"/>
                  <a:sym typeface="Open Sans"/>
                </a:rPr>
                <a:t>Applying the parameters of Project NEXUS to our predictive model yields the following mathematically validated forecast:</a:t>
              </a:r>
              <a:endParaRPr b="0" sz="1300">
                <a:solidFill>
                  <a:srgbClr val="CBD5E1"/>
                </a:solidFill>
                <a:latin typeface="Open Sans"/>
                <a:ea typeface="Open Sans"/>
                <a:cs typeface="Open Sans"/>
                <a:sym typeface="Open Sans"/>
              </a:endParaRPr>
            </a:p>
          </p:txBody>
        </p:sp>
      </p:grpSp>
      <p:grpSp>
        <p:nvGrpSpPr>
          <p:cNvPr id="314" name="Google Shape;314;p21"/>
          <p:cNvGrpSpPr/>
          <p:nvPr/>
        </p:nvGrpSpPr>
        <p:grpSpPr>
          <a:xfrm>
            <a:off x="666750" y="1762125"/>
            <a:ext cx="3429000" cy="2286000"/>
            <a:chOff x="0" y="0"/>
            <a:chExt cx="3429000" cy="2286000"/>
          </a:xfrm>
        </p:grpSpPr>
        <p:sp>
          <p:nvSpPr>
            <p:cNvPr id="315" name="Google Shape;315;p21"/>
            <p:cNvSpPr/>
            <p:nvPr/>
          </p:nvSpPr>
          <p:spPr>
            <a:xfrm>
              <a:off x="0" y="0"/>
              <a:ext cx="3429000" cy="2286000"/>
            </a:xfrm>
            <a:prstGeom prst="roundRect">
              <a:avLst>
                <a:gd fmla="val 5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1"/>
            <p:cNvSpPr/>
            <p:nvPr/>
          </p:nvSpPr>
          <p:spPr>
            <a:xfrm>
              <a:off x="0" y="0"/>
              <a:ext cx="3429000" cy="47700"/>
            </a:xfrm>
            <a:prstGeom prst="roundRect">
              <a:avLst>
                <a:gd fmla="val 4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21"/>
            <p:cNvSpPr txBox="1"/>
            <p:nvPr/>
          </p:nvSpPr>
          <p:spPr>
            <a:xfrm>
              <a:off x="238125" y="190500"/>
              <a:ext cx="29529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3B82F6"/>
                  </a:solidFill>
                  <a:latin typeface="Montserrat"/>
                  <a:ea typeface="Montserrat"/>
                  <a:cs typeface="Montserrat"/>
                  <a:sym typeface="Montserrat"/>
                </a:rPr>
                <a:t>BOX OFFICE REVENUE</a:t>
              </a:r>
              <a:endParaRPr b="1" sz="1000">
                <a:solidFill>
                  <a:srgbClr val="3B82F6"/>
                </a:solidFill>
                <a:latin typeface="Montserrat"/>
                <a:ea typeface="Montserrat"/>
                <a:cs typeface="Montserrat"/>
                <a:sym typeface="Montserrat"/>
              </a:endParaRPr>
            </a:p>
            <a:p>
              <a:pPr indent="0" lvl="0" marL="0" rtl="0" algn="l">
                <a:spcBef>
                  <a:spcPts val="900"/>
                </a:spcBef>
                <a:spcAft>
                  <a:spcPts val="0"/>
                </a:spcAft>
                <a:buNone/>
              </a:pPr>
              <a:r>
                <a:rPr b="1" lang="en-US" sz="3000">
                  <a:solidFill>
                    <a:srgbClr val="FFFFFF"/>
                  </a:solidFill>
                  <a:latin typeface="Montserrat"/>
                  <a:ea typeface="Montserrat"/>
                  <a:cs typeface="Montserrat"/>
                  <a:sym typeface="Montserrat"/>
                </a:rPr>
                <a:t>$502.4M</a:t>
              </a:r>
              <a:endParaRPr b="1" sz="3000">
                <a:solidFill>
                  <a:srgbClr val="FFFFFF"/>
                </a:solidFill>
                <a:latin typeface="Montserrat"/>
                <a:ea typeface="Montserrat"/>
                <a:cs typeface="Montserrat"/>
                <a:sym typeface="Montserrat"/>
              </a:endParaRPr>
            </a:p>
            <a:p>
              <a:pPr indent="0" lvl="0" marL="0" rtl="0" algn="l">
                <a:spcBef>
                  <a:spcPts val="750"/>
                </a:spcBef>
                <a:spcAft>
                  <a:spcPts val="0"/>
                </a:spcAft>
                <a:buNone/>
              </a:pPr>
              <a:r>
                <a:rPr b="0" lang="en-US" sz="1100">
                  <a:solidFill>
                    <a:srgbClr val="CBD5E1"/>
                  </a:solidFill>
                  <a:latin typeface="Open Sans"/>
                  <a:ea typeface="Open Sans"/>
                  <a:cs typeface="Open Sans"/>
                  <a:sym typeface="Open Sans"/>
                </a:rPr>
                <a:t>F</a:t>
              </a:r>
              <a:r>
                <a:rPr b="0" lang="en-US" sz="1300">
                  <a:solidFill>
                    <a:srgbClr val="CBD5E1"/>
                  </a:solidFill>
                  <a:latin typeface="Open Sans"/>
                  <a:ea typeface="Open Sans"/>
                  <a:cs typeface="Open Sans"/>
                  <a:sym typeface="Open Sans"/>
                </a:rPr>
                <a:t>orecasted Global Box Office Revenue ($502,439,840)</a:t>
              </a:r>
              <a:endParaRPr b="0" sz="1300">
                <a:solidFill>
                  <a:srgbClr val="CBD5E1"/>
                </a:solidFill>
                <a:latin typeface="Open Sans"/>
                <a:ea typeface="Open Sans"/>
                <a:cs typeface="Open Sans"/>
                <a:sym typeface="Open Sans"/>
              </a:endParaRPr>
            </a:p>
          </p:txBody>
        </p:sp>
      </p:grpSp>
      <p:grpSp>
        <p:nvGrpSpPr>
          <p:cNvPr id="318" name="Google Shape;318;p21"/>
          <p:cNvGrpSpPr/>
          <p:nvPr/>
        </p:nvGrpSpPr>
        <p:grpSpPr>
          <a:xfrm>
            <a:off x="4381500" y="1762125"/>
            <a:ext cx="3429000" cy="2286000"/>
            <a:chOff x="0" y="0"/>
            <a:chExt cx="3429000" cy="2286000"/>
          </a:xfrm>
        </p:grpSpPr>
        <p:sp>
          <p:nvSpPr>
            <p:cNvPr id="319" name="Google Shape;319;p21"/>
            <p:cNvSpPr/>
            <p:nvPr/>
          </p:nvSpPr>
          <p:spPr>
            <a:xfrm>
              <a:off x="0" y="0"/>
              <a:ext cx="3429000" cy="2286000"/>
            </a:xfrm>
            <a:prstGeom prst="roundRect">
              <a:avLst>
                <a:gd fmla="val 5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1"/>
            <p:cNvSpPr/>
            <p:nvPr/>
          </p:nvSpPr>
          <p:spPr>
            <a:xfrm>
              <a:off x="0" y="0"/>
              <a:ext cx="3429000" cy="47700"/>
            </a:xfrm>
            <a:prstGeom prst="roundRect">
              <a:avLst>
                <a:gd fmla="val 40000" name="adj"/>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1"/>
            <p:cNvSpPr txBox="1"/>
            <p:nvPr/>
          </p:nvSpPr>
          <p:spPr>
            <a:xfrm>
              <a:off x="238125" y="190500"/>
              <a:ext cx="29529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2C55E"/>
                  </a:solidFill>
                  <a:latin typeface="Montserrat"/>
                  <a:ea typeface="Montserrat"/>
                  <a:cs typeface="Montserrat"/>
                  <a:sym typeface="Montserrat"/>
                </a:rPr>
                <a:t>PURE PROFIT</a:t>
              </a:r>
              <a:endParaRPr b="1" sz="1000">
                <a:solidFill>
                  <a:srgbClr val="22C55E"/>
                </a:solidFill>
                <a:latin typeface="Montserrat"/>
                <a:ea typeface="Montserrat"/>
                <a:cs typeface="Montserrat"/>
                <a:sym typeface="Montserrat"/>
              </a:endParaRPr>
            </a:p>
            <a:p>
              <a:pPr indent="0" lvl="0" marL="0" rtl="0" algn="l">
                <a:spcBef>
                  <a:spcPts val="900"/>
                </a:spcBef>
                <a:spcAft>
                  <a:spcPts val="0"/>
                </a:spcAft>
                <a:buNone/>
              </a:pPr>
              <a:r>
                <a:rPr b="1" lang="en-US" sz="3000">
                  <a:solidFill>
                    <a:srgbClr val="FFFFFF"/>
                  </a:solidFill>
                  <a:latin typeface="Montserrat"/>
                  <a:ea typeface="Montserrat"/>
                  <a:cs typeface="Montserrat"/>
                  <a:sym typeface="Montserrat"/>
                </a:rPr>
                <a:t>$322.4M</a:t>
              </a:r>
              <a:endParaRPr b="1" sz="3000">
                <a:solidFill>
                  <a:srgbClr val="FFFFFF"/>
                </a:solidFill>
                <a:latin typeface="Montserrat"/>
                <a:ea typeface="Montserrat"/>
                <a:cs typeface="Montserrat"/>
                <a:sym typeface="Montserrat"/>
              </a:endParaRPr>
            </a:p>
            <a:p>
              <a:pPr indent="0" lvl="0" marL="0" rtl="0" algn="l">
                <a:spcBef>
                  <a:spcPts val="750"/>
                </a:spcBef>
                <a:spcAft>
                  <a:spcPts val="0"/>
                </a:spcAft>
                <a:buNone/>
              </a:pPr>
              <a:r>
                <a:rPr b="0" lang="en-US" sz="1300">
                  <a:solidFill>
                    <a:srgbClr val="CBD5E1"/>
                  </a:solidFill>
                  <a:latin typeface="Open Sans"/>
                  <a:ea typeface="Open Sans"/>
                  <a:cs typeface="Open Sans"/>
                  <a:sym typeface="Open Sans"/>
                </a:rPr>
                <a:t>Projected Pure Profit after production and marketing expenses</a:t>
              </a:r>
              <a:endParaRPr b="0" sz="1300">
                <a:solidFill>
                  <a:srgbClr val="CBD5E1"/>
                </a:solidFill>
                <a:latin typeface="Open Sans"/>
                <a:ea typeface="Open Sans"/>
                <a:cs typeface="Open Sans"/>
                <a:sym typeface="Open Sans"/>
              </a:endParaRPr>
            </a:p>
          </p:txBody>
        </p:sp>
      </p:grpSp>
      <p:grpSp>
        <p:nvGrpSpPr>
          <p:cNvPr id="322" name="Google Shape;322;p21"/>
          <p:cNvGrpSpPr/>
          <p:nvPr/>
        </p:nvGrpSpPr>
        <p:grpSpPr>
          <a:xfrm>
            <a:off x="8096250" y="1762125"/>
            <a:ext cx="3429000" cy="2286000"/>
            <a:chOff x="0" y="0"/>
            <a:chExt cx="3429000" cy="2286000"/>
          </a:xfrm>
        </p:grpSpPr>
        <p:sp>
          <p:nvSpPr>
            <p:cNvPr id="323" name="Google Shape;323;p21"/>
            <p:cNvSpPr/>
            <p:nvPr/>
          </p:nvSpPr>
          <p:spPr>
            <a:xfrm>
              <a:off x="0" y="0"/>
              <a:ext cx="3429000" cy="2286000"/>
            </a:xfrm>
            <a:prstGeom prst="roundRect">
              <a:avLst>
                <a:gd fmla="val 5000"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21"/>
            <p:cNvSpPr/>
            <p:nvPr/>
          </p:nvSpPr>
          <p:spPr>
            <a:xfrm>
              <a:off x="0" y="0"/>
              <a:ext cx="3429000" cy="47700"/>
            </a:xfrm>
            <a:prstGeom prst="roundRect">
              <a:avLst>
                <a:gd fmla="val 4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1"/>
            <p:cNvSpPr txBox="1"/>
            <p:nvPr/>
          </p:nvSpPr>
          <p:spPr>
            <a:xfrm>
              <a:off x="238125" y="190500"/>
              <a:ext cx="29529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39C12"/>
                  </a:solidFill>
                  <a:latin typeface="Montserrat"/>
                  <a:ea typeface="Montserrat"/>
                  <a:cs typeface="Montserrat"/>
                  <a:sym typeface="Montserrat"/>
                </a:rPr>
                <a:t>ESTIMATED ROI</a:t>
              </a:r>
              <a:endParaRPr b="1" sz="1000">
                <a:solidFill>
                  <a:srgbClr val="F39C12"/>
                </a:solidFill>
                <a:latin typeface="Montserrat"/>
                <a:ea typeface="Montserrat"/>
                <a:cs typeface="Montserrat"/>
                <a:sym typeface="Montserrat"/>
              </a:endParaRPr>
            </a:p>
            <a:p>
              <a:pPr indent="0" lvl="0" marL="0" rtl="0" algn="l">
                <a:spcBef>
                  <a:spcPts val="900"/>
                </a:spcBef>
                <a:spcAft>
                  <a:spcPts val="0"/>
                </a:spcAft>
                <a:buNone/>
              </a:pPr>
              <a:r>
                <a:rPr b="1" lang="en-US" sz="3000">
                  <a:solidFill>
                    <a:srgbClr val="FFFFFF"/>
                  </a:solidFill>
                  <a:latin typeface="Montserrat"/>
                  <a:ea typeface="Montserrat"/>
                  <a:cs typeface="Montserrat"/>
                  <a:sym typeface="Montserrat"/>
                </a:rPr>
                <a:t>179%</a:t>
              </a:r>
              <a:endParaRPr b="1" sz="3000">
                <a:solidFill>
                  <a:srgbClr val="FFFFFF"/>
                </a:solidFill>
                <a:latin typeface="Montserrat"/>
                <a:ea typeface="Montserrat"/>
                <a:cs typeface="Montserrat"/>
                <a:sym typeface="Montserrat"/>
              </a:endParaRPr>
            </a:p>
            <a:p>
              <a:pPr indent="0" lvl="0" marL="0" rtl="0" algn="l">
                <a:spcBef>
                  <a:spcPts val="750"/>
                </a:spcBef>
                <a:spcAft>
                  <a:spcPts val="0"/>
                </a:spcAft>
                <a:buNone/>
              </a:pPr>
              <a:r>
                <a:rPr b="0" lang="en-US" sz="1300">
                  <a:solidFill>
                    <a:srgbClr val="CBD5E1"/>
                  </a:solidFill>
                  <a:latin typeface="Open Sans"/>
                  <a:ea typeface="Open Sans"/>
                  <a:cs typeface="Open Sans"/>
                  <a:sym typeface="Open Sans"/>
                </a:rPr>
                <a:t>Estimated Return on Investment based on predictive model calibration</a:t>
              </a:r>
              <a:endParaRPr b="0" sz="1300">
                <a:solidFill>
                  <a:srgbClr val="CBD5E1"/>
                </a:solidFill>
                <a:latin typeface="Open Sans"/>
                <a:ea typeface="Open Sans"/>
                <a:cs typeface="Open Sans"/>
                <a:sym typeface="Open Sans"/>
              </a:endParaRPr>
            </a:p>
          </p:txBody>
        </p:sp>
      </p:grpSp>
      <p:grpSp>
        <p:nvGrpSpPr>
          <p:cNvPr id="326" name="Google Shape;326;p21"/>
          <p:cNvGrpSpPr/>
          <p:nvPr/>
        </p:nvGrpSpPr>
        <p:grpSpPr>
          <a:xfrm>
            <a:off x="666750" y="4286250"/>
            <a:ext cx="10858500" cy="1809600"/>
            <a:chOff x="0" y="0"/>
            <a:chExt cx="10858500" cy="1809600"/>
          </a:xfrm>
        </p:grpSpPr>
        <p:sp>
          <p:nvSpPr>
            <p:cNvPr id="327" name="Google Shape;327;p21"/>
            <p:cNvSpPr/>
            <p:nvPr/>
          </p:nvSpPr>
          <p:spPr>
            <a:xfrm>
              <a:off x="0" y="0"/>
              <a:ext cx="10858500" cy="1809600"/>
            </a:xfrm>
            <a:prstGeom prst="roundRect">
              <a:avLst>
                <a:gd fmla="val 6315" name="adj"/>
              </a:avLst>
            </a:prstGeom>
            <a:solidFill>
              <a:srgbClr val="1E293B"/>
            </a:solidFill>
            <a:ln cap="flat" cmpd="sng" w="19050">
              <a:solidFill>
                <a:srgbClr val="F39C1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1"/>
            <p:cNvSpPr/>
            <p:nvPr/>
          </p:nvSpPr>
          <p:spPr>
            <a:xfrm>
              <a:off x="0" y="0"/>
              <a:ext cx="57300" cy="18096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1"/>
            <p:cNvSpPr txBox="1"/>
            <p:nvPr/>
          </p:nvSpPr>
          <p:spPr>
            <a:xfrm>
              <a:off x="333375" y="238125"/>
              <a:ext cx="101919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F39C12"/>
                  </a:solidFill>
                  <a:latin typeface="Montserrat"/>
                  <a:ea typeface="Montserrat"/>
                  <a:cs typeface="Montserrat"/>
                  <a:sym typeface="Montserrat"/>
                </a:rPr>
                <a:t>STRATEGIC VERDICT </a:t>
              </a:r>
              <a:endParaRPr b="1" sz="1100">
                <a:solidFill>
                  <a:srgbClr val="F39C12"/>
                </a:solidFill>
                <a:latin typeface="Montserrat"/>
                <a:ea typeface="Montserrat"/>
                <a:cs typeface="Montserrat"/>
                <a:sym typeface="Montserrat"/>
              </a:endParaRPr>
            </a:p>
            <a:p>
              <a:pPr indent="0" lvl="0" marL="0" rtl="0" algn="l">
                <a:spcBef>
                  <a:spcPts val="750"/>
                </a:spcBef>
                <a:spcAft>
                  <a:spcPts val="0"/>
                </a:spcAft>
                <a:buNone/>
              </a:pPr>
              <a:r>
                <a:rPr b="0" lang="en-US" sz="1700">
                  <a:solidFill>
                    <a:srgbClr val="FDFEFE"/>
                  </a:solidFill>
                  <a:latin typeface="Open Sans"/>
                  <a:ea typeface="Open Sans"/>
                  <a:cs typeface="Open Sans"/>
                  <a:sym typeface="Open Sans"/>
                </a:rPr>
                <a:t>Verdict: Avery NEXUS represents a highly profitable asset that aligns perfectly with our optimal risk-adjusted strategy.</a:t>
              </a:r>
              <a:endParaRPr b="0" sz="1700">
                <a:solidFill>
                  <a:srgbClr val="FDFEFE"/>
                </a:solidFill>
                <a:latin typeface="Open Sans"/>
                <a:ea typeface="Open Sans"/>
                <a:cs typeface="Open Sans"/>
                <a:sym typeface="Open Sans"/>
              </a:endParaRPr>
            </a:p>
          </p:txBody>
        </p:sp>
      </p:grpSp>
      <p:sp>
        <p:nvSpPr>
          <p:cNvPr id="330" name="Google Shape;330;p21"/>
          <p:cNvSpPr txBox="1"/>
          <p:nvPr>
            <p:ph idx="12" type="sldNum"/>
          </p:nvPr>
        </p:nvSpPr>
        <p:spPr>
          <a:xfrm>
            <a:off x="9391650" y="63339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4" name="Shape 334"/>
        <p:cNvGrpSpPr/>
        <p:nvPr/>
      </p:nvGrpSpPr>
      <p:grpSpPr>
        <a:xfrm>
          <a:off x="0" y="0"/>
          <a:ext cx="0" cy="0"/>
          <a:chOff x="0" y="0"/>
          <a:chExt cx="0" cy="0"/>
        </a:xfrm>
      </p:grpSpPr>
      <p:sp>
        <p:nvSpPr>
          <p:cNvPr id="335" name="Google Shape;335;p22"/>
          <p:cNvSpPr txBox="1"/>
          <p:nvPr/>
        </p:nvSpPr>
        <p:spPr>
          <a:xfrm>
            <a:off x="666750" y="428625"/>
            <a:ext cx="108585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2600">
                <a:solidFill>
                  <a:srgbClr val="F39C12"/>
                </a:solidFill>
                <a:latin typeface="Montserrat"/>
                <a:ea typeface="Montserrat"/>
                <a:cs typeface="Montserrat"/>
                <a:sym typeface="Montserrat"/>
              </a:rPr>
              <a:t>Answering Assignment Questions</a:t>
            </a:r>
            <a:endParaRPr b="1" i="0" sz="2600">
              <a:solidFill>
                <a:srgbClr val="F39C12"/>
              </a:solidFill>
              <a:latin typeface="Montserrat"/>
              <a:ea typeface="Montserrat"/>
              <a:cs typeface="Montserrat"/>
              <a:sym typeface="Montserrat"/>
            </a:endParaRPr>
          </a:p>
        </p:txBody>
      </p:sp>
      <p:grpSp>
        <p:nvGrpSpPr>
          <p:cNvPr id="336" name="Google Shape;336;p22"/>
          <p:cNvGrpSpPr/>
          <p:nvPr/>
        </p:nvGrpSpPr>
        <p:grpSpPr>
          <a:xfrm>
            <a:off x="666750" y="1123950"/>
            <a:ext cx="3429000" cy="2476500"/>
            <a:chOff x="0" y="0"/>
            <a:chExt cx="3429000" cy="2476500"/>
          </a:xfrm>
        </p:grpSpPr>
        <p:sp>
          <p:nvSpPr>
            <p:cNvPr id="337" name="Google Shape;337;p22"/>
            <p:cNvSpPr/>
            <p:nvPr/>
          </p:nvSpPr>
          <p:spPr>
            <a:xfrm>
              <a:off x="0" y="0"/>
              <a:ext cx="3429000" cy="2476500"/>
            </a:xfrm>
            <a:prstGeom prst="roundRect">
              <a:avLst>
                <a:gd fmla="val 461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2"/>
            <p:cNvSpPr/>
            <p:nvPr/>
          </p:nvSpPr>
          <p:spPr>
            <a:xfrm>
              <a:off x="0" y="0"/>
              <a:ext cx="3429000" cy="47700"/>
            </a:xfrm>
            <a:prstGeom prst="roundRect">
              <a:avLst>
                <a:gd fmla="val 4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22"/>
            <p:cNvSpPr txBox="1"/>
            <p:nvPr/>
          </p:nvSpPr>
          <p:spPr>
            <a:xfrm>
              <a:off x="209550" y="171450"/>
              <a:ext cx="30099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3B82F6"/>
                  </a:solidFill>
                  <a:latin typeface="Montserrat"/>
                  <a:ea typeface="Montserrat"/>
                  <a:cs typeface="Montserrat"/>
                  <a:sym typeface="Montserrat"/>
                </a:rPr>
                <a:t>OPTIMAL GENRE</a:t>
              </a:r>
              <a:endParaRPr b="1" sz="1000">
                <a:solidFill>
                  <a:srgbClr val="3B82F6"/>
                </a:solidFill>
                <a:latin typeface="Montserrat"/>
                <a:ea typeface="Montserrat"/>
                <a:cs typeface="Montserrat"/>
                <a:sym typeface="Montserrat"/>
              </a:endParaRPr>
            </a:p>
            <a:p>
              <a:pPr indent="0" lvl="0" marL="0" rtl="0" algn="l">
                <a:spcBef>
                  <a:spcPts val="400"/>
                </a:spcBef>
                <a:spcAft>
                  <a:spcPts val="0"/>
                </a:spcAft>
                <a:buNone/>
              </a:pPr>
              <a:r>
                <a:rPr b="1" lang="en-US" sz="1100">
                  <a:solidFill>
                    <a:srgbClr val="FFFFFF"/>
                  </a:solidFill>
                  <a:latin typeface="Montserrat"/>
                  <a:ea typeface="Montserrat"/>
                  <a:cs typeface="Montserrat"/>
                  <a:sym typeface="Montserrat"/>
                </a:rPr>
                <a:t>What genre of film (thriller, adventure, romantic,...) should you create to make sure you make the most money?</a:t>
              </a:r>
              <a:endParaRPr b="1" sz="1100">
                <a:solidFill>
                  <a:srgbClr val="FFFFFF"/>
                </a:solidFill>
                <a:latin typeface="Montserrat"/>
                <a:ea typeface="Montserrat"/>
                <a:cs typeface="Montserrat"/>
                <a:sym typeface="Montserrat"/>
              </a:endParaRPr>
            </a:p>
            <a:p>
              <a:pPr indent="0" lvl="0" marL="0" rtl="0" algn="l">
                <a:spcBef>
                  <a:spcPts val="800"/>
                </a:spcBef>
                <a:spcAft>
                  <a:spcPts val="0"/>
                </a:spcAft>
                <a:buNone/>
              </a:pPr>
              <a:r>
                <a:rPr b="1" lang="en-US" sz="1100">
                  <a:solidFill>
                    <a:srgbClr val="3B82F6"/>
                  </a:solidFill>
                  <a:latin typeface="Open Sans"/>
                  <a:ea typeface="Open Sans"/>
                  <a:cs typeface="Open Sans"/>
                  <a:sym typeface="Open Sans"/>
                </a:rPr>
                <a:t>Ans: </a:t>
              </a:r>
              <a:r>
                <a:rPr lang="en-US" sz="1100">
                  <a:solidFill>
                    <a:srgbClr val="CBD5E1"/>
                  </a:solidFill>
                  <a:latin typeface="Open Sans"/>
                  <a:ea typeface="Open Sans"/>
                  <a:cs typeface="Open Sans"/>
                  <a:sym typeface="Open Sans"/>
                </a:rPr>
                <a:t>Animation is the clear winner. It shows the highest median return (around $192.5M). It's also less crowded than heavily saturated genres like Drama or Comedy, making it a great market to target.</a:t>
              </a:r>
              <a:endParaRPr sz="1100">
                <a:solidFill>
                  <a:srgbClr val="CBD5E1"/>
                </a:solidFill>
                <a:latin typeface="Open Sans"/>
                <a:ea typeface="Open Sans"/>
                <a:cs typeface="Open Sans"/>
                <a:sym typeface="Open Sans"/>
              </a:endParaRPr>
            </a:p>
          </p:txBody>
        </p:sp>
      </p:grpSp>
      <p:grpSp>
        <p:nvGrpSpPr>
          <p:cNvPr id="340" name="Google Shape;340;p22"/>
          <p:cNvGrpSpPr/>
          <p:nvPr/>
        </p:nvGrpSpPr>
        <p:grpSpPr>
          <a:xfrm>
            <a:off x="4381500" y="1123950"/>
            <a:ext cx="3429000" cy="2476500"/>
            <a:chOff x="0" y="0"/>
            <a:chExt cx="3429000" cy="2476500"/>
          </a:xfrm>
        </p:grpSpPr>
        <p:sp>
          <p:nvSpPr>
            <p:cNvPr id="341" name="Google Shape;341;p22"/>
            <p:cNvSpPr/>
            <p:nvPr/>
          </p:nvSpPr>
          <p:spPr>
            <a:xfrm>
              <a:off x="0" y="0"/>
              <a:ext cx="3429000" cy="2476500"/>
            </a:xfrm>
            <a:prstGeom prst="roundRect">
              <a:avLst>
                <a:gd fmla="val 461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2"/>
            <p:cNvSpPr/>
            <p:nvPr/>
          </p:nvSpPr>
          <p:spPr>
            <a:xfrm>
              <a:off x="0" y="0"/>
              <a:ext cx="3429000" cy="47700"/>
            </a:xfrm>
            <a:prstGeom prst="roundRect">
              <a:avLst>
                <a:gd fmla="val 4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22"/>
            <p:cNvSpPr txBox="1"/>
            <p:nvPr/>
          </p:nvSpPr>
          <p:spPr>
            <a:xfrm>
              <a:off x="209550" y="171450"/>
              <a:ext cx="30099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39C12"/>
                  </a:solidFill>
                  <a:latin typeface="Montserrat"/>
                  <a:ea typeface="Montserrat"/>
                  <a:cs typeface="Montserrat"/>
                  <a:sym typeface="Montserrat"/>
                </a:rPr>
                <a:t>STAR TALENT</a:t>
              </a:r>
              <a:endParaRPr b="1" sz="1000">
                <a:solidFill>
                  <a:srgbClr val="F39C12"/>
                </a:solidFill>
                <a:latin typeface="Montserrat"/>
                <a:ea typeface="Montserrat"/>
                <a:cs typeface="Montserrat"/>
                <a:sym typeface="Montserrat"/>
              </a:endParaRPr>
            </a:p>
            <a:p>
              <a:pPr indent="0" lvl="0" marL="0" rtl="0" algn="l">
                <a:spcBef>
                  <a:spcPts val="400"/>
                </a:spcBef>
                <a:spcAft>
                  <a:spcPts val="0"/>
                </a:spcAft>
                <a:buNone/>
              </a:pPr>
              <a:r>
                <a:rPr b="1" lang="en-US" sz="1100">
                  <a:solidFill>
                    <a:srgbClr val="FFFFFF"/>
                  </a:solidFill>
                  <a:latin typeface="Montserrat"/>
                  <a:ea typeface="Montserrat"/>
                  <a:cs typeface="Montserrat"/>
                  <a:sym typeface="Montserrat"/>
                </a:rPr>
                <a:t>Who are the top 3 actors you should hire to make sure you make the most money?</a:t>
              </a:r>
              <a:endParaRPr b="1" sz="1100">
                <a:solidFill>
                  <a:srgbClr val="FFFFFF"/>
                </a:solidFill>
                <a:latin typeface="Montserrat"/>
                <a:ea typeface="Montserrat"/>
                <a:cs typeface="Montserrat"/>
                <a:sym typeface="Montserrat"/>
              </a:endParaRPr>
            </a:p>
            <a:p>
              <a:pPr indent="0" lvl="0" marL="0" rtl="0" algn="l">
                <a:spcBef>
                  <a:spcPts val="800"/>
                </a:spcBef>
                <a:spcAft>
                  <a:spcPts val="0"/>
                </a:spcAft>
                <a:buNone/>
              </a:pPr>
              <a:r>
                <a:rPr b="1" lang="en-US" sz="1100">
                  <a:solidFill>
                    <a:srgbClr val="F39C12"/>
                  </a:solidFill>
                  <a:latin typeface="Open Sans"/>
                  <a:ea typeface="Open Sans"/>
                  <a:cs typeface="Open Sans"/>
                  <a:sym typeface="Open Sans"/>
                </a:rPr>
                <a:t>Ans: </a:t>
              </a:r>
              <a:r>
                <a:rPr lang="en-US" sz="1100">
                  <a:solidFill>
                    <a:srgbClr val="CBD5E1"/>
                  </a:solidFill>
                  <a:latin typeface="Open Sans"/>
                  <a:ea typeface="Open Sans"/>
                  <a:cs typeface="Open Sans"/>
                  <a:sym typeface="Open Sans"/>
                </a:rPr>
                <a:t>Based on my data analysis casting Rupert Grint, Daniel Radcliffe, and Emma Watson. The real, practical takeaway here is that casting leads with a built-in, dedicated fandom (or tying them to a massive IP) is one of the safest bets for high box office returns.</a:t>
              </a:r>
              <a:endParaRPr sz="1100">
                <a:solidFill>
                  <a:srgbClr val="CBD5E1"/>
                </a:solidFill>
                <a:latin typeface="Open Sans"/>
                <a:ea typeface="Open Sans"/>
                <a:cs typeface="Open Sans"/>
                <a:sym typeface="Open Sans"/>
              </a:endParaRPr>
            </a:p>
          </p:txBody>
        </p:sp>
      </p:grpSp>
      <p:grpSp>
        <p:nvGrpSpPr>
          <p:cNvPr id="344" name="Google Shape;344;p22"/>
          <p:cNvGrpSpPr/>
          <p:nvPr/>
        </p:nvGrpSpPr>
        <p:grpSpPr>
          <a:xfrm>
            <a:off x="8096250" y="1123950"/>
            <a:ext cx="3429000" cy="2476500"/>
            <a:chOff x="0" y="0"/>
            <a:chExt cx="3429000" cy="2476500"/>
          </a:xfrm>
        </p:grpSpPr>
        <p:sp>
          <p:nvSpPr>
            <p:cNvPr id="345" name="Google Shape;345;p22"/>
            <p:cNvSpPr/>
            <p:nvPr/>
          </p:nvSpPr>
          <p:spPr>
            <a:xfrm>
              <a:off x="0" y="0"/>
              <a:ext cx="3429000" cy="2476500"/>
            </a:xfrm>
            <a:prstGeom prst="roundRect">
              <a:avLst>
                <a:gd fmla="val 4615"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2"/>
            <p:cNvSpPr/>
            <p:nvPr/>
          </p:nvSpPr>
          <p:spPr>
            <a:xfrm>
              <a:off x="0" y="0"/>
              <a:ext cx="3429000" cy="47700"/>
            </a:xfrm>
            <a:prstGeom prst="roundRect">
              <a:avLst>
                <a:gd fmla="val 40000" name="adj"/>
              </a:avLst>
            </a:prstGeom>
            <a:solidFill>
              <a:srgbClr val="22C55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2"/>
            <p:cNvSpPr txBox="1"/>
            <p:nvPr/>
          </p:nvSpPr>
          <p:spPr>
            <a:xfrm>
              <a:off x="209550" y="171450"/>
              <a:ext cx="3009900" cy="2133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2C55E"/>
                  </a:solidFill>
                  <a:latin typeface="Montserrat"/>
                  <a:ea typeface="Montserrat"/>
                  <a:cs typeface="Montserrat"/>
                  <a:sym typeface="Montserrat"/>
                </a:rPr>
                <a:t>CREATIVE LEADERSHIP</a:t>
              </a:r>
              <a:endParaRPr b="1" sz="1000">
                <a:solidFill>
                  <a:srgbClr val="22C55E"/>
                </a:solidFill>
                <a:latin typeface="Montserrat"/>
                <a:ea typeface="Montserrat"/>
                <a:cs typeface="Montserrat"/>
                <a:sym typeface="Montserrat"/>
              </a:endParaRPr>
            </a:p>
            <a:p>
              <a:pPr indent="0" lvl="0" marL="0" rtl="0" algn="l">
                <a:spcBef>
                  <a:spcPts val="400"/>
                </a:spcBef>
                <a:spcAft>
                  <a:spcPts val="0"/>
                </a:spcAft>
                <a:buNone/>
              </a:pPr>
              <a:r>
                <a:rPr b="1" lang="en-US" sz="1100">
                  <a:solidFill>
                    <a:srgbClr val="FFFFFF"/>
                  </a:solidFill>
                  <a:latin typeface="Montserrat"/>
                  <a:ea typeface="Montserrat"/>
                  <a:cs typeface="Montserrat"/>
                  <a:sym typeface="Montserrat"/>
                </a:rPr>
                <a:t>Which film director and film producer should you hire to make sure you make the most money?</a:t>
              </a:r>
              <a:endParaRPr b="1" sz="1100">
                <a:solidFill>
                  <a:srgbClr val="FFFFFF"/>
                </a:solidFill>
                <a:latin typeface="Montserrat"/>
                <a:ea typeface="Montserrat"/>
                <a:cs typeface="Montserrat"/>
                <a:sym typeface="Montserrat"/>
              </a:endParaRPr>
            </a:p>
            <a:p>
              <a:pPr indent="0" lvl="0" marL="0" rtl="0" algn="l">
                <a:spcBef>
                  <a:spcPts val="800"/>
                </a:spcBef>
                <a:spcAft>
                  <a:spcPts val="0"/>
                </a:spcAft>
                <a:buNone/>
              </a:pPr>
              <a:r>
                <a:rPr b="1" lang="en-US" sz="1100">
                  <a:solidFill>
                    <a:srgbClr val="22C55E"/>
                  </a:solidFill>
                  <a:latin typeface="Open Sans"/>
                  <a:ea typeface="Open Sans"/>
                  <a:cs typeface="Open Sans"/>
                  <a:sym typeface="Open Sans"/>
                </a:rPr>
                <a:t>Ans: </a:t>
              </a:r>
              <a:r>
                <a:rPr lang="en-US" sz="1100">
                  <a:solidFill>
                    <a:srgbClr val="CBD5E1"/>
                  </a:solidFill>
                  <a:latin typeface="Open Sans"/>
                  <a:ea typeface="Open Sans"/>
                  <a:cs typeface="Open Sans"/>
                  <a:sym typeface="Open Sans"/>
                </a:rPr>
                <a:t>Joss Whedon tops the list for directors (with a median revenue of $1.4B), and Christopher Meledandri is the top producer ($923M). The data shows that top producers tend to be much more consistent for hits across their careers compared to directors, whose box office numbers can vary wildly from film to film.</a:t>
              </a:r>
              <a:endParaRPr sz="1100">
                <a:solidFill>
                  <a:srgbClr val="CBD5E1"/>
                </a:solidFill>
                <a:latin typeface="Open Sans"/>
                <a:ea typeface="Open Sans"/>
                <a:cs typeface="Open Sans"/>
                <a:sym typeface="Open Sans"/>
              </a:endParaRPr>
            </a:p>
          </p:txBody>
        </p:sp>
      </p:grpSp>
      <p:grpSp>
        <p:nvGrpSpPr>
          <p:cNvPr id="348" name="Google Shape;348;p22"/>
          <p:cNvGrpSpPr/>
          <p:nvPr/>
        </p:nvGrpSpPr>
        <p:grpSpPr>
          <a:xfrm>
            <a:off x="666750" y="3810000"/>
            <a:ext cx="5286300" cy="2571900"/>
            <a:chOff x="0" y="0"/>
            <a:chExt cx="5286300" cy="2571900"/>
          </a:xfrm>
        </p:grpSpPr>
        <p:sp>
          <p:nvSpPr>
            <p:cNvPr id="349" name="Google Shape;349;p22"/>
            <p:cNvSpPr/>
            <p:nvPr/>
          </p:nvSpPr>
          <p:spPr>
            <a:xfrm>
              <a:off x="0" y="0"/>
              <a:ext cx="5286300" cy="2571900"/>
            </a:xfrm>
            <a:prstGeom prst="roundRect">
              <a:avLst>
                <a:gd fmla="val 4444"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2"/>
            <p:cNvSpPr/>
            <p:nvPr/>
          </p:nvSpPr>
          <p:spPr>
            <a:xfrm>
              <a:off x="0" y="0"/>
              <a:ext cx="5286300" cy="47700"/>
            </a:xfrm>
            <a:prstGeom prst="roundRect">
              <a:avLst>
                <a:gd fmla="val 40000" name="adj"/>
              </a:avLst>
            </a:prstGeom>
            <a:solidFill>
              <a:srgbClr val="A85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22"/>
            <p:cNvSpPr txBox="1"/>
            <p:nvPr/>
          </p:nvSpPr>
          <p:spPr>
            <a:xfrm>
              <a:off x="228600" y="190500"/>
              <a:ext cx="48291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A855F7"/>
                  </a:solidFill>
                  <a:latin typeface="Montserrat"/>
                  <a:ea typeface="Montserrat"/>
                  <a:cs typeface="Montserrat"/>
                  <a:sym typeface="Montserrat"/>
                </a:rPr>
                <a:t>CAPITAL &amp; ROI OPTIMIZATION</a:t>
              </a:r>
              <a:endParaRPr b="1" sz="1000">
                <a:solidFill>
                  <a:srgbClr val="A855F7"/>
                </a:solidFill>
                <a:latin typeface="Montserrat"/>
                <a:ea typeface="Montserrat"/>
                <a:cs typeface="Montserrat"/>
                <a:sym typeface="Montserrat"/>
              </a:endParaRPr>
            </a:p>
            <a:p>
              <a:pPr indent="0" lvl="0" marL="0" rtl="0" algn="l">
                <a:spcBef>
                  <a:spcPts val="400"/>
                </a:spcBef>
                <a:spcAft>
                  <a:spcPts val="0"/>
                </a:spcAft>
                <a:buNone/>
              </a:pPr>
              <a:r>
                <a:rPr b="1" lang="en-US" sz="1100">
                  <a:solidFill>
                    <a:srgbClr val="FFFFFF"/>
                  </a:solidFill>
                  <a:latin typeface="Montserrat"/>
                  <a:ea typeface="Montserrat"/>
                  <a:cs typeface="Montserrat"/>
                  <a:sym typeface="Montserrat"/>
                </a:rPr>
                <a:t>How should you spend to produce the movie to optimize ROI?</a:t>
              </a:r>
              <a:endParaRPr b="1" sz="1100">
                <a:solidFill>
                  <a:srgbClr val="FFFFFF"/>
                </a:solidFill>
                <a:latin typeface="Montserrat"/>
                <a:ea typeface="Montserrat"/>
                <a:cs typeface="Montserrat"/>
                <a:sym typeface="Montserrat"/>
              </a:endParaRPr>
            </a:p>
            <a:p>
              <a:pPr indent="0" lvl="0" marL="0" rtl="0" algn="l">
                <a:spcBef>
                  <a:spcPts val="800"/>
                </a:spcBef>
                <a:spcAft>
                  <a:spcPts val="0"/>
                </a:spcAft>
                <a:buNone/>
              </a:pPr>
              <a:r>
                <a:rPr b="1" lang="en-US" sz="1100">
                  <a:solidFill>
                    <a:srgbClr val="A855F7"/>
                  </a:solidFill>
                  <a:latin typeface="Open Sans"/>
                  <a:ea typeface="Open Sans"/>
                  <a:cs typeface="Open Sans"/>
                  <a:sym typeface="Open Sans"/>
                </a:rPr>
                <a:t>Ans: </a:t>
              </a:r>
              <a:r>
                <a:rPr lang="en-US" sz="1100">
                  <a:solidFill>
                    <a:srgbClr val="CBD5E1"/>
                  </a:solidFill>
                  <a:latin typeface="Open Sans"/>
                  <a:ea typeface="Open Sans"/>
                  <a:cs typeface="Open Sans"/>
                  <a:sym typeface="Open Sans"/>
                </a:rPr>
                <a:t>It depends on how you measure success. Analysis shows that for the best risk-adjusted returns, a budget between $40-100M is the sweet spot. If you just want the biggest possible absolute total gross, you have to spend big (over $100-200M). That said, micro-budgets (under $5M) actually give the highest percentage ROI (median 3.78x) simply because they are so cheap to make—they just won't pull in blockbuster-level cash.</a:t>
              </a:r>
              <a:endParaRPr sz="1100">
                <a:solidFill>
                  <a:srgbClr val="CBD5E1"/>
                </a:solidFill>
                <a:latin typeface="Open Sans"/>
                <a:ea typeface="Open Sans"/>
                <a:cs typeface="Open Sans"/>
                <a:sym typeface="Open Sans"/>
              </a:endParaRPr>
            </a:p>
          </p:txBody>
        </p:sp>
      </p:grpSp>
      <p:grpSp>
        <p:nvGrpSpPr>
          <p:cNvPr id="352" name="Google Shape;352;p22"/>
          <p:cNvGrpSpPr/>
          <p:nvPr/>
        </p:nvGrpSpPr>
        <p:grpSpPr>
          <a:xfrm>
            <a:off x="6238875" y="3810000"/>
            <a:ext cx="5286300" cy="2571900"/>
            <a:chOff x="0" y="0"/>
            <a:chExt cx="5286300" cy="2571900"/>
          </a:xfrm>
        </p:grpSpPr>
        <p:sp>
          <p:nvSpPr>
            <p:cNvPr id="353" name="Google Shape;353;p22"/>
            <p:cNvSpPr/>
            <p:nvPr/>
          </p:nvSpPr>
          <p:spPr>
            <a:xfrm>
              <a:off x="0" y="0"/>
              <a:ext cx="5286300" cy="2571900"/>
            </a:xfrm>
            <a:prstGeom prst="roundRect">
              <a:avLst>
                <a:gd fmla="val 4444" name="adj"/>
              </a:avLst>
            </a:prstGeom>
            <a:solidFill>
              <a:srgbClr val="1E293B"/>
            </a:solidFill>
            <a:ln cap="flat" cmpd="sng" w="14300">
              <a:solidFill>
                <a:srgbClr val="33415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2"/>
            <p:cNvSpPr/>
            <p:nvPr/>
          </p:nvSpPr>
          <p:spPr>
            <a:xfrm>
              <a:off x="0" y="0"/>
              <a:ext cx="5286300" cy="47700"/>
            </a:xfrm>
            <a:prstGeom prst="roundRect">
              <a:avLst>
                <a:gd fmla="val 40000" name="adj"/>
              </a:avLst>
            </a:prstGeom>
            <a:solidFill>
              <a:srgbClr val="38BD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22"/>
            <p:cNvSpPr txBox="1"/>
            <p:nvPr/>
          </p:nvSpPr>
          <p:spPr>
            <a:xfrm>
              <a:off x="228600" y="190500"/>
              <a:ext cx="48291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38BDF8"/>
                  </a:solidFill>
                  <a:latin typeface="Montserrat"/>
                  <a:ea typeface="Montserrat"/>
                  <a:cs typeface="Montserrat"/>
                  <a:sym typeface="Montserrat"/>
                </a:rPr>
                <a:t>KEY IMPACTFUL PARAMETERS</a:t>
              </a:r>
              <a:endParaRPr b="1" sz="1000">
                <a:solidFill>
                  <a:srgbClr val="38BDF8"/>
                </a:solidFill>
                <a:latin typeface="Montserrat"/>
                <a:ea typeface="Montserrat"/>
                <a:cs typeface="Montserrat"/>
                <a:sym typeface="Montserrat"/>
              </a:endParaRPr>
            </a:p>
            <a:p>
              <a:pPr indent="0" lvl="0" marL="0" rtl="0" algn="l">
                <a:spcBef>
                  <a:spcPts val="400"/>
                </a:spcBef>
                <a:spcAft>
                  <a:spcPts val="0"/>
                </a:spcAft>
                <a:buNone/>
              </a:pPr>
              <a:r>
                <a:rPr b="1" lang="en-US" sz="1100">
                  <a:solidFill>
                    <a:srgbClr val="FFFFFF"/>
                  </a:solidFill>
                  <a:latin typeface="Montserrat"/>
                  <a:ea typeface="Montserrat"/>
                  <a:cs typeface="Montserrat"/>
                  <a:sym typeface="Montserrat"/>
                </a:rPr>
                <a:t>Any other impactful parameters you want to include</a:t>
              </a:r>
              <a:endParaRPr b="1" sz="1100">
                <a:solidFill>
                  <a:srgbClr val="FFFFFF"/>
                </a:solidFill>
                <a:latin typeface="Montserrat"/>
                <a:ea typeface="Montserrat"/>
                <a:cs typeface="Montserrat"/>
                <a:sym typeface="Montserrat"/>
              </a:endParaRPr>
            </a:p>
            <a:p>
              <a:pPr indent="0" lvl="0" marL="0" rtl="0" algn="l">
                <a:spcBef>
                  <a:spcPts val="800"/>
                </a:spcBef>
                <a:spcAft>
                  <a:spcPts val="0"/>
                </a:spcAft>
                <a:buNone/>
              </a:pPr>
              <a:r>
                <a:rPr b="1" lang="en-US" sz="1100">
                  <a:solidFill>
                    <a:srgbClr val="38BDF8"/>
                  </a:solidFill>
                  <a:latin typeface="Open Sans"/>
                  <a:ea typeface="Open Sans"/>
                  <a:cs typeface="Open Sans"/>
                  <a:sym typeface="Open Sans"/>
                </a:rPr>
                <a:t>Ans: </a:t>
              </a:r>
              <a:r>
                <a:rPr lang="en-US" sz="1100">
                  <a:solidFill>
                    <a:srgbClr val="CBD5E1"/>
                  </a:solidFill>
                  <a:latin typeface="Open Sans"/>
                  <a:ea typeface="Open Sans"/>
                  <a:cs typeface="Open Sans"/>
                  <a:sym typeface="Open Sans"/>
                </a:rPr>
                <a:t>Budget and pre-release popularity scores are the biggest predictors of a movie's final scale. Beyond that, timing is everything like releasing during the summer or the holiday season gives a big bump. Runtimes hitting that 120-150 minute sweet spot, having a large crew, and filming in English for global distribution also consistently drive up revenue.</a:t>
              </a:r>
              <a:endParaRPr sz="1100">
                <a:solidFill>
                  <a:srgbClr val="CBD5E1"/>
                </a:solidFill>
                <a:latin typeface="Open Sans"/>
                <a:ea typeface="Open Sans"/>
                <a:cs typeface="Open Sans"/>
                <a:sym typeface="Open Sans"/>
              </a:endParaRPr>
            </a:p>
          </p:txBody>
        </p:sp>
      </p:grpSp>
      <p:sp>
        <p:nvSpPr>
          <p:cNvPr id="356" name="Google Shape;356;p22"/>
          <p:cNvSpPr txBox="1"/>
          <p:nvPr>
            <p:ph idx="12" type="sldNum"/>
          </p:nvPr>
        </p:nvSpPr>
        <p:spPr>
          <a:xfrm>
            <a:off x="8680350" y="6381908"/>
            <a:ext cx="2844900" cy="486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0" name="Shape 360"/>
        <p:cNvGrpSpPr/>
        <p:nvPr/>
      </p:nvGrpSpPr>
      <p:grpSpPr>
        <a:xfrm>
          <a:off x="0" y="0"/>
          <a:ext cx="0" cy="0"/>
          <a:chOff x="0" y="0"/>
          <a:chExt cx="0" cy="0"/>
        </a:xfrm>
      </p:grpSpPr>
      <p:grpSp>
        <p:nvGrpSpPr>
          <p:cNvPr id="361" name="Google Shape;361;p23"/>
          <p:cNvGrpSpPr/>
          <p:nvPr/>
        </p:nvGrpSpPr>
        <p:grpSpPr>
          <a:xfrm>
            <a:off x="952500" y="1857375"/>
            <a:ext cx="6191250" cy="1012377"/>
            <a:chOff x="0" y="0"/>
            <a:chExt cx="6191250" cy="3000525"/>
          </a:xfrm>
        </p:grpSpPr>
        <p:sp>
          <p:nvSpPr>
            <p:cNvPr id="362" name="Google Shape;362;p23"/>
            <p:cNvSpPr/>
            <p:nvPr/>
          </p:nvSpPr>
          <p:spPr>
            <a:xfrm>
              <a:off x="0" y="47625"/>
              <a:ext cx="57300" cy="2952900"/>
            </a:xfrm>
            <a:prstGeom prst="roundRect">
              <a:avLst>
                <a:gd fmla="val 50000" name="adj"/>
              </a:avLst>
            </a:prstGeom>
            <a:solidFill>
              <a:srgbClr val="F39C1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23"/>
            <p:cNvSpPr txBox="1"/>
            <p:nvPr/>
          </p:nvSpPr>
          <p:spPr>
            <a:xfrm>
              <a:off x="285750" y="0"/>
              <a:ext cx="59055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5200">
                  <a:solidFill>
                    <a:srgbClr val="FFFFFF"/>
                  </a:solidFill>
                  <a:latin typeface="Montserrat ExtraBold"/>
                  <a:ea typeface="Montserrat ExtraBold"/>
                  <a:cs typeface="Montserrat ExtraBold"/>
                  <a:sym typeface="Montserrat ExtraBold"/>
                </a:rPr>
                <a:t>Thank </a:t>
              </a:r>
              <a:r>
                <a:rPr lang="en-US" sz="5200">
                  <a:solidFill>
                    <a:srgbClr val="F39C12"/>
                  </a:solidFill>
                  <a:latin typeface="Montserrat ExtraBold"/>
                  <a:ea typeface="Montserrat ExtraBold"/>
                  <a:cs typeface="Montserrat ExtraBold"/>
                  <a:sym typeface="Montserrat ExtraBold"/>
                </a:rPr>
                <a:t>you</a:t>
              </a:r>
              <a:endParaRPr b="0" sz="5200">
                <a:solidFill>
                  <a:srgbClr val="F39C12"/>
                </a:solidFill>
                <a:latin typeface="Montserrat ExtraBold"/>
                <a:ea typeface="Montserrat ExtraBold"/>
                <a:cs typeface="Montserrat ExtraBold"/>
                <a:sym typeface="Montserrat ExtraBold"/>
              </a:endParaRPr>
            </a:p>
          </p:txBody>
        </p:sp>
      </p:grpSp>
      <p:sp>
        <p:nvSpPr>
          <p:cNvPr id="364" name="Google Shape;364;p23"/>
          <p:cNvSpPr txBox="1"/>
          <p:nvPr>
            <p:ph idx="12" type="sldNum"/>
          </p:nvPr>
        </p:nvSpPr>
        <p:spPr>
          <a:xfrm>
            <a:off x="9744675"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