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
      <p:font typeface="Montserrat"/>
      <p:regular r:id="rId23"/>
      <p:bold r:id="rId24"/>
      <p:italic r:id="rId25"/>
      <p:boldItalic r:id="rId26"/>
    </p:embeddedFont>
    <p:embeddedFont>
      <p:font typeface="Open Sans SemiBold"/>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22" Type="http://schemas.openxmlformats.org/officeDocument/2006/relationships/font" Target="fonts/Lato-boldItalic.fntdata"/><Relationship Id="rId21" Type="http://schemas.openxmlformats.org/officeDocument/2006/relationships/font" Target="fonts/Lato-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OpenSansSemiBold-bold.fntdata"/><Relationship Id="rId27" Type="http://schemas.openxmlformats.org/officeDocument/2006/relationships/font" Target="fonts/OpenSans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Semi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regular.fntdata"/><Relationship Id="rId30" Type="http://schemas.openxmlformats.org/officeDocument/2006/relationships/font" Target="fonts/OpenSansSemiBold-boldItalic.fntdata"/><Relationship Id="rId11" Type="http://schemas.openxmlformats.org/officeDocument/2006/relationships/slide" Target="slides/slide6.xml"/><Relationship Id="rId33" Type="http://schemas.openxmlformats.org/officeDocument/2006/relationships/font" Target="fonts/OpenSans-italic.fntdata"/><Relationship Id="rId10" Type="http://schemas.openxmlformats.org/officeDocument/2006/relationships/slide" Target="slides/slide5.xml"/><Relationship Id="rId32" Type="http://schemas.openxmlformats.org/officeDocument/2006/relationships/font" Target="fonts/OpenSans-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OpenSans-boldItalic.fntdata"/><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19" Type="http://schemas.openxmlformats.org/officeDocument/2006/relationships/font" Target="fonts/Lato-regular.fntdata"/><Relationship Id="rId18" Type="http://schemas.openxmlformats.org/officeDocument/2006/relationships/font" Target="fonts/Raleway-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409e13cc8f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409e13cc8f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409e13cc8fe_0_1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409e13cc8fe_0_1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409e13cc8fe_0_2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409e13cc8fe_0_2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409e13cc8f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409e13cc8f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409e13cc8f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409e13cc8f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409e13cc8f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409e13cc8f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409e13cc8f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409e13cc8f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409e13cc8fe_0_2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409e13cc8fe_0_2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409e13cc8fe_0_3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409e13cc8fe_0_3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409e13cc8fe_62_0)">
  <p:cSld name="Generated (g409e13cc8fe_62_0)">
    <p:spTree>
      <p:nvGrpSpPr>
        <p:cNvPr id="82" name="Shape 82"/>
        <p:cNvGrpSpPr/>
        <p:nvPr/>
      </p:nvGrpSpPr>
      <p:grpSpPr>
        <a:xfrm>
          <a:off x="0" y="0"/>
          <a:ext cx="0" cy="0"/>
          <a:chOff x="0" y="0"/>
          <a:chExt cx="0" cy="0"/>
        </a:xfrm>
      </p:grpSpPr>
      <p:sp>
        <p:nvSpPr>
          <p:cNvPr id="83" name="Google Shape;83;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87" name="Shape 87"/>
        <p:cNvGrpSpPr/>
        <p:nvPr/>
      </p:nvGrpSpPr>
      <p:grpSpPr>
        <a:xfrm>
          <a:off x="0" y="0"/>
          <a:ext cx="0" cy="0"/>
          <a:chOff x="0" y="0"/>
          <a:chExt cx="0" cy="0"/>
        </a:xfrm>
      </p:grpSpPr>
      <p:sp>
        <p:nvSpPr>
          <p:cNvPr id="88" name="Google Shape;88;p14"/>
          <p:cNvSpPr txBox="1"/>
          <p:nvPr/>
        </p:nvSpPr>
        <p:spPr>
          <a:xfrm>
            <a:off x="0" y="415875"/>
            <a:ext cx="7257000" cy="29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4800">
                <a:solidFill>
                  <a:srgbClr val="0D47A1"/>
                </a:solidFill>
                <a:latin typeface="Montserrat"/>
                <a:ea typeface="Montserrat"/>
                <a:cs typeface="Montserrat"/>
                <a:sym typeface="Montserrat"/>
              </a:rPr>
              <a:t>Movie Money Maker</a:t>
            </a:r>
            <a:endParaRPr b="1" sz="4800">
              <a:solidFill>
                <a:srgbClr val="0D47A1"/>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GB" sz="2400">
                <a:solidFill>
                  <a:srgbClr val="333333"/>
                </a:solidFill>
                <a:latin typeface="Open Sans"/>
                <a:ea typeface="Open Sans"/>
                <a:cs typeface="Open Sans"/>
                <a:sym typeface="Open Sans"/>
              </a:rPr>
              <a:t>Data Science Technical Assessment</a:t>
            </a:r>
            <a:endParaRPr sz="2400">
              <a:solidFill>
                <a:srgbClr val="333333"/>
              </a:solidFill>
              <a:latin typeface="Open Sans"/>
              <a:ea typeface="Open Sans"/>
              <a:cs typeface="Open Sans"/>
              <a:sym typeface="Open Sans"/>
            </a:endParaRPr>
          </a:p>
          <a:p>
            <a:pPr indent="0" lvl="0" marL="0" rtl="0" algn="l">
              <a:spcBef>
                <a:spcPts val="0"/>
              </a:spcBef>
              <a:spcAft>
                <a:spcPts val="0"/>
              </a:spcAft>
              <a:buNone/>
            </a:pPr>
            <a:r>
              <a:rPr lang="en-GB" sz="1800">
                <a:solidFill>
                  <a:srgbClr val="333333"/>
                </a:solidFill>
                <a:latin typeface="Open Sans"/>
                <a:ea typeface="Open Sans"/>
                <a:cs typeface="Open Sans"/>
                <a:sym typeface="Open Sans"/>
              </a:rPr>
              <a:t>Process &amp; Architecture Walkthrough</a:t>
            </a:r>
            <a:endParaRPr sz="1800">
              <a:solidFill>
                <a:srgbClr val="333333"/>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grpSp>
        <p:nvGrpSpPr>
          <p:cNvPr id="89" name="Google Shape;89;p14"/>
          <p:cNvGrpSpPr/>
          <p:nvPr/>
        </p:nvGrpSpPr>
        <p:grpSpPr>
          <a:xfrm>
            <a:off x="8001000" y="4572000"/>
            <a:ext cx="571500" cy="285900"/>
            <a:chOff x="0" y="0"/>
            <a:chExt cx="571500" cy="285900"/>
          </a:xfrm>
        </p:grpSpPr>
        <p:sp>
          <p:nvSpPr>
            <p:cNvPr id="90" name="Google Shape;90;p14"/>
            <p:cNvSpPr/>
            <p:nvPr/>
          </p:nvSpPr>
          <p:spPr>
            <a:xfrm>
              <a:off x="0" y="0"/>
              <a:ext cx="571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4"/>
            <p:cNvSpPr txBox="1"/>
            <p:nvPr/>
          </p:nvSpPr>
          <p:spPr>
            <a:xfrm>
              <a:off x="0" y="0"/>
              <a:ext cx="5715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t/>
              </a:r>
              <a:endParaRPr b="0" i="0" sz="1400">
                <a:solidFill>
                  <a:srgbClr val="0D47A1"/>
                </a:solidFill>
                <a:latin typeface="Open Sans SemiBold"/>
                <a:ea typeface="Open Sans SemiBold"/>
                <a:cs typeface="Open Sans SemiBold"/>
                <a:sym typeface="Open Sans SemiBold"/>
              </a:endParaRPr>
            </a:p>
          </p:txBody>
        </p:sp>
      </p:grpSp>
      <p:sp>
        <p:nvSpPr>
          <p:cNvPr id="92" name="Google Shape;92;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96" name="Shape 96"/>
        <p:cNvGrpSpPr/>
        <p:nvPr/>
      </p:nvGrpSpPr>
      <p:grpSpPr>
        <a:xfrm>
          <a:off x="0" y="0"/>
          <a:ext cx="0" cy="0"/>
          <a:chOff x="0" y="0"/>
          <a:chExt cx="0" cy="0"/>
        </a:xfrm>
      </p:grpSpPr>
      <p:sp>
        <p:nvSpPr>
          <p:cNvPr id="97" name="Google Shape;97;p15"/>
          <p:cNvSpPr txBox="1"/>
          <p:nvPr/>
        </p:nvSpPr>
        <p:spPr>
          <a:xfrm>
            <a:off x="476250" y="285750"/>
            <a:ext cx="8191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800">
                <a:solidFill>
                  <a:srgbClr val="0D47A1"/>
                </a:solidFill>
                <a:latin typeface="Montserrat"/>
                <a:ea typeface="Montserrat"/>
                <a:cs typeface="Montserrat"/>
                <a:sym typeface="Montserrat"/>
              </a:rPr>
              <a:t>Data Collection &amp; API </a:t>
            </a:r>
            <a:r>
              <a:rPr b="1" lang="en-GB" sz="2800">
                <a:solidFill>
                  <a:srgbClr val="0D47A1"/>
                </a:solidFill>
                <a:latin typeface="Montserrat"/>
                <a:ea typeface="Montserrat"/>
                <a:cs typeface="Montserrat"/>
                <a:sym typeface="Montserrat"/>
              </a:rPr>
              <a:t>Integration (BONUS)</a:t>
            </a:r>
            <a:endParaRPr b="1" sz="2800">
              <a:solidFill>
                <a:srgbClr val="0D47A1"/>
              </a:solidFill>
              <a:latin typeface="Montserrat"/>
              <a:ea typeface="Montserrat"/>
              <a:cs typeface="Montserrat"/>
              <a:sym typeface="Montserrat"/>
            </a:endParaRPr>
          </a:p>
        </p:txBody>
      </p:sp>
      <p:grpSp>
        <p:nvGrpSpPr>
          <p:cNvPr id="98" name="Google Shape;98;p15"/>
          <p:cNvGrpSpPr/>
          <p:nvPr/>
        </p:nvGrpSpPr>
        <p:grpSpPr>
          <a:xfrm>
            <a:off x="476250" y="904875"/>
            <a:ext cx="3905400" cy="1143000"/>
            <a:chOff x="0" y="0"/>
            <a:chExt cx="3905400" cy="1143000"/>
          </a:xfrm>
        </p:grpSpPr>
        <p:sp>
          <p:nvSpPr>
            <p:cNvPr id="99" name="Google Shape;99;p15"/>
            <p:cNvSpPr/>
            <p:nvPr/>
          </p:nvSpPr>
          <p:spPr>
            <a:xfrm>
              <a:off x="0" y="0"/>
              <a:ext cx="3905400" cy="1143000"/>
            </a:xfrm>
            <a:prstGeom prst="roundRect">
              <a:avLst>
                <a:gd fmla="val 8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3371850" y="133350"/>
              <a:ext cx="3810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01" name="Google Shape;101;p15"/>
            <p:cNvSpPr txBox="1"/>
            <p:nvPr/>
          </p:nvSpPr>
          <p:spPr>
            <a:xfrm>
              <a:off x="228600" y="152400"/>
              <a:ext cx="3048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Baseline Data Validation</a:t>
              </a:r>
              <a:endParaRPr b="1" i="0" sz="1100" u="none" strike="noStrike">
                <a:solidFill>
                  <a:srgbClr val="0D47A1"/>
                </a:solidFill>
                <a:latin typeface="Montserrat"/>
                <a:ea typeface="Montserrat"/>
                <a:cs typeface="Montserrat"/>
                <a:sym typeface="Montserrat"/>
              </a:endParaRPr>
            </a:p>
          </p:txBody>
        </p:sp>
        <p:sp>
          <p:nvSpPr>
            <p:cNvPr id="102" name="Google Shape;102;p15"/>
            <p:cNvSpPr txBox="1"/>
            <p:nvPr/>
          </p:nvSpPr>
          <p:spPr>
            <a:xfrm>
              <a:off x="228600" y="419100"/>
              <a:ext cx="3429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GB" sz="950" u="none" strike="noStrike">
                  <a:solidFill>
                    <a:srgbClr val="475569"/>
                  </a:solidFill>
                  <a:latin typeface="Open Sans"/>
                  <a:ea typeface="Open Sans"/>
                  <a:cs typeface="Open Sans"/>
                  <a:sym typeface="Open Sans"/>
                </a:rPr>
                <a:t>Identified hundreds of missing or placeholder ($0) financial records in the initial IMDB Top 5000 dataset.</a:t>
              </a:r>
              <a:endParaRPr b="0" i="0" sz="950" u="none" strike="noStrike">
                <a:solidFill>
                  <a:srgbClr val="475569"/>
                </a:solidFill>
                <a:latin typeface="Open Sans"/>
                <a:ea typeface="Open Sans"/>
                <a:cs typeface="Open Sans"/>
                <a:sym typeface="Open Sans"/>
              </a:endParaRPr>
            </a:p>
          </p:txBody>
        </p:sp>
      </p:grpSp>
      <p:grpSp>
        <p:nvGrpSpPr>
          <p:cNvPr id="103" name="Google Shape;103;p15"/>
          <p:cNvGrpSpPr/>
          <p:nvPr/>
        </p:nvGrpSpPr>
        <p:grpSpPr>
          <a:xfrm>
            <a:off x="476250" y="2190750"/>
            <a:ext cx="3905400" cy="1143000"/>
            <a:chOff x="0" y="0"/>
            <a:chExt cx="3905400" cy="1143000"/>
          </a:xfrm>
        </p:grpSpPr>
        <p:sp>
          <p:nvSpPr>
            <p:cNvPr id="104" name="Google Shape;104;p15"/>
            <p:cNvSpPr/>
            <p:nvPr/>
          </p:nvSpPr>
          <p:spPr>
            <a:xfrm>
              <a:off x="0" y="0"/>
              <a:ext cx="3905400" cy="1143000"/>
            </a:xfrm>
            <a:prstGeom prst="roundRect">
              <a:avLst>
                <a:gd fmla="val 8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3371850" y="133350"/>
              <a:ext cx="381000"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06" name="Google Shape;106;p15"/>
            <p:cNvSpPr txBox="1"/>
            <p:nvPr/>
          </p:nvSpPr>
          <p:spPr>
            <a:xfrm>
              <a:off x="228600" y="152400"/>
              <a:ext cx="3048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Live TMDB REST API Enrichment</a:t>
              </a:r>
              <a:endParaRPr b="1" i="0" sz="1100" u="none" strike="noStrike">
                <a:solidFill>
                  <a:srgbClr val="0D47A1"/>
                </a:solidFill>
                <a:latin typeface="Montserrat"/>
                <a:ea typeface="Montserrat"/>
                <a:cs typeface="Montserrat"/>
                <a:sym typeface="Montserrat"/>
              </a:endParaRPr>
            </a:p>
          </p:txBody>
        </p:sp>
        <p:sp>
          <p:nvSpPr>
            <p:cNvPr id="107" name="Google Shape;107;p15"/>
            <p:cNvSpPr txBox="1"/>
            <p:nvPr/>
          </p:nvSpPr>
          <p:spPr>
            <a:xfrm>
              <a:off x="228600" y="419100"/>
              <a:ext cx="3429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GB" sz="950" u="none" strike="noStrike">
                  <a:solidFill>
                    <a:srgbClr val="475569"/>
                  </a:solidFill>
                  <a:latin typeface="Open Sans"/>
                  <a:ea typeface="Open Sans"/>
                  <a:cs typeface="Open Sans"/>
                  <a:sym typeface="Open Sans"/>
                </a:rPr>
                <a:t>Queried external JSON data endpoints using unique movie_id keys to fetch real-time social popularity, live vote averages, and updated box office revenues. This is shown </a:t>
              </a:r>
              <a:r>
                <a:rPr lang="en-GB" sz="950">
                  <a:solidFill>
                    <a:srgbClr val="475569"/>
                  </a:solidFill>
                  <a:latin typeface="Open Sans"/>
                  <a:ea typeface="Open Sans"/>
                  <a:cs typeface="Open Sans"/>
                  <a:sym typeface="Open Sans"/>
                </a:rPr>
                <a:t>in the flowchart.</a:t>
              </a:r>
              <a:endParaRPr b="0" i="0" sz="950" u="none" strike="noStrike">
                <a:solidFill>
                  <a:srgbClr val="475569"/>
                </a:solidFill>
                <a:latin typeface="Open Sans"/>
                <a:ea typeface="Open Sans"/>
                <a:cs typeface="Open Sans"/>
                <a:sym typeface="Open Sans"/>
              </a:endParaRPr>
            </a:p>
          </p:txBody>
        </p:sp>
      </p:grpSp>
      <p:grpSp>
        <p:nvGrpSpPr>
          <p:cNvPr id="108" name="Google Shape;108;p15"/>
          <p:cNvGrpSpPr/>
          <p:nvPr/>
        </p:nvGrpSpPr>
        <p:grpSpPr>
          <a:xfrm>
            <a:off x="476250" y="3476625"/>
            <a:ext cx="3905400" cy="1285800"/>
            <a:chOff x="0" y="0"/>
            <a:chExt cx="3905400" cy="1285800"/>
          </a:xfrm>
        </p:grpSpPr>
        <p:sp>
          <p:nvSpPr>
            <p:cNvPr id="109" name="Google Shape;109;p15"/>
            <p:cNvSpPr/>
            <p:nvPr/>
          </p:nvSpPr>
          <p:spPr>
            <a:xfrm>
              <a:off x="0" y="0"/>
              <a:ext cx="3905400" cy="12858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5"/>
            <p:cNvSpPr txBox="1"/>
            <p:nvPr/>
          </p:nvSpPr>
          <p:spPr>
            <a:xfrm>
              <a:off x="228600" y="152400"/>
              <a:ext cx="3048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MLOps &amp; Caching</a:t>
              </a:r>
              <a:endParaRPr b="1" i="0" sz="1100" u="none" strike="noStrike">
                <a:solidFill>
                  <a:srgbClr val="0D47A1"/>
                </a:solidFill>
                <a:latin typeface="Montserrat"/>
                <a:ea typeface="Montserrat"/>
                <a:cs typeface="Montserrat"/>
                <a:sym typeface="Montserrat"/>
              </a:endParaRPr>
            </a:p>
          </p:txBody>
        </p:sp>
        <p:sp>
          <p:nvSpPr>
            <p:cNvPr id="111" name="Google Shape;111;p15"/>
            <p:cNvSpPr txBox="1"/>
            <p:nvPr/>
          </p:nvSpPr>
          <p:spPr>
            <a:xfrm>
              <a:off x="228600" y="419100"/>
              <a:ext cx="3429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GB" sz="950" u="none" strike="noStrike">
                  <a:solidFill>
                    <a:srgbClr val="475569"/>
                  </a:solidFill>
                  <a:latin typeface="Open Sans"/>
                  <a:ea typeface="Open Sans"/>
                  <a:cs typeface="Open Sans"/>
                  <a:sym typeface="Open Sans"/>
                </a:rPr>
                <a:t>Engineered a caching function to save enriched data locally (tmdb_5000_enriched.csv). This prevents redundant network calls, bypasses API rate limits during model training, and ensures absolute reproducibility.</a:t>
              </a:r>
              <a:endParaRPr b="0" i="0" sz="950" u="none" strike="noStrike">
                <a:solidFill>
                  <a:srgbClr val="475569"/>
                </a:solidFill>
                <a:latin typeface="Open Sans"/>
                <a:ea typeface="Open Sans"/>
                <a:cs typeface="Open Sans"/>
                <a:sym typeface="Open Sans"/>
              </a:endParaRPr>
            </a:p>
          </p:txBody>
        </p:sp>
      </p:grpSp>
      <p:pic>
        <p:nvPicPr>
          <p:cNvPr id="112" name="Google Shape;112;p15"/>
          <p:cNvPicPr preferRelativeResize="0"/>
          <p:nvPr/>
        </p:nvPicPr>
        <p:blipFill rotWithShape="1">
          <a:blip r:embed="rId3">
            <a:alphaModFix/>
          </a:blip>
          <a:srcRect b="0" l="0" r="0" t="0"/>
          <a:stretch/>
        </p:blipFill>
        <p:spPr>
          <a:xfrm>
            <a:off x="4752975" y="904875"/>
            <a:ext cx="19200" cy="3848100"/>
          </a:xfrm>
          <a:prstGeom prst="rect">
            <a:avLst/>
          </a:prstGeom>
          <a:noFill/>
          <a:ln>
            <a:noFill/>
          </a:ln>
        </p:spPr>
      </p:pic>
      <p:pic>
        <p:nvPicPr>
          <p:cNvPr id="113" name="Google Shape;113;p15"/>
          <p:cNvPicPr preferRelativeResize="0"/>
          <p:nvPr/>
        </p:nvPicPr>
        <p:blipFill>
          <a:blip r:embed="rId4">
            <a:alphaModFix/>
          </a:blip>
          <a:stretch>
            <a:fillRect/>
          </a:stretch>
        </p:blipFill>
        <p:spPr>
          <a:xfrm>
            <a:off x="5354021" y="904875"/>
            <a:ext cx="2736383" cy="4238625"/>
          </a:xfrm>
          <a:prstGeom prst="rect">
            <a:avLst/>
          </a:prstGeom>
          <a:noFill/>
          <a:ln>
            <a:noFill/>
          </a:ln>
        </p:spPr>
      </p:pic>
      <p:grpSp>
        <p:nvGrpSpPr>
          <p:cNvPr id="114" name="Google Shape;114;p15"/>
          <p:cNvGrpSpPr/>
          <p:nvPr/>
        </p:nvGrpSpPr>
        <p:grpSpPr>
          <a:xfrm>
            <a:off x="8001000" y="4572000"/>
            <a:ext cx="571500" cy="285900"/>
            <a:chOff x="0" y="0"/>
            <a:chExt cx="571500" cy="285900"/>
          </a:xfrm>
        </p:grpSpPr>
        <p:sp>
          <p:nvSpPr>
            <p:cNvPr id="115" name="Google Shape;115;p15"/>
            <p:cNvSpPr/>
            <p:nvPr/>
          </p:nvSpPr>
          <p:spPr>
            <a:xfrm>
              <a:off x="0" y="0"/>
              <a:ext cx="571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5"/>
            <p:cNvSpPr txBox="1"/>
            <p:nvPr/>
          </p:nvSpPr>
          <p:spPr>
            <a:xfrm>
              <a:off x="0" y="0"/>
              <a:ext cx="5715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t/>
              </a:r>
              <a:endParaRPr b="0" i="0" sz="1400">
                <a:solidFill>
                  <a:srgbClr val="0D47A1"/>
                </a:solidFill>
                <a:latin typeface="Open Sans SemiBold"/>
                <a:ea typeface="Open Sans SemiBold"/>
                <a:cs typeface="Open Sans SemiBold"/>
                <a:sym typeface="Open Sans SemiBold"/>
              </a:endParaRPr>
            </a:p>
          </p:txBody>
        </p:sp>
      </p:grpSp>
      <p:sp>
        <p:nvSpPr>
          <p:cNvPr id="117" name="Google Shape;117;p1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121" name="Shape 121"/>
        <p:cNvGrpSpPr/>
        <p:nvPr/>
      </p:nvGrpSpPr>
      <p:grpSpPr>
        <a:xfrm>
          <a:off x="0" y="0"/>
          <a:ext cx="0" cy="0"/>
          <a:chOff x="0" y="0"/>
          <a:chExt cx="0" cy="0"/>
        </a:xfrm>
      </p:grpSpPr>
      <p:sp>
        <p:nvSpPr>
          <p:cNvPr id="122" name="Google Shape;122;p16"/>
          <p:cNvSpPr txBox="1"/>
          <p:nvPr/>
        </p:nvSpPr>
        <p:spPr>
          <a:xfrm>
            <a:off x="571500" y="19050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GB" sz="2720" u="none" strike="noStrike">
                <a:solidFill>
                  <a:srgbClr val="0D47A1"/>
                </a:solidFill>
                <a:latin typeface="Montserrat"/>
                <a:ea typeface="Montserrat"/>
                <a:cs typeface="Montserrat"/>
                <a:sym typeface="Montserrat"/>
              </a:rPr>
              <a:t>Exploratory Data Mining &amp; Transformation</a:t>
            </a:r>
            <a:endParaRPr b="1" i="0" sz="2720" u="none" strike="noStrike">
              <a:solidFill>
                <a:srgbClr val="0D47A1"/>
              </a:solidFill>
              <a:latin typeface="Montserrat"/>
              <a:ea typeface="Montserrat"/>
              <a:cs typeface="Montserrat"/>
              <a:sym typeface="Montserrat"/>
            </a:endParaRPr>
          </a:p>
        </p:txBody>
      </p:sp>
      <p:grpSp>
        <p:nvGrpSpPr>
          <p:cNvPr id="123" name="Google Shape;123;p16"/>
          <p:cNvGrpSpPr/>
          <p:nvPr/>
        </p:nvGrpSpPr>
        <p:grpSpPr>
          <a:xfrm>
            <a:off x="476253" y="904875"/>
            <a:ext cx="3257104" cy="1143000"/>
            <a:chOff x="-142875" y="-285750"/>
            <a:chExt cx="3905400" cy="1143000"/>
          </a:xfrm>
        </p:grpSpPr>
        <p:sp>
          <p:nvSpPr>
            <p:cNvPr id="124" name="Google Shape;124;p16"/>
            <p:cNvSpPr/>
            <p:nvPr/>
          </p:nvSpPr>
          <p:spPr>
            <a:xfrm>
              <a:off x="-142875" y="-285750"/>
              <a:ext cx="3905400" cy="1143000"/>
            </a:xfrm>
            <a:prstGeom prst="roundRect">
              <a:avLst>
                <a:gd fmla="val 10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6"/>
            <p:cNvSpPr txBox="1"/>
            <p:nvPr/>
          </p:nvSpPr>
          <p:spPr>
            <a:xfrm>
              <a:off x="85725" y="-133350"/>
              <a:ext cx="3048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Distribution Skewness</a:t>
              </a:r>
              <a:endParaRPr b="1" i="0" sz="1100" u="none" strike="noStrike">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950" u="none" strike="noStrike">
                  <a:solidFill>
                    <a:srgbClr val="475569"/>
                  </a:solidFill>
                  <a:latin typeface="Open Sans"/>
                  <a:ea typeface="Open Sans"/>
                  <a:cs typeface="Open Sans"/>
                  <a:sym typeface="Open Sans"/>
                </a:rPr>
                <a:t>Revenue follows a severe power-law distribution. Applied log1p transformations to target variables to stabilize variance.</a:t>
              </a:r>
              <a:endParaRPr b="1" i="0" sz="950" u="none" strike="noStrike">
                <a:solidFill>
                  <a:srgbClr val="0D47A1"/>
                </a:solidFill>
                <a:latin typeface="Montserrat"/>
                <a:ea typeface="Montserrat"/>
                <a:cs typeface="Montserrat"/>
                <a:sym typeface="Montserrat"/>
              </a:endParaRPr>
            </a:p>
          </p:txBody>
        </p:sp>
      </p:grpSp>
      <p:grpSp>
        <p:nvGrpSpPr>
          <p:cNvPr id="126" name="Google Shape;126;p16"/>
          <p:cNvGrpSpPr/>
          <p:nvPr/>
        </p:nvGrpSpPr>
        <p:grpSpPr>
          <a:xfrm>
            <a:off x="476247" y="2190750"/>
            <a:ext cx="3257104" cy="1143000"/>
            <a:chOff x="-2857500" y="1000125"/>
            <a:chExt cx="3905400" cy="1143000"/>
          </a:xfrm>
        </p:grpSpPr>
        <p:sp>
          <p:nvSpPr>
            <p:cNvPr id="127" name="Google Shape;127;p16"/>
            <p:cNvSpPr/>
            <p:nvPr/>
          </p:nvSpPr>
          <p:spPr>
            <a:xfrm>
              <a:off x="-2857500" y="1000125"/>
              <a:ext cx="3905400" cy="1143000"/>
            </a:xfrm>
            <a:prstGeom prst="roundRect">
              <a:avLst>
                <a:gd fmla="val 10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txBox="1"/>
            <p:nvPr/>
          </p:nvSpPr>
          <p:spPr>
            <a:xfrm>
              <a:off x="514350" y="1133475"/>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29" name="Google Shape;129;p16"/>
            <p:cNvSpPr txBox="1"/>
            <p:nvPr/>
          </p:nvSpPr>
          <p:spPr>
            <a:xfrm>
              <a:off x="-2628900" y="1152525"/>
              <a:ext cx="3048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Data Parsing</a:t>
              </a:r>
              <a:endParaRPr b="1" i="0" sz="1100" u="none" strike="noStrike">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950" u="none" strike="noStrike">
                  <a:solidFill>
                    <a:srgbClr val="475569"/>
                  </a:solidFill>
                  <a:latin typeface="Open Sans"/>
                  <a:ea typeface="Open Sans"/>
                  <a:cs typeface="Open Sans"/>
                  <a:sym typeface="Open Sans"/>
                </a:rPr>
                <a:t>Extracted core entities (top-3 actors, </a:t>
              </a:r>
              <a:r>
                <a:rPr lang="en-GB" sz="950">
                  <a:solidFill>
                    <a:srgbClr val="475569"/>
                  </a:solidFill>
                  <a:latin typeface="Open Sans"/>
                  <a:ea typeface="Open Sans"/>
                  <a:cs typeface="Open Sans"/>
                  <a:sym typeface="Open Sans"/>
                </a:rPr>
                <a:t>directors, and</a:t>
              </a:r>
              <a:r>
                <a:rPr b="0" i="0" lang="en-GB" sz="950" u="none" strike="noStrike">
                  <a:solidFill>
                    <a:srgbClr val="475569"/>
                  </a:solidFill>
                  <a:latin typeface="Open Sans"/>
                  <a:ea typeface="Open Sans"/>
                  <a:cs typeface="Open Sans"/>
                  <a:sym typeface="Open Sans"/>
                </a:rPr>
                <a:t> producers) from complex nested JSON string arrays.</a:t>
              </a:r>
              <a:endParaRPr b="1" i="0" sz="950" u="none" strike="noStrike">
                <a:solidFill>
                  <a:srgbClr val="0D47A1"/>
                </a:solidFill>
                <a:latin typeface="Montserrat"/>
                <a:ea typeface="Montserrat"/>
                <a:cs typeface="Montserrat"/>
                <a:sym typeface="Montserrat"/>
              </a:endParaRPr>
            </a:p>
          </p:txBody>
        </p:sp>
      </p:grpSp>
      <p:grpSp>
        <p:nvGrpSpPr>
          <p:cNvPr id="130" name="Google Shape;130;p16"/>
          <p:cNvGrpSpPr/>
          <p:nvPr/>
        </p:nvGrpSpPr>
        <p:grpSpPr>
          <a:xfrm>
            <a:off x="476245" y="3476625"/>
            <a:ext cx="3257104" cy="1190700"/>
            <a:chOff x="-5572125" y="2286000"/>
            <a:chExt cx="3905400" cy="1190700"/>
          </a:xfrm>
        </p:grpSpPr>
        <p:sp>
          <p:nvSpPr>
            <p:cNvPr id="131" name="Google Shape;131;p16"/>
            <p:cNvSpPr/>
            <p:nvPr/>
          </p:nvSpPr>
          <p:spPr>
            <a:xfrm>
              <a:off x="-5572125" y="2286000"/>
              <a:ext cx="3905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txBox="1"/>
            <p:nvPr/>
          </p:nvSpPr>
          <p:spPr>
            <a:xfrm>
              <a:off x="-2200275" y="241935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33" name="Google Shape;133;p16"/>
            <p:cNvSpPr txBox="1"/>
            <p:nvPr/>
          </p:nvSpPr>
          <p:spPr>
            <a:xfrm>
              <a:off x="-5343525" y="2438400"/>
              <a:ext cx="3048000" cy="9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High-Fidelity Filtering</a:t>
              </a:r>
              <a:endParaRPr b="1" i="0" sz="1100" u="none" strike="noStrike">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950" u="none" strike="noStrike">
                  <a:solidFill>
                    <a:srgbClr val="475569"/>
                  </a:solidFill>
                  <a:latin typeface="Open Sans"/>
                  <a:ea typeface="Open Sans"/>
                  <a:cs typeface="Open Sans"/>
                  <a:sym typeface="Open Sans"/>
                </a:rPr>
                <a:t>Filtered out unreleased titles, missing runtimes, and unrecoverable $0 financial rows to guarantee high-fidelity training data (3,229 pristine records).</a:t>
              </a:r>
              <a:endParaRPr b="1" i="0" sz="950" u="none" strike="noStrike">
                <a:solidFill>
                  <a:srgbClr val="0D47A1"/>
                </a:solidFill>
                <a:latin typeface="Montserrat"/>
                <a:ea typeface="Montserrat"/>
                <a:cs typeface="Montserrat"/>
                <a:sym typeface="Montserrat"/>
              </a:endParaRPr>
            </a:p>
          </p:txBody>
        </p:sp>
      </p:grpSp>
      <p:pic>
        <p:nvPicPr>
          <p:cNvPr id="134" name="Google Shape;134;p16"/>
          <p:cNvPicPr preferRelativeResize="0"/>
          <p:nvPr/>
        </p:nvPicPr>
        <p:blipFill>
          <a:blip r:embed="rId3">
            <a:alphaModFix/>
          </a:blip>
          <a:stretch>
            <a:fillRect/>
          </a:stretch>
        </p:blipFill>
        <p:spPr>
          <a:xfrm>
            <a:off x="3818500" y="904875"/>
            <a:ext cx="5291475" cy="2163576"/>
          </a:xfrm>
          <a:prstGeom prst="rect">
            <a:avLst/>
          </a:prstGeom>
          <a:noFill/>
          <a:ln>
            <a:noFill/>
          </a:ln>
        </p:spPr>
      </p:pic>
      <p:pic>
        <p:nvPicPr>
          <p:cNvPr id="135" name="Google Shape;135;p16"/>
          <p:cNvPicPr preferRelativeResize="0"/>
          <p:nvPr/>
        </p:nvPicPr>
        <p:blipFill>
          <a:blip r:embed="rId4">
            <a:alphaModFix/>
          </a:blip>
          <a:stretch>
            <a:fillRect/>
          </a:stretch>
        </p:blipFill>
        <p:spPr>
          <a:xfrm>
            <a:off x="3818500" y="3211325"/>
            <a:ext cx="5291476" cy="1432150"/>
          </a:xfrm>
          <a:prstGeom prst="rect">
            <a:avLst/>
          </a:prstGeom>
          <a:noFill/>
          <a:ln>
            <a:noFill/>
          </a:ln>
        </p:spPr>
      </p:pic>
      <p:sp>
        <p:nvSpPr>
          <p:cNvPr id="136" name="Google Shape;136;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140" name="Shape 140"/>
        <p:cNvGrpSpPr/>
        <p:nvPr/>
      </p:nvGrpSpPr>
      <p:grpSpPr>
        <a:xfrm>
          <a:off x="0" y="0"/>
          <a:ext cx="0" cy="0"/>
          <a:chOff x="0" y="0"/>
          <a:chExt cx="0" cy="0"/>
        </a:xfrm>
      </p:grpSpPr>
      <p:sp>
        <p:nvSpPr>
          <p:cNvPr id="141" name="Google Shape;141;p17"/>
          <p:cNvSpPr txBox="1"/>
          <p:nvPr/>
        </p:nvSpPr>
        <p:spPr>
          <a:xfrm>
            <a:off x="571500" y="19050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2720">
                <a:solidFill>
                  <a:srgbClr val="0D47A1"/>
                </a:solidFill>
                <a:latin typeface="Montserrat"/>
                <a:ea typeface="Montserrat"/>
                <a:cs typeface="Montserrat"/>
                <a:sym typeface="Montserrat"/>
              </a:rPr>
              <a:t>More on EDA</a:t>
            </a:r>
            <a:endParaRPr b="1" i="0" sz="2720" u="none" strike="noStrike">
              <a:solidFill>
                <a:srgbClr val="0D47A1"/>
              </a:solidFill>
              <a:latin typeface="Montserrat"/>
              <a:ea typeface="Montserrat"/>
              <a:cs typeface="Montserrat"/>
              <a:sym typeface="Montserrat"/>
            </a:endParaRPr>
          </a:p>
        </p:txBody>
      </p:sp>
      <p:grpSp>
        <p:nvGrpSpPr>
          <p:cNvPr id="142" name="Google Shape;142;p17"/>
          <p:cNvGrpSpPr/>
          <p:nvPr/>
        </p:nvGrpSpPr>
        <p:grpSpPr>
          <a:xfrm>
            <a:off x="476253" y="904875"/>
            <a:ext cx="3257104" cy="1143000"/>
            <a:chOff x="-142875" y="-285750"/>
            <a:chExt cx="3905400" cy="1143000"/>
          </a:xfrm>
        </p:grpSpPr>
        <p:sp>
          <p:nvSpPr>
            <p:cNvPr id="143" name="Google Shape;143;p17"/>
            <p:cNvSpPr/>
            <p:nvPr/>
          </p:nvSpPr>
          <p:spPr>
            <a:xfrm>
              <a:off x="-142875" y="-285750"/>
              <a:ext cx="3905400" cy="1143000"/>
            </a:xfrm>
            <a:prstGeom prst="roundRect">
              <a:avLst>
                <a:gd fmla="val 10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txBox="1"/>
            <p:nvPr/>
          </p:nvSpPr>
          <p:spPr>
            <a:xfrm>
              <a:off x="3228975" y="-15240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45" name="Google Shape;145;p17"/>
            <p:cNvSpPr txBox="1"/>
            <p:nvPr/>
          </p:nvSpPr>
          <p:spPr>
            <a:xfrm>
              <a:off x="85725" y="-133350"/>
              <a:ext cx="3048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Core Revenue Predictors</a:t>
              </a:r>
              <a:endParaRPr b="1" i="0" sz="1100" u="none" strike="noStrike">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950" u="none" strike="noStrike">
                  <a:solidFill>
                    <a:srgbClr val="475569"/>
                  </a:solidFill>
                  <a:latin typeface="Open Sans"/>
                  <a:ea typeface="Open Sans"/>
                  <a:cs typeface="Open Sans"/>
                  <a:sym typeface="Open Sans"/>
                </a:rPr>
                <a:t>Pre-release popularity and absolute budget scale exhibit the strongest positive correlations with box office revenue.</a:t>
              </a:r>
              <a:endParaRPr b="1" i="0" sz="950" u="none" strike="noStrike">
                <a:solidFill>
                  <a:srgbClr val="0D47A1"/>
                </a:solidFill>
                <a:latin typeface="Montserrat"/>
                <a:ea typeface="Montserrat"/>
                <a:cs typeface="Montserrat"/>
                <a:sym typeface="Montserrat"/>
              </a:endParaRPr>
            </a:p>
          </p:txBody>
        </p:sp>
      </p:grpSp>
      <p:grpSp>
        <p:nvGrpSpPr>
          <p:cNvPr id="146" name="Google Shape;146;p17"/>
          <p:cNvGrpSpPr/>
          <p:nvPr/>
        </p:nvGrpSpPr>
        <p:grpSpPr>
          <a:xfrm>
            <a:off x="476247" y="2190750"/>
            <a:ext cx="3257104" cy="1143000"/>
            <a:chOff x="-2857500" y="1000125"/>
            <a:chExt cx="3905400" cy="1143000"/>
          </a:xfrm>
        </p:grpSpPr>
        <p:sp>
          <p:nvSpPr>
            <p:cNvPr id="147" name="Google Shape;147;p17"/>
            <p:cNvSpPr/>
            <p:nvPr/>
          </p:nvSpPr>
          <p:spPr>
            <a:xfrm>
              <a:off x="-2857500" y="1000125"/>
              <a:ext cx="3905400" cy="1143000"/>
            </a:xfrm>
            <a:prstGeom prst="roundRect">
              <a:avLst>
                <a:gd fmla="val 10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7"/>
            <p:cNvSpPr txBox="1"/>
            <p:nvPr/>
          </p:nvSpPr>
          <p:spPr>
            <a:xfrm>
              <a:off x="514350" y="1133475"/>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49" name="Google Shape;149;p17"/>
            <p:cNvSpPr txBox="1"/>
            <p:nvPr/>
          </p:nvSpPr>
          <p:spPr>
            <a:xfrm>
              <a:off x="-2628900" y="1152525"/>
              <a:ext cx="3048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018" u="none" strike="noStrike">
                  <a:solidFill>
                    <a:srgbClr val="0D47A1"/>
                  </a:solidFill>
                  <a:latin typeface="Montserrat"/>
                  <a:ea typeface="Montserrat"/>
                  <a:cs typeface="Montserrat"/>
                  <a:sym typeface="Montserrat"/>
                </a:rPr>
                <a:t>The ROI "U-Curve"</a:t>
              </a:r>
              <a:endParaRPr b="1" i="0" sz="1018" u="none" strike="noStrike">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879" u="none" strike="noStrike">
                  <a:solidFill>
                    <a:srgbClr val="475569"/>
                  </a:solidFill>
                  <a:latin typeface="Open Sans"/>
                  <a:ea typeface="Open Sans"/>
                  <a:cs typeface="Open Sans"/>
                  <a:sym typeface="Open Sans"/>
                </a:rPr>
                <a:t>Return on Investment is highly non-linear. Micro-budgets (&lt;$5M) yield the highest pure percentage returns (3.78x median), but the $40M–$100M </a:t>
              </a:r>
              <a:r>
                <a:rPr lang="en-GB" sz="879">
                  <a:solidFill>
                    <a:srgbClr val="475569"/>
                  </a:solidFill>
                  <a:latin typeface="Open Sans"/>
                  <a:ea typeface="Open Sans"/>
                  <a:cs typeface="Open Sans"/>
                  <a:sym typeface="Open Sans"/>
                </a:rPr>
                <a:t>range has</a:t>
              </a:r>
              <a:r>
                <a:rPr b="0" i="0" lang="en-GB" sz="879" u="none" strike="noStrike">
                  <a:solidFill>
                    <a:srgbClr val="475569"/>
                  </a:solidFill>
                  <a:latin typeface="Open Sans"/>
                  <a:ea typeface="Open Sans"/>
                  <a:cs typeface="Open Sans"/>
                  <a:sym typeface="Open Sans"/>
                </a:rPr>
                <a:t> the most optimal volume.</a:t>
              </a:r>
              <a:endParaRPr b="1" i="0" sz="879" u="none" strike="noStrike">
                <a:solidFill>
                  <a:srgbClr val="0D47A1"/>
                </a:solidFill>
                <a:latin typeface="Montserrat"/>
                <a:ea typeface="Montserrat"/>
                <a:cs typeface="Montserrat"/>
                <a:sym typeface="Montserrat"/>
              </a:endParaRPr>
            </a:p>
          </p:txBody>
        </p:sp>
      </p:grpSp>
      <p:grpSp>
        <p:nvGrpSpPr>
          <p:cNvPr id="150" name="Google Shape;150;p17"/>
          <p:cNvGrpSpPr/>
          <p:nvPr/>
        </p:nvGrpSpPr>
        <p:grpSpPr>
          <a:xfrm>
            <a:off x="476245" y="3476625"/>
            <a:ext cx="3257104" cy="1190700"/>
            <a:chOff x="-5572125" y="2286000"/>
            <a:chExt cx="3905400" cy="1190700"/>
          </a:xfrm>
        </p:grpSpPr>
        <p:sp>
          <p:nvSpPr>
            <p:cNvPr id="151" name="Google Shape;151;p17"/>
            <p:cNvSpPr/>
            <p:nvPr/>
          </p:nvSpPr>
          <p:spPr>
            <a:xfrm>
              <a:off x="-5572125" y="2286000"/>
              <a:ext cx="39054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7"/>
            <p:cNvSpPr txBox="1"/>
            <p:nvPr/>
          </p:nvSpPr>
          <p:spPr>
            <a:xfrm>
              <a:off x="-2200275" y="241935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53" name="Google Shape;153;p17"/>
            <p:cNvSpPr txBox="1"/>
            <p:nvPr/>
          </p:nvSpPr>
          <p:spPr>
            <a:xfrm>
              <a:off x="-5343525" y="2438400"/>
              <a:ext cx="3048000" cy="9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018" u="none" strike="noStrike">
                  <a:solidFill>
                    <a:srgbClr val="0D47A1"/>
                  </a:solidFill>
                  <a:latin typeface="Montserrat"/>
                  <a:ea typeface="Montserrat"/>
                  <a:cs typeface="Montserrat"/>
                  <a:sym typeface="Montserrat"/>
                </a:rPr>
                <a:t>Temporal &amp; Seasonal Peaks</a:t>
              </a:r>
              <a:endParaRPr b="1" i="0" sz="1018" u="none" strike="noStrike">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879" u="none" strike="noStrike">
                  <a:solidFill>
                    <a:srgbClr val="475569"/>
                  </a:solidFill>
                  <a:latin typeface="Open Sans"/>
                  <a:ea typeface="Open Sans"/>
                  <a:cs typeface="Open Sans"/>
                  <a:sym typeface="Open Sans"/>
                </a:rPr>
                <a:t>Aggregating release dates confirmed massive consumer spending spikes in two distinct corridors: the Summer season (May–June) and the Holiday window (November–December).</a:t>
              </a:r>
              <a:endParaRPr b="1" i="0" sz="879" u="none" strike="noStrike">
                <a:solidFill>
                  <a:srgbClr val="0D47A1"/>
                </a:solidFill>
                <a:latin typeface="Montserrat"/>
                <a:ea typeface="Montserrat"/>
                <a:cs typeface="Montserrat"/>
                <a:sym typeface="Montserrat"/>
              </a:endParaRPr>
            </a:p>
          </p:txBody>
        </p:sp>
      </p:grpSp>
      <p:pic>
        <p:nvPicPr>
          <p:cNvPr id="154" name="Google Shape;154;p17"/>
          <p:cNvPicPr preferRelativeResize="0"/>
          <p:nvPr/>
        </p:nvPicPr>
        <p:blipFill>
          <a:blip r:embed="rId3">
            <a:alphaModFix/>
          </a:blip>
          <a:stretch>
            <a:fillRect/>
          </a:stretch>
        </p:blipFill>
        <p:spPr>
          <a:xfrm>
            <a:off x="4420375" y="267025"/>
            <a:ext cx="4152124" cy="3024174"/>
          </a:xfrm>
          <a:prstGeom prst="rect">
            <a:avLst/>
          </a:prstGeom>
          <a:noFill/>
          <a:ln>
            <a:noFill/>
          </a:ln>
        </p:spPr>
      </p:pic>
      <p:pic>
        <p:nvPicPr>
          <p:cNvPr id="155" name="Google Shape;155;p17"/>
          <p:cNvPicPr preferRelativeResize="0"/>
          <p:nvPr/>
        </p:nvPicPr>
        <p:blipFill>
          <a:blip r:embed="rId4">
            <a:alphaModFix/>
          </a:blip>
          <a:stretch>
            <a:fillRect/>
          </a:stretch>
        </p:blipFill>
        <p:spPr>
          <a:xfrm>
            <a:off x="4420375" y="3333750"/>
            <a:ext cx="4152126" cy="1734900"/>
          </a:xfrm>
          <a:prstGeom prst="rect">
            <a:avLst/>
          </a:prstGeom>
          <a:noFill/>
          <a:ln>
            <a:noFill/>
          </a:ln>
        </p:spPr>
      </p:pic>
      <p:sp>
        <p:nvSpPr>
          <p:cNvPr id="156" name="Google Shape;156;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160" name="Shape 160"/>
        <p:cNvGrpSpPr/>
        <p:nvPr/>
      </p:nvGrpSpPr>
      <p:grpSpPr>
        <a:xfrm>
          <a:off x="0" y="0"/>
          <a:ext cx="0" cy="0"/>
          <a:chOff x="0" y="0"/>
          <a:chExt cx="0" cy="0"/>
        </a:xfrm>
      </p:grpSpPr>
      <p:sp>
        <p:nvSpPr>
          <p:cNvPr id="161" name="Google Shape;161;p18"/>
          <p:cNvSpPr txBox="1"/>
          <p:nvPr/>
        </p:nvSpPr>
        <p:spPr>
          <a:xfrm>
            <a:off x="571500" y="28575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2800">
                <a:solidFill>
                  <a:srgbClr val="0D47A1"/>
                </a:solidFill>
                <a:latin typeface="Montserrat"/>
                <a:ea typeface="Montserrat"/>
                <a:cs typeface="Montserrat"/>
                <a:sym typeface="Montserrat"/>
              </a:rPr>
              <a:t>Feature Engineering: Target Encoding</a:t>
            </a:r>
            <a:endParaRPr b="1" sz="2800">
              <a:solidFill>
                <a:srgbClr val="0D47A1"/>
              </a:solidFill>
              <a:latin typeface="Montserrat"/>
              <a:ea typeface="Montserrat"/>
              <a:cs typeface="Montserrat"/>
              <a:sym typeface="Montserrat"/>
            </a:endParaRPr>
          </a:p>
        </p:txBody>
      </p:sp>
      <p:grpSp>
        <p:nvGrpSpPr>
          <p:cNvPr id="162" name="Google Shape;162;p18"/>
          <p:cNvGrpSpPr/>
          <p:nvPr/>
        </p:nvGrpSpPr>
        <p:grpSpPr>
          <a:xfrm>
            <a:off x="476250" y="904875"/>
            <a:ext cx="3905400" cy="1143000"/>
            <a:chOff x="-95250" y="-190500"/>
            <a:chExt cx="3905400" cy="1143000"/>
          </a:xfrm>
        </p:grpSpPr>
        <p:sp>
          <p:nvSpPr>
            <p:cNvPr id="163" name="Google Shape;163;p18"/>
            <p:cNvSpPr/>
            <p:nvPr/>
          </p:nvSpPr>
          <p:spPr>
            <a:xfrm>
              <a:off x="-95250" y="-190500"/>
              <a:ext cx="3905400" cy="1143000"/>
            </a:xfrm>
            <a:prstGeom prst="roundRect">
              <a:avLst>
                <a:gd fmla="val 8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8"/>
            <p:cNvSpPr/>
            <p:nvPr/>
          </p:nvSpPr>
          <p:spPr>
            <a:xfrm>
              <a:off x="-95250" y="-190500"/>
              <a:ext cx="0" cy="0"/>
            </a:xfrm>
            <a:prstGeom prst="roundRect">
              <a:avLst>
                <a:gd fmla="val 50000" name="adj"/>
              </a:avLst>
            </a:prstGeom>
            <a:solidFill>
              <a:srgbClr val="0D47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8"/>
            <p:cNvSpPr txBox="1"/>
            <p:nvPr/>
          </p:nvSpPr>
          <p:spPr>
            <a:xfrm>
              <a:off x="3276600" y="-5715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66" name="Google Shape;166;p18"/>
            <p:cNvSpPr txBox="1"/>
            <p:nvPr/>
          </p:nvSpPr>
          <p:spPr>
            <a:xfrm>
              <a:off x="95250" y="-38100"/>
              <a:ext cx="35244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a:solidFill>
                    <a:srgbClr val="0D47A1"/>
                  </a:solidFill>
                  <a:latin typeface="Montserrat"/>
                  <a:ea typeface="Montserrat"/>
                  <a:cs typeface="Montserrat"/>
                  <a:sym typeface="Montserrat"/>
                </a:rPr>
                <a:t>High-Cardinality Transformation</a:t>
              </a:r>
              <a:endParaRPr b="1" i="0" sz="1100">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950">
                  <a:solidFill>
                    <a:srgbClr val="475569"/>
                  </a:solidFill>
                  <a:latin typeface="Open Sans"/>
                  <a:ea typeface="Open Sans"/>
                  <a:cs typeface="Open Sans"/>
                  <a:sym typeface="Open Sans"/>
                </a:rPr>
                <a:t>Transformed sparse categorical variables (thousands of unique actors, directors, and producers) into dense numerical features by mapping them to their historical median box office revenues.</a:t>
              </a:r>
              <a:endParaRPr b="1" i="0" sz="950">
                <a:solidFill>
                  <a:srgbClr val="0D47A1"/>
                </a:solidFill>
                <a:latin typeface="Montserrat"/>
                <a:ea typeface="Montserrat"/>
                <a:cs typeface="Montserrat"/>
                <a:sym typeface="Montserrat"/>
              </a:endParaRPr>
            </a:p>
          </p:txBody>
        </p:sp>
      </p:grpSp>
      <p:grpSp>
        <p:nvGrpSpPr>
          <p:cNvPr id="167" name="Google Shape;167;p18"/>
          <p:cNvGrpSpPr/>
          <p:nvPr/>
        </p:nvGrpSpPr>
        <p:grpSpPr>
          <a:xfrm>
            <a:off x="476250" y="2190750"/>
            <a:ext cx="3905400" cy="1143000"/>
            <a:chOff x="-2828925" y="1095375"/>
            <a:chExt cx="3905400" cy="1143000"/>
          </a:xfrm>
        </p:grpSpPr>
        <p:sp>
          <p:nvSpPr>
            <p:cNvPr id="168" name="Google Shape;168;p18"/>
            <p:cNvSpPr/>
            <p:nvPr/>
          </p:nvSpPr>
          <p:spPr>
            <a:xfrm>
              <a:off x="-2828925" y="1095375"/>
              <a:ext cx="3905400" cy="1143000"/>
            </a:xfrm>
            <a:prstGeom prst="roundRect">
              <a:avLst>
                <a:gd fmla="val 8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8"/>
            <p:cNvSpPr/>
            <p:nvPr/>
          </p:nvSpPr>
          <p:spPr>
            <a:xfrm>
              <a:off x="-2828925" y="1095375"/>
              <a:ext cx="0" cy="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txBox="1"/>
            <p:nvPr/>
          </p:nvSpPr>
          <p:spPr>
            <a:xfrm>
              <a:off x="542925" y="1228725"/>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71" name="Google Shape;171;p18"/>
            <p:cNvSpPr txBox="1"/>
            <p:nvPr/>
          </p:nvSpPr>
          <p:spPr>
            <a:xfrm>
              <a:off x="-2638425" y="1247775"/>
              <a:ext cx="35244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a:solidFill>
                    <a:srgbClr val="0D47A1"/>
                  </a:solidFill>
                  <a:latin typeface="Montserrat"/>
                  <a:ea typeface="Montserrat"/>
                  <a:cs typeface="Montserrat"/>
                  <a:sym typeface="Montserrat"/>
                </a:rPr>
                <a:t>Strict Leakage Prevention</a:t>
              </a:r>
              <a:endParaRPr b="1" i="0" sz="1100">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950">
                  <a:solidFill>
                    <a:srgbClr val="475569"/>
                  </a:solidFill>
                  <a:latin typeface="Open Sans"/>
                  <a:ea typeface="Open Sans"/>
                  <a:cs typeface="Open Sans"/>
                  <a:sym typeface="Open Sans"/>
                </a:rPr>
                <a:t>Computed all historical talent benchmarks strictly within the 80% training split. These lookup dictionaries were then mapped to the test set to guarantee zero data leakage from the future.</a:t>
              </a:r>
              <a:endParaRPr b="1" i="0" sz="950">
                <a:solidFill>
                  <a:srgbClr val="0D47A1"/>
                </a:solidFill>
                <a:latin typeface="Montserrat"/>
                <a:ea typeface="Montserrat"/>
                <a:cs typeface="Montserrat"/>
                <a:sym typeface="Montserrat"/>
              </a:endParaRPr>
            </a:p>
          </p:txBody>
        </p:sp>
      </p:grpSp>
      <p:grpSp>
        <p:nvGrpSpPr>
          <p:cNvPr id="172" name="Google Shape;172;p18"/>
          <p:cNvGrpSpPr/>
          <p:nvPr/>
        </p:nvGrpSpPr>
        <p:grpSpPr>
          <a:xfrm>
            <a:off x="476250" y="3476625"/>
            <a:ext cx="3905400" cy="1285800"/>
            <a:chOff x="-5562600" y="2381250"/>
            <a:chExt cx="3905400" cy="1285800"/>
          </a:xfrm>
        </p:grpSpPr>
        <p:sp>
          <p:nvSpPr>
            <p:cNvPr id="173" name="Google Shape;173;p18"/>
            <p:cNvSpPr/>
            <p:nvPr/>
          </p:nvSpPr>
          <p:spPr>
            <a:xfrm>
              <a:off x="-5562600" y="2381250"/>
              <a:ext cx="3905400" cy="1285800"/>
            </a:xfrm>
            <a:prstGeom prst="roundRect">
              <a:avLst>
                <a:gd fmla="val 74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8"/>
            <p:cNvSpPr/>
            <p:nvPr/>
          </p:nvSpPr>
          <p:spPr>
            <a:xfrm>
              <a:off x="-5562600" y="2381250"/>
              <a:ext cx="0" cy="0"/>
            </a:xfrm>
            <a:prstGeom prst="roundRect">
              <a:avLst>
                <a:gd fmla="val 5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8"/>
            <p:cNvSpPr txBox="1"/>
            <p:nvPr/>
          </p:nvSpPr>
          <p:spPr>
            <a:xfrm>
              <a:off x="-2190750" y="251460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76" name="Google Shape;176;p18"/>
            <p:cNvSpPr txBox="1"/>
            <p:nvPr/>
          </p:nvSpPr>
          <p:spPr>
            <a:xfrm>
              <a:off x="-5372100" y="2533650"/>
              <a:ext cx="35244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a:solidFill>
                    <a:srgbClr val="0D47A1"/>
                  </a:solidFill>
                  <a:latin typeface="Montserrat"/>
                  <a:ea typeface="Montserrat"/>
                  <a:cs typeface="Montserrat"/>
                  <a:sym typeface="Montserrat"/>
                </a:rPr>
                <a:t>Frequency Thresholding</a:t>
              </a:r>
              <a:endParaRPr b="1" i="0" sz="1100">
                <a:solidFill>
                  <a:srgbClr val="0D47A1"/>
                </a:solidFill>
                <a:latin typeface="Montserrat"/>
                <a:ea typeface="Montserrat"/>
                <a:cs typeface="Montserrat"/>
                <a:sym typeface="Montserrat"/>
              </a:endParaRPr>
            </a:p>
            <a:p>
              <a:pPr indent="0" lvl="0" marL="0" rtl="0" algn="l">
                <a:spcBef>
                  <a:spcPts val="400"/>
                </a:spcBef>
                <a:spcAft>
                  <a:spcPts val="400"/>
                </a:spcAft>
                <a:buNone/>
              </a:pPr>
              <a:r>
                <a:rPr b="0" i="0" lang="en-GB" sz="950">
                  <a:solidFill>
                    <a:srgbClr val="475569"/>
                  </a:solidFill>
                  <a:latin typeface="Open Sans"/>
                  <a:ea typeface="Open Sans"/>
                  <a:cs typeface="Open Sans"/>
                  <a:sym typeface="Open Sans"/>
                </a:rPr>
                <a:t>Enforced a minimum threshold of 3 appearances for a specific talent score to register. Rare or completely unseen talent automatically defaults to the global training median, preventing the model from memorizing single-hit outliers.</a:t>
              </a:r>
              <a:endParaRPr b="1" i="0" sz="950">
                <a:solidFill>
                  <a:srgbClr val="0D47A1"/>
                </a:solidFill>
                <a:latin typeface="Montserrat"/>
                <a:ea typeface="Montserrat"/>
                <a:cs typeface="Montserrat"/>
                <a:sym typeface="Montserrat"/>
              </a:endParaRPr>
            </a:p>
          </p:txBody>
        </p:sp>
      </p:grpSp>
      <p:pic>
        <p:nvPicPr>
          <p:cNvPr id="177" name="Google Shape;177;p18"/>
          <p:cNvPicPr preferRelativeResize="0"/>
          <p:nvPr/>
        </p:nvPicPr>
        <p:blipFill rotWithShape="1">
          <a:blip r:embed="rId3">
            <a:alphaModFix/>
          </a:blip>
          <a:srcRect b="0" l="0" r="0" t="0"/>
          <a:stretch/>
        </p:blipFill>
        <p:spPr>
          <a:xfrm>
            <a:off x="4743450" y="904875"/>
            <a:ext cx="19200" cy="3848100"/>
          </a:xfrm>
          <a:prstGeom prst="rect">
            <a:avLst/>
          </a:prstGeom>
          <a:noFill/>
          <a:ln>
            <a:noFill/>
          </a:ln>
        </p:spPr>
      </p:pic>
      <p:pic>
        <p:nvPicPr>
          <p:cNvPr id="178" name="Google Shape;178;p18"/>
          <p:cNvPicPr preferRelativeResize="0"/>
          <p:nvPr/>
        </p:nvPicPr>
        <p:blipFill>
          <a:blip r:embed="rId4">
            <a:alphaModFix/>
          </a:blip>
          <a:stretch>
            <a:fillRect/>
          </a:stretch>
        </p:blipFill>
        <p:spPr>
          <a:xfrm>
            <a:off x="5408125" y="904875"/>
            <a:ext cx="2578725" cy="4238625"/>
          </a:xfrm>
          <a:prstGeom prst="rect">
            <a:avLst/>
          </a:prstGeom>
          <a:noFill/>
          <a:ln>
            <a:noFill/>
          </a:ln>
        </p:spPr>
      </p:pic>
      <p:sp>
        <p:nvSpPr>
          <p:cNvPr id="179" name="Google Shape;179;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183" name="Shape 183"/>
        <p:cNvGrpSpPr/>
        <p:nvPr/>
      </p:nvGrpSpPr>
      <p:grpSpPr>
        <a:xfrm>
          <a:off x="0" y="0"/>
          <a:ext cx="0" cy="0"/>
          <a:chOff x="0" y="0"/>
          <a:chExt cx="0" cy="0"/>
        </a:xfrm>
      </p:grpSpPr>
      <p:sp>
        <p:nvSpPr>
          <p:cNvPr id="184" name="Google Shape;184;p19"/>
          <p:cNvSpPr txBox="1"/>
          <p:nvPr/>
        </p:nvSpPr>
        <p:spPr>
          <a:xfrm>
            <a:off x="571500" y="28575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2800">
                <a:solidFill>
                  <a:srgbClr val="0D47A1"/>
                </a:solidFill>
                <a:latin typeface="Montserrat"/>
                <a:ea typeface="Montserrat"/>
                <a:cs typeface="Montserrat"/>
                <a:sym typeface="Montserrat"/>
              </a:rPr>
              <a:t>Modeling Strategy: XGBoost Regressor</a:t>
            </a:r>
            <a:endParaRPr b="1" sz="2800">
              <a:solidFill>
                <a:srgbClr val="0D47A1"/>
              </a:solidFill>
              <a:latin typeface="Montserrat"/>
              <a:ea typeface="Montserrat"/>
              <a:cs typeface="Montserrat"/>
              <a:sym typeface="Montserrat"/>
            </a:endParaRPr>
          </a:p>
        </p:txBody>
      </p:sp>
      <p:grpSp>
        <p:nvGrpSpPr>
          <p:cNvPr id="185" name="Google Shape;185;p19"/>
          <p:cNvGrpSpPr/>
          <p:nvPr/>
        </p:nvGrpSpPr>
        <p:grpSpPr>
          <a:xfrm>
            <a:off x="571536" y="916800"/>
            <a:ext cx="3289211" cy="762000"/>
            <a:chOff x="4000500" y="0"/>
            <a:chExt cx="4000500" cy="762000"/>
          </a:xfrm>
        </p:grpSpPr>
        <p:sp>
          <p:nvSpPr>
            <p:cNvPr id="186" name="Google Shape;186;p19"/>
            <p:cNvSpPr/>
            <p:nvPr/>
          </p:nvSpPr>
          <p:spPr>
            <a:xfrm>
              <a:off x="4000500" y="0"/>
              <a:ext cx="4000500" cy="762000"/>
            </a:xfrm>
            <a:prstGeom prst="roundRect">
              <a:avLst>
                <a:gd fmla="val 125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9"/>
            <p:cNvSpPr/>
            <p:nvPr/>
          </p:nvSpPr>
          <p:spPr>
            <a:xfrm>
              <a:off x="4000500" y="0"/>
              <a:ext cx="57300" cy="762000"/>
            </a:xfrm>
            <a:prstGeom prst="roundRect">
              <a:avLst>
                <a:gd fmla="val 50000" name="adj"/>
              </a:avLst>
            </a:prstGeom>
            <a:solidFill>
              <a:srgbClr val="0D47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9"/>
            <p:cNvSpPr txBox="1"/>
            <p:nvPr/>
          </p:nvSpPr>
          <p:spPr>
            <a:xfrm>
              <a:off x="4191000" y="114300"/>
              <a:ext cx="3429000" cy="533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Algorithm Choice</a:t>
              </a:r>
              <a:endParaRPr b="1" i="0" sz="1100" u="none" strike="noStrike">
                <a:solidFill>
                  <a:srgbClr val="0D47A1"/>
                </a:solidFill>
                <a:latin typeface="Montserrat"/>
                <a:ea typeface="Montserrat"/>
                <a:cs typeface="Montserrat"/>
                <a:sym typeface="Montserrat"/>
              </a:endParaRPr>
            </a:p>
            <a:p>
              <a:pPr indent="0" lvl="0" marL="0" rtl="0" algn="l">
                <a:spcBef>
                  <a:spcPts val="200"/>
                </a:spcBef>
                <a:spcAft>
                  <a:spcPts val="200"/>
                </a:spcAft>
                <a:buNone/>
              </a:pPr>
              <a:r>
                <a:rPr b="0" i="0" lang="en-GB" sz="850" u="none" strike="noStrike">
                  <a:solidFill>
                    <a:srgbClr val="475569"/>
                  </a:solidFill>
                  <a:latin typeface="Open Sans"/>
                  <a:ea typeface="Open Sans"/>
                  <a:cs typeface="Open Sans"/>
                  <a:sym typeface="Open Sans"/>
                </a:rPr>
                <a:t>eXtreme Gradient Boosting (XGBoost) perfectly fulfills the 'prune only one algorithm' constraint.</a:t>
              </a:r>
              <a:endParaRPr b="1" i="0" sz="850" u="none" strike="noStrike">
                <a:solidFill>
                  <a:srgbClr val="0D47A1"/>
                </a:solidFill>
                <a:latin typeface="Montserrat"/>
                <a:ea typeface="Montserrat"/>
                <a:cs typeface="Montserrat"/>
                <a:sym typeface="Montserrat"/>
              </a:endParaRPr>
            </a:p>
          </p:txBody>
        </p:sp>
      </p:grpSp>
      <p:grpSp>
        <p:nvGrpSpPr>
          <p:cNvPr id="189" name="Google Shape;189;p19"/>
          <p:cNvGrpSpPr/>
          <p:nvPr/>
        </p:nvGrpSpPr>
        <p:grpSpPr>
          <a:xfrm>
            <a:off x="571493" y="1774050"/>
            <a:ext cx="3289211" cy="762000"/>
            <a:chOff x="1952625" y="857250"/>
            <a:chExt cx="4000500" cy="762000"/>
          </a:xfrm>
        </p:grpSpPr>
        <p:sp>
          <p:nvSpPr>
            <p:cNvPr id="190" name="Google Shape;190;p19"/>
            <p:cNvSpPr/>
            <p:nvPr/>
          </p:nvSpPr>
          <p:spPr>
            <a:xfrm>
              <a:off x="1952625" y="857250"/>
              <a:ext cx="4000500" cy="762000"/>
            </a:xfrm>
            <a:prstGeom prst="roundRect">
              <a:avLst>
                <a:gd fmla="val 125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9"/>
            <p:cNvSpPr/>
            <p:nvPr/>
          </p:nvSpPr>
          <p:spPr>
            <a:xfrm>
              <a:off x="1952625" y="857250"/>
              <a:ext cx="57300" cy="7620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9"/>
            <p:cNvSpPr txBox="1"/>
            <p:nvPr/>
          </p:nvSpPr>
          <p:spPr>
            <a:xfrm>
              <a:off x="5476875" y="100965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93" name="Google Shape;193;p19"/>
            <p:cNvSpPr txBox="1"/>
            <p:nvPr/>
          </p:nvSpPr>
          <p:spPr>
            <a:xfrm>
              <a:off x="2143125" y="971550"/>
              <a:ext cx="3429000" cy="533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Scale Invariance</a:t>
              </a:r>
              <a:endParaRPr b="1" i="0" sz="1100" u="none" strike="noStrike">
                <a:solidFill>
                  <a:srgbClr val="0D47A1"/>
                </a:solidFill>
                <a:latin typeface="Montserrat"/>
                <a:ea typeface="Montserrat"/>
                <a:cs typeface="Montserrat"/>
                <a:sym typeface="Montserrat"/>
              </a:endParaRPr>
            </a:p>
            <a:p>
              <a:pPr indent="0" lvl="0" marL="0" rtl="0" algn="l">
                <a:spcBef>
                  <a:spcPts val="200"/>
                </a:spcBef>
                <a:spcAft>
                  <a:spcPts val="200"/>
                </a:spcAft>
                <a:buNone/>
              </a:pPr>
              <a:r>
                <a:rPr b="0" i="0" lang="en-GB" sz="850" u="none" strike="noStrike">
                  <a:solidFill>
                    <a:srgbClr val="475569"/>
                  </a:solidFill>
                  <a:latin typeface="Open Sans"/>
                  <a:ea typeface="Open Sans"/>
                  <a:cs typeface="Open Sans"/>
                  <a:sym typeface="Open Sans"/>
                </a:rPr>
                <a:t>Scale-invariant architecture handles massive box office outliers natively without requiring standard scaling.</a:t>
              </a:r>
              <a:endParaRPr b="1" i="0" sz="850" u="none" strike="noStrike">
                <a:solidFill>
                  <a:srgbClr val="0D47A1"/>
                </a:solidFill>
                <a:latin typeface="Montserrat"/>
                <a:ea typeface="Montserrat"/>
                <a:cs typeface="Montserrat"/>
                <a:sym typeface="Montserrat"/>
              </a:endParaRPr>
            </a:p>
          </p:txBody>
        </p:sp>
      </p:grpSp>
      <p:grpSp>
        <p:nvGrpSpPr>
          <p:cNvPr id="194" name="Google Shape;194;p19"/>
          <p:cNvGrpSpPr/>
          <p:nvPr/>
        </p:nvGrpSpPr>
        <p:grpSpPr>
          <a:xfrm>
            <a:off x="571500" y="2631300"/>
            <a:ext cx="3289211" cy="762000"/>
            <a:chOff x="-95250" y="1714500"/>
            <a:chExt cx="4000500" cy="762000"/>
          </a:xfrm>
        </p:grpSpPr>
        <p:sp>
          <p:nvSpPr>
            <p:cNvPr id="195" name="Google Shape;195;p19"/>
            <p:cNvSpPr/>
            <p:nvPr/>
          </p:nvSpPr>
          <p:spPr>
            <a:xfrm>
              <a:off x="-95250" y="1714500"/>
              <a:ext cx="4000500" cy="762000"/>
            </a:xfrm>
            <a:prstGeom prst="roundRect">
              <a:avLst>
                <a:gd fmla="val 125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9"/>
            <p:cNvSpPr/>
            <p:nvPr/>
          </p:nvSpPr>
          <p:spPr>
            <a:xfrm>
              <a:off x="-95250" y="1714500"/>
              <a:ext cx="57300" cy="762000"/>
            </a:xfrm>
            <a:prstGeom prst="roundRect">
              <a:avLst>
                <a:gd fmla="val 50000" name="adj"/>
              </a:avLst>
            </a:prstGeom>
            <a:solidFill>
              <a:srgbClr val="0891B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9"/>
            <p:cNvSpPr txBox="1"/>
            <p:nvPr/>
          </p:nvSpPr>
          <p:spPr>
            <a:xfrm>
              <a:off x="3429000" y="186690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198" name="Google Shape;198;p19"/>
            <p:cNvSpPr txBox="1"/>
            <p:nvPr/>
          </p:nvSpPr>
          <p:spPr>
            <a:xfrm>
              <a:off x="95250" y="1828800"/>
              <a:ext cx="3429000" cy="533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018" u="none" strike="noStrike">
                  <a:solidFill>
                    <a:srgbClr val="0D47A1"/>
                  </a:solidFill>
                  <a:latin typeface="Montserrat"/>
                  <a:ea typeface="Montserrat"/>
                  <a:cs typeface="Montserrat"/>
                  <a:sym typeface="Montserrat"/>
                </a:rPr>
                <a:t>Feature Interactions</a:t>
              </a:r>
              <a:endParaRPr b="1" i="0" sz="1018" u="none" strike="noStrike">
                <a:solidFill>
                  <a:srgbClr val="0D47A1"/>
                </a:solidFill>
                <a:latin typeface="Montserrat"/>
                <a:ea typeface="Montserrat"/>
                <a:cs typeface="Montserrat"/>
                <a:sym typeface="Montserrat"/>
              </a:endParaRPr>
            </a:p>
            <a:p>
              <a:pPr indent="0" lvl="0" marL="0" rtl="0" algn="l">
                <a:spcBef>
                  <a:spcPts val="200"/>
                </a:spcBef>
                <a:spcAft>
                  <a:spcPts val="200"/>
                </a:spcAft>
                <a:buNone/>
              </a:pPr>
              <a:r>
                <a:rPr b="0" i="0" lang="en-GB" sz="786" u="none" strike="noStrike">
                  <a:solidFill>
                    <a:srgbClr val="475569"/>
                  </a:solidFill>
                  <a:latin typeface="Open Sans"/>
                  <a:ea typeface="Open Sans"/>
                  <a:cs typeface="Open Sans"/>
                  <a:sym typeface="Open Sans"/>
                </a:rPr>
                <a:t>Natively captures complex, non-linear feature interactions (e.g., diminishing returns of massive budgets).</a:t>
              </a:r>
              <a:endParaRPr b="1" i="0" sz="786" u="none" strike="noStrike">
                <a:solidFill>
                  <a:srgbClr val="0D47A1"/>
                </a:solidFill>
                <a:latin typeface="Montserrat"/>
                <a:ea typeface="Montserrat"/>
                <a:cs typeface="Montserrat"/>
                <a:sym typeface="Montserrat"/>
              </a:endParaRPr>
            </a:p>
          </p:txBody>
        </p:sp>
      </p:grpSp>
      <p:grpSp>
        <p:nvGrpSpPr>
          <p:cNvPr id="199" name="Google Shape;199;p19"/>
          <p:cNvGrpSpPr/>
          <p:nvPr/>
        </p:nvGrpSpPr>
        <p:grpSpPr>
          <a:xfrm>
            <a:off x="571494" y="3488550"/>
            <a:ext cx="3289211" cy="809700"/>
            <a:chOff x="-2143125" y="2571750"/>
            <a:chExt cx="4000500" cy="809700"/>
          </a:xfrm>
        </p:grpSpPr>
        <p:sp>
          <p:nvSpPr>
            <p:cNvPr id="200" name="Google Shape;200;p19"/>
            <p:cNvSpPr/>
            <p:nvPr/>
          </p:nvSpPr>
          <p:spPr>
            <a:xfrm>
              <a:off x="-2143125" y="2571750"/>
              <a:ext cx="4000500" cy="809700"/>
            </a:xfrm>
            <a:prstGeom prst="roundRect">
              <a:avLst>
                <a:gd fmla="val 1176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9"/>
            <p:cNvSpPr/>
            <p:nvPr/>
          </p:nvSpPr>
          <p:spPr>
            <a:xfrm>
              <a:off x="-2143125" y="2571750"/>
              <a:ext cx="57300" cy="809700"/>
            </a:xfrm>
            <a:prstGeom prst="roundRect">
              <a:avLst>
                <a:gd fmla="val 5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9"/>
            <p:cNvSpPr txBox="1"/>
            <p:nvPr/>
          </p:nvSpPr>
          <p:spPr>
            <a:xfrm>
              <a:off x="1381125" y="2724150"/>
              <a:ext cx="3810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1" sz="1200">
                <a:solidFill>
                  <a:srgbClr val="94A3B8"/>
                </a:solidFill>
                <a:latin typeface="Montserrat"/>
                <a:ea typeface="Montserrat"/>
                <a:cs typeface="Montserrat"/>
                <a:sym typeface="Montserrat"/>
              </a:endParaRPr>
            </a:p>
          </p:txBody>
        </p:sp>
        <p:sp>
          <p:nvSpPr>
            <p:cNvPr id="203" name="Google Shape;203;p19"/>
            <p:cNvSpPr txBox="1"/>
            <p:nvPr/>
          </p:nvSpPr>
          <p:spPr>
            <a:xfrm>
              <a:off x="-1952625" y="2647950"/>
              <a:ext cx="34290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Hyperparameter Tuning</a:t>
              </a:r>
              <a:endParaRPr b="1" i="0" sz="1100" u="none" strike="noStrike">
                <a:solidFill>
                  <a:srgbClr val="0D47A1"/>
                </a:solidFill>
                <a:latin typeface="Montserrat"/>
                <a:ea typeface="Montserrat"/>
                <a:cs typeface="Montserrat"/>
                <a:sym typeface="Montserrat"/>
              </a:endParaRPr>
            </a:p>
            <a:p>
              <a:pPr indent="0" lvl="0" marL="0" rtl="0" algn="l">
                <a:spcBef>
                  <a:spcPts val="200"/>
                </a:spcBef>
                <a:spcAft>
                  <a:spcPts val="200"/>
                </a:spcAft>
                <a:buNone/>
              </a:pPr>
              <a:r>
                <a:rPr b="0" i="0" lang="en-GB" sz="850" u="none" strike="noStrike">
                  <a:solidFill>
                    <a:srgbClr val="475569"/>
                  </a:solidFill>
                  <a:latin typeface="Open Sans"/>
                  <a:ea typeface="Open Sans"/>
                  <a:cs typeface="Open Sans"/>
                  <a:sym typeface="Open Sans"/>
                </a:rPr>
                <a:t>Utilized GridSearchCV with 5-fold cross-validation. Constrained tree depth and applied L1/L2 regularization to prevent overfitting.</a:t>
              </a:r>
              <a:endParaRPr b="1" i="0" sz="850" u="none" strike="noStrike">
                <a:solidFill>
                  <a:srgbClr val="0D47A1"/>
                </a:solidFill>
                <a:latin typeface="Montserrat"/>
                <a:ea typeface="Montserrat"/>
                <a:cs typeface="Montserrat"/>
                <a:sym typeface="Montserrat"/>
              </a:endParaRPr>
            </a:p>
          </p:txBody>
        </p:sp>
      </p:grpSp>
      <p:pic>
        <p:nvPicPr>
          <p:cNvPr id="204" name="Google Shape;204;p19"/>
          <p:cNvPicPr preferRelativeResize="0"/>
          <p:nvPr/>
        </p:nvPicPr>
        <p:blipFill>
          <a:blip r:embed="rId3">
            <a:alphaModFix/>
          </a:blip>
          <a:stretch>
            <a:fillRect/>
          </a:stretch>
        </p:blipFill>
        <p:spPr>
          <a:xfrm>
            <a:off x="4252227" y="916800"/>
            <a:ext cx="4654126" cy="3708149"/>
          </a:xfrm>
          <a:prstGeom prst="rect">
            <a:avLst/>
          </a:prstGeom>
          <a:noFill/>
          <a:ln>
            <a:noFill/>
          </a:ln>
        </p:spPr>
      </p:pic>
      <p:sp>
        <p:nvSpPr>
          <p:cNvPr id="205" name="Google Shape;205;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209" name="Shape 209"/>
        <p:cNvGrpSpPr/>
        <p:nvPr/>
      </p:nvGrpSpPr>
      <p:grpSpPr>
        <a:xfrm>
          <a:off x="0" y="0"/>
          <a:ext cx="0" cy="0"/>
          <a:chOff x="0" y="0"/>
          <a:chExt cx="0" cy="0"/>
        </a:xfrm>
      </p:grpSpPr>
      <p:sp>
        <p:nvSpPr>
          <p:cNvPr id="210" name="Google Shape;210;p20"/>
          <p:cNvSpPr txBox="1"/>
          <p:nvPr/>
        </p:nvSpPr>
        <p:spPr>
          <a:xfrm>
            <a:off x="571500" y="285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2800">
                <a:solidFill>
                  <a:srgbClr val="0D47A1"/>
                </a:solidFill>
                <a:latin typeface="Montserrat"/>
                <a:ea typeface="Montserrat"/>
                <a:cs typeface="Montserrat"/>
                <a:sym typeface="Montserrat"/>
              </a:rPr>
              <a:t>Model Evaluation &amp; Serialization</a:t>
            </a:r>
            <a:endParaRPr b="1" sz="2800">
              <a:solidFill>
                <a:srgbClr val="0D47A1"/>
              </a:solidFill>
              <a:latin typeface="Montserrat"/>
              <a:ea typeface="Montserrat"/>
              <a:cs typeface="Montserrat"/>
              <a:sym typeface="Montserrat"/>
            </a:endParaRPr>
          </a:p>
        </p:txBody>
      </p:sp>
      <p:grpSp>
        <p:nvGrpSpPr>
          <p:cNvPr id="211" name="Google Shape;211;p20"/>
          <p:cNvGrpSpPr/>
          <p:nvPr/>
        </p:nvGrpSpPr>
        <p:grpSpPr>
          <a:xfrm>
            <a:off x="277250" y="1095375"/>
            <a:ext cx="2478310" cy="1095300"/>
            <a:chOff x="0" y="0"/>
            <a:chExt cx="4000500" cy="1095300"/>
          </a:xfrm>
        </p:grpSpPr>
        <p:sp>
          <p:nvSpPr>
            <p:cNvPr id="212" name="Google Shape;212;p20"/>
            <p:cNvSpPr/>
            <p:nvPr/>
          </p:nvSpPr>
          <p:spPr>
            <a:xfrm>
              <a:off x="0" y="0"/>
              <a:ext cx="4000500" cy="1095300"/>
            </a:xfrm>
            <a:prstGeom prst="roundRect">
              <a:avLst>
                <a:gd fmla="val 1043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0"/>
            <p:cNvSpPr txBox="1"/>
            <p:nvPr/>
          </p:nvSpPr>
          <p:spPr>
            <a:xfrm>
              <a:off x="190500" y="114300"/>
              <a:ext cx="3619500" cy="876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Performance Metrics</a:t>
              </a:r>
              <a:endParaRPr b="1" i="0" sz="1100" u="none" strike="noStrike">
                <a:solidFill>
                  <a:srgbClr val="0D47A1"/>
                </a:solidFill>
                <a:latin typeface="Montserrat"/>
                <a:ea typeface="Montserrat"/>
                <a:cs typeface="Montserrat"/>
                <a:sym typeface="Montserrat"/>
              </a:endParaRPr>
            </a:p>
            <a:p>
              <a:pPr indent="0" lvl="0" marL="0" rtl="0" algn="l">
                <a:spcBef>
                  <a:spcPts val="300"/>
                </a:spcBef>
                <a:spcAft>
                  <a:spcPts val="300"/>
                </a:spcAft>
                <a:buNone/>
              </a:pPr>
              <a:r>
                <a:rPr b="0" i="0" lang="en-GB" sz="900" u="none" strike="noStrike">
                  <a:solidFill>
                    <a:srgbClr val="475569"/>
                  </a:solidFill>
                  <a:latin typeface="Open Sans"/>
                  <a:ea typeface="Open Sans"/>
                  <a:cs typeface="Open Sans"/>
                  <a:sym typeface="Open Sans"/>
                </a:rPr>
                <a:t>Achieved strong R² performance of </a:t>
              </a:r>
              <a:r>
                <a:rPr b="1" i="0" lang="en-GB" sz="900" u="none" strike="noStrike">
                  <a:solidFill>
                    <a:srgbClr val="475569"/>
                  </a:solidFill>
                  <a:latin typeface="Open Sans"/>
                  <a:ea typeface="Open Sans"/>
                  <a:cs typeface="Open Sans"/>
                  <a:sym typeface="Open Sans"/>
                </a:rPr>
                <a:t>0.8338</a:t>
              </a:r>
              <a:r>
                <a:rPr b="0" i="0" lang="en-GB" sz="900" u="none" strike="noStrike">
                  <a:solidFill>
                    <a:srgbClr val="475569"/>
                  </a:solidFill>
                  <a:latin typeface="Open Sans"/>
                  <a:ea typeface="Open Sans"/>
                  <a:cs typeface="Open Sans"/>
                  <a:sym typeface="Open Sans"/>
                </a:rPr>
                <a:t> with optimized error margins across historical target distributions. Th</a:t>
              </a:r>
              <a:r>
                <a:rPr lang="en-GB" sz="900">
                  <a:solidFill>
                    <a:srgbClr val="475569"/>
                  </a:solidFill>
                  <a:latin typeface="Open Sans"/>
                  <a:ea typeface="Open Sans"/>
                  <a:cs typeface="Open Sans"/>
                  <a:sym typeface="Open Sans"/>
                </a:rPr>
                <a:t>e results confirm that the model is not overfitting or underfitting.</a:t>
              </a:r>
              <a:endParaRPr b="1" i="0" sz="900" u="none" strike="noStrike">
                <a:solidFill>
                  <a:srgbClr val="0D47A1"/>
                </a:solidFill>
                <a:latin typeface="Montserrat"/>
                <a:ea typeface="Montserrat"/>
                <a:cs typeface="Montserrat"/>
                <a:sym typeface="Montserrat"/>
              </a:endParaRPr>
            </a:p>
          </p:txBody>
        </p:sp>
      </p:grpSp>
      <p:grpSp>
        <p:nvGrpSpPr>
          <p:cNvPr id="214" name="Google Shape;214;p20"/>
          <p:cNvGrpSpPr/>
          <p:nvPr/>
        </p:nvGrpSpPr>
        <p:grpSpPr>
          <a:xfrm>
            <a:off x="277250" y="2333625"/>
            <a:ext cx="2478310" cy="1095300"/>
            <a:chOff x="0" y="0"/>
            <a:chExt cx="4000500" cy="1095300"/>
          </a:xfrm>
        </p:grpSpPr>
        <p:sp>
          <p:nvSpPr>
            <p:cNvPr id="215" name="Google Shape;215;p20"/>
            <p:cNvSpPr/>
            <p:nvPr/>
          </p:nvSpPr>
          <p:spPr>
            <a:xfrm>
              <a:off x="0" y="0"/>
              <a:ext cx="4000500" cy="1095300"/>
            </a:xfrm>
            <a:prstGeom prst="roundRect">
              <a:avLst>
                <a:gd fmla="val 1043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0"/>
            <p:cNvSpPr txBox="1"/>
            <p:nvPr/>
          </p:nvSpPr>
          <p:spPr>
            <a:xfrm>
              <a:off x="190500" y="114300"/>
              <a:ext cx="3619500" cy="876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100" u="none" strike="noStrike">
                  <a:solidFill>
                    <a:srgbClr val="0D47A1"/>
                  </a:solidFill>
                  <a:latin typeface="Montserrat"/>
                  <a:ea typeface="Montserrat"/>
                  <a:cs typeface="Montserrat"/>
                  <a:sym typeface="Montserrat"/>
                </a:rPr>
                <a:t>Balanced Fitting</a:t>
              </a:r>
              <a:endParaRPr b="1" i="0" sz="1100" u="none" strike="noStrike">
                <a:solidFill>
                  <a:srgbClr val="0D47A1"/>
                </a:solidFill>
                <a:latin typeface="Montserrat"/>
                <a:ea typeface="Montserrat"/>
                <a:cs typeface="Montserrat"/>
                <a:sym typeface="Montserrat"/>
              </a:endParaRPr>
            </a:p>
            <a:p>
              <a:pPr indent="0" lvl="0" marL="0" rtl="0" algn="l">
                <a:spcBef>
                  <a:spcPts val="300"/>
                </a:spcBef>
                <a:spcAft>
                  <a:spcPts val="0"/>
                </a:spcAft>
                <a:buNone/>
              </a:pPr>
              <a:r>
                <a:rPr b="1" i="0" lang="en-GB" sz="950" u="none" strike="noStrike">
                  <a:solidFill>
                    <a:srgbClr val="0369A1"/>
                  </a:solidFill>
                  <a:highlight>
                    <a:srgbClr val="F0F9FF"/>
                  </a:highlight>
                  <a:latin typeface="Montserrat"/>
                  <a:ea typeface="Montserrat"/>
                  <a:cs typeface="Montserrat"/>
                  <a:sym typeface="Montserrat"/>
                </a:rPr>
                <a:t>1:1 Diagonal Tracking</a:t>
              </a:r>
              <a:endParaRPr b="1" i="0" sz="950" u="none" strike="noStrike">
                <a:solidFill>
                  <a:srgbClr val="0D47A1"/>
                </a:solidFill>
                <a:latin typeface="Montserrat"/>
                <a:ea typeface="Montserrat"/>
                <a:cs typeface="Montserrat"/>
                <a:sym typeface="Montserrat"/>
              </a:endParaRPr>
            </a:p>
            <a:p>
              <a:pPr indent="0" lvl="0" marL="0" rtl="0" algn="l">
                <a:spcBef>
                  <a:spcPts val="500"/>
                </a:spcBef>
                <a:spcAft>
                  <a:spcPts val="300"/>
                </a:spcAft>
                <a:buNone/>
              </a:pPr>
              <a:r>
                <a:rPr b="0" i="0" lang="en-GB" sz="900" u="none" strike="noStrike">
                  <a:solidFill>
                    <a:srgbClr val="475569"/>
                  </a:solidFill>
                  <a:latin typeface="Open Sans"/>
                  <a:ea typeface="Open Sans"/>
                  <a:cs typeface="Open Sans"/>
                  <a:sym typeface="Open Sans"/>
                </a:rPr>
                <a:t>Actual vs. Predicted plots confirm the model accurately tracks the 1:1 diagonal, capturing true variance without memorizing training noise.</a:t>
              </a:r>
              <a:endParaRPr b="1" i="0" sz="900" u="none" strike="noStrike">
                <a:solidFill>
                  <a:srgbClr val="0D47A1"/>
                </a:solidFill>
                <a:latin typeface="Montserrat"/>
                <a:ea typeface="Montserrat"/>
                <a:cs typeface="Montserrat"/>
                <a:sym typeface="Montserrat"/>
              </a:endParaRPr>
            </a:p>
          </p:txBody>
        </p:sp>
      </p:grpSp>
      <p:grpSp>
        <p:nvGrpSpPr>
          <p:cNvPr id="217" name="Google Shape;217;p20"/>
          <p:cNvGrpSpPr/>
          <p:nvPr/>
        </p:nvGrpSpPr>
        <p:grpSpPr>
          <a:xfrm>
            <a:off x="277250" y="3571875"/>
            <a:ext cx="2478310" cy="1095300"/>
            <a:chOff x="0" y="0"/>
            <a:chExt cx="4000500" cy="1095300"/>
          </a:xfrm>
        </p:grpSpPr>
        <p:sp>
          <p:nvSpPr>
            <p:cNvPr id="218" name="Google Shape;218;p20"/>
            <p:cNvSpPr/>
            <p:nvPr/>
          </p:nvSpPr>
          <p:spPr>
            <a:xfrm>
              <a:off x="0" y="0"/>
              <a:ext cx="4000500" cy="1095300"/>
            </a:xfrm>
            <a:prstGeom prst="roundRect">
              <a:avLst>
                <a:gd fmla="val 1043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20"/>
            <p:cNvSpPr txBox="1"/>
            <p:nvPr/>
          </p:nvSpPr>
          <p:spPr>
            <a:xfrm>
              <a:off x="190500" y="114300"/>
              <a:ext cx="3619500" cy="876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935" u="none" strike="noStrike">
                  <a:solidFill>
                    <a:srgbClr val="0D47A1"/>
                  </a:solidFill>
                  <a:latin typeface="Montserrat"/>
                  <a:ea typeface="Montserrat"/>
                  <a:cs typeface="Montserrat"/>
                  <a:sym typeface="Montserrat"/>
                </a:rPr>
                <a:t>Deployment Ready</a:t>
              </a:r>
              <a:endParaRPr b="1" i="0" sz="935" u="none" strike="noStrike">
                <a:solidFill>
                  <a:srgbClr val="0D47A1"/>
                </a:solidFill>
                <a:latin typeface="Montserrat"/>
                <a:ea typeface="Montserrat"/>
                <a:cs typeface="Montserrat"/>
                <a:sym typeface="Montserrat"/>
              </a:endParaRPr>
            </a:p>
            <a:p>
              <a:pPr indent="0" lvl="0" marL="0" rtl="0" algn="l">
                <a:spcBef>
                  <a:spcPts val="300"/>
                </a:spcBef>
                <a:spcAft>
                  <a:spcPts val="0"/>
                </a:spcAft>
                <a:buNone/>
              </a:pPr>
              <a:r>
                <a:rPr b="1" i="0" lang="en-GB" sz="808" u="none" strike="noStrike">
                  <a:solidFill>
                    <a:srgbClr val="15803D"/>
                  </a:solidFill>
                  <a:highlight>
                    <a:srgbClr val="F0FDF4"/>
                  </a:highlight>
                  <a:latin typeface="Courier New"/>
                  <a:ea typeface="Courier New"/>
                  <a:cs typeface="Courier New"/>
                  <a:sym typeface="Courier New"/>
                </a:rPr>
                <a:t>movie_revenue_model.pkl</a:t>
              </a:r>
              <a:endParaRPr b="1" i="0" sz="808" u="none" strike="noStrike">
                <a:solidFill>
                  <a:srgbClr val="0D47A1"/>
                </a:solidFill>
                <a:latin typeface="Montserrat"/>
                <a:ea typeface="Montserrat"/>
                <a:cs typeface="Montserrat"/>
                <a:sym typeface="Montserrat"/>
              </a:endParaRPr>
            </a:p>
            <a:p>
              <a:pPr indent="0" lvl="0" marL="0" rtl="0" algn="l">
                <a:spcBef>
                  <a:spcPts val="500"/>
                </a:spcBef>
                <a:spcAft>
                  <a:spcPts val="300"/>
                </a:spcAft>
                <a:buNone/>
              </a:pPr>
              <a:r>
                <a:rPr b="0" i="0" lang="en-GB" sz="765" u="none" strike="noStrike">
                  <a:solidFill>
                    <a:srgbClr val="475569"/>
                  </a:solidFill>
                  <a:latin typeface="Open Sans"/>
                  <a:ea typeface="Open Sans"/>
                  <a:cs typeface="Open Sans"/>
                  <a:sym typeface="Open Sans"/>
                </a:rPr>
                <a:t>The finalized model, alongside required feature configurations and talent lookup dictionaries, was serialized via pickle for instant downstream deployment.</a:t>
              </a:r>
              <a:endParaRPr b="1" i="0" sz="765" u="none" strike="noStrike">
                <a:solidFill>
                  <a:srgbClr val="0D47A1"/>
                </a:solidFill>
                <a:latin typeface="Montserrat"/>
                <a:ea typeface="Montserrat"/>
                <a:cs typeface="Montserrat"/>
                <a:sym typeface="Montserrat"/>
              </a:endParaRPr>
            </a:p>
          </p:txBody>
        </p:sp>
      </p:grpSp>
      <p:pic>
        <p:nvPicPr>
          <p:cNvPr id="220" name="Google Shape;220;p20"/>
          <p:cNvPicPr preferRelativeResize="0"/>
          <p:nvPr/>
        </p:nvPicPr>
        <p:blipFill>
          <a:blip r:embed="rId3">
            <a:alphaModFix/>
          </a:blip>
          <a:stretch>
            <a:fillRect/>
          </a:stretch>
        </p:blipFill>
        <p:spPr>
          <a:xfrm>
            <a:off x="3013225" y="762150"/>
            <a:ext cx="5695350" cy="2712249"/>
          </a:xfrm>
          <a:prstGeom prst="rect">
            <a:avLst/>
          </a:prstGeom>
          <a:noFill/>
          <a:ln>
            <a:noFill/>
          </a:ln>
        </p:spPr>
      </p:pic>
      <p:sp>
        <p:nvSpPr>
          <p:cNvPr id="221" name="Google Shape;221;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22" name="Google Shape;222;p20"/>
          <p:cNvPicPr preferRelativeResize="0"/>
          <p:nvPr/>
        </p:nvPicPr>
        <p:blipFill>
          <a:blip r:embed="rId4">
            <a:alphaModFix/>
          </a:blip>
          <a:stretch>
            <a:fillRect/>
          </a:stretch>
        </p:blipFill>
        <p:spPr>
          <a:xfrm>
            <a:off x="3013225" y="3571875"/>
            <a:ext cx="5695350" cy="15038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226" name="Shape 226"/>
        <p:cNvGrpSpPr/>
        <p:nvPr/>
      </p:nvGrpSpPr>
      <p:grpSpPr>
        <a:xfrm>
          <a:off x="0" y="0"/>
          <a:ext cx="0" cy="0"/>
          <a:chOff x="0" y="0"/>
          <a:chExt cx="0" cy="0"/>
        </a:xfrm>
      </p:grpSpPr>
      <p:sp>
        <p:nvSpPr>
          <p:cNvPr id="227" name="Google Shape;227;p21"/>
          <p:cNvSpPr txBox="1"/>
          <p:nvPr/>
        </p:nvSpPr>
        <p:spPr>
          <a:xfrm>
            <a:off x="571500" y="238125"/>
            <a:ext cx="800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0D47A1"/>
                </a:solidFill>
                <a:latin typeface="Montserrat"/>
                <a:ea typeface="Montserrat"/>
                <a:cs typeface="Montserrat"/>
                <a:sym typeface="Montserrat"/>
              </a:rPr>
              <a:t>Answering Assignment Questions</a:t>
            </a:r>
            <a:endParaRPr b="1" i="0" sz="2400">
              <a:solidFill>
                <a:srgbClr val="0D47A1"/>
              </a:solidFill>
              <a:latin typeface="Montserrat"/>
              <a:ea typeface="Montserrat"/>
              <a:cs typeface="Montserrat"/>
              <a:sym typeface="Montserrat"/>
            </a:endParaRPr>
          </a:p>
        </p:txBody>
      </p:sp>
      <p:grpSp>
        <p:nvGrpSpPr>
          <p:cNvPr id="228" name="Google Shape;228;p21"/>
          <p:cNvGrpSpPr/>
          <p:nvPr/>
        </p:nvGrpSpPr>
        <p:grpSpPr>
          <a:xfrm>
            <a:off x="571500" y="762000"/>
            <a:ext cx="3857700" cy="1238400"/>
            <a:chOff x="0" y="0"/>
            <a:chExt cx="3857700" cy="1238400"/>
          </a:xfrm>
        </p:grpSpPr>
        <p:sp>
          <p:nvSpPr>
            <p:cNvPr id="229" name="Google Shape;229;p21"/>
            <p:cNvSpPr/>
            <p:nvPr/>
          </p:nvSpPr>
          <p:spPr>
            <a:xfrm>
              <a:off x="0" y="0"/>
              <a:ext cx="3857700" cy="1238400"/>
            </a:xfrm>
            <a:prstGeom prst="roundRect">
              <a:avLst>
                <a:gd fmla="val 769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1"/>
            <p:cNvSpPr txBox="1"/>
            <p:nvPr/>
          </p:nvSpPr>
          <p:spPr>
            <a:xfrm>
              <a:off x="152400" y="114300"/>
              <a:ext cx="35529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50">
                  <a:solidFill>
                    <a:srgbClr val="0D47A1"/>
                  </a:solidFill>
                  <a:latin typeface="Montserrat"/>
                  <a:ea typeface="Montserrat"/>
                  <a:cs typeface="Montserrat"/>
                  <a:sym typeface="Montserrat"/>
                </a:rPr>
                <a:t>What genre of film (thriller, adventure, romantic,...) should you create to make sure you make the most money?</a:t>
              </a:r>
              <a:endParaRPr b="1" sz="950">
                <a:solidFill>
                  <a:srgbClr val="0D47A1"/>
                </a:solidFill>
                <a:latin typeface="Montserrat"/>
                <a:ea typeface="Montserrat"/>
                <a:cs typeface="Montserrat"/>
                <a:sym typeface="Montserrat"/>
              </a:endParaRPr>
            </a:p>
            <a:p>
              <a:pPr indent="0" lvl="0" marL="0" rtl="0" algn="l">
                <a:spcBef>
                  <a:spcPts val="500"/>
                </a:spcBef>
                <a:spcAft>
                  <a:spcPts val="0"/>
                </a:spcAft>
                <a:buNone/>
              </a:pPr>
              <a:r>
                <a:rPr b="1" lang="en-GB" sz="850">
                  <a:solidFill>
                    <a:srgbClr val="0284C7"/>
                  </a:solidFill>
                  <a:latin typeface="Open Sans"/>
                  <a:ea typeface="Open Sans"/>
                  <a:cs typeface="Open Sans"/>
                  <a:sym typeface="Open Sans"/>
                </a:rPr>
                <a:t>Ans:</a:t>
              </a:r>
              <a:r>
                <a:rPr lang="en-GB" sz="850">
                  <a:solidFill>
                    <a:srgbClr val="334155"/>
                  </a:solidFill>
                  <a:latin typeface="Open Sans"/>
                  <a:ea typeface="Open Sans"/>
                  <a:cs typeface="Open Sans"/>
                  <a:sym typeface="Open Sans"/>
                </a:rPr>
                <a:t> Animation is the clear winner. It shows the highest median return (around $192.5M). It's also less crowded than heavily saturated genres like Drama or Comedy, making it a great market to target.</a:t>
              </a:r>
              <a:endParaRPr sz="850">
                <a:solidFill>
                  <a:srgbClr val="334155"/>
                </a:solidFill>
                <a:latin typeface="Open Sans"/>
                <a:ea typeface="Open Sans"/>
                <a:cs typeface="Open Sans"/>
                <a:sym typeface="Open Sans"/>
              </a:endParaRPr>
            </a:p>
          </p:txBody>
        </p:sp>
      </p:grpSp>
      <p:grpSp>
        <p:nvGrpSpPr>
          <p:cNvPr id="231" name="Google Shape;231;p21"/>
          <p:cNvGrpSpPr/>
          <p:nvPr/>
        </p:nvGrpSpPr>
        <p:grpSpPr>
          <a:xfrm>
            <a:off x="571500" y="2114550"/>
            <a:ext cx="3857700" cy="1352700"/>
            <a:chOff x="0" y="0"/>
            <a:chExt cx="3857700" cy="1352700"/>
          </a:xfrm>
        </p:grpSpPr>
        <p:sp>
          <p:nvSpPr>
            <p:cNvPr id="232" name="Google Shape;232;p21"/>
            <p:cNvSpPr/>
            <p:nvPr/>
          </p:nvSpPr>
          <p:spPr>
            <a:xfrm>
              <a:off x="0" y="0"/>
              <a:ext cx="3857700" cy="1352700"/>
            </a:xfrm>
            <a:prstGeom prst="roundRect">
              <a:avLst>
                <a:gd fmla="val 704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1"/>
            <p:cNvSpPr txBox="1"/>
            <p:nvPr/>
          </p:nvSpPr>
          <p:spPr>
            <a:xfrm>
              <a:off x="152400" y="114300"/>
              <a:ext cx="35529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50">
                  <a:solidFill>
                    <a:srgbClr val="0D47A1"/>
                  </a:solidFill>
                  <a:latin typeface="Montserrat"/>
                  <a:ea typeface="Montserrat"/>
                  <a:cs typeface="Montserrat"/>
                  <a:sym typeface="Montserrat"/>
                </a:rPr>
                <a:t>Who are the top 3 actors you should hire to make sure you make the most money?</a:t>
              </a:r>
              <a:endParaRPr b="1" sz="950">
                <a:solidFill>
                  <a:srgbClr val="0D47A1"/>
                </a:solidFill>
                <a:latin typeface="Montserrat"/>
                <a:ea typeface="Montserrat"/>
                <a:cs typeface="Montserrat"/>
                <a:sym typeface="Montserrat"/>
              </a:endParaRPr>
            </a:p>
            <a:p>
              <a:pPr indent="0" lvl="0" marL="0" rtl="0" algn="l">
                <a:spcBef>
                  <a:spcPts val="500"/>
                </a:spcBef>
                <a:spcAft>
                  <a:spcPts val="0"/>
                </a:spcAft>
                <a:buNone/>
              </a:pPr>
              <a:r>
                <a:rPr b="1" lang="en-GB" sz="850">
                  <a:solidFill>
                    <a:srgbClr val="0284C7"/>
                  </a:solidFill>
                  <a:latin typeface="Open Sans"/>
                  <a:ea typeface="Open Sans"/>
                  <a:cs typeface="Open Sans"/>
                  <a:sym typeface="Open Sans"/>
                </a:rPr>
                <a:t>Ans:</a:t>
              </a:r>
              <a:r>
                <a:rPr lang="en-GB" sz="850">
                  <a:solidFill>
                    <a:srgbClr val="334155"/>
                  </a:solidFill>
                  <a:latin typeface="Open Sans"/>
                  <a:ea typeface="Open Sans"/>
                  <a:cs typeface="Open Sans"/>
                  <a:sym typeface="Open Sans"/>
                </a:rPr>
                <a:t> Based on my data analysis casting Rupert Grint, Daniel Radcliffe, and Emma Watson. The real, practical takeaway here is that casting leads with a built-in, dedicated fandom (or tying them to a massive IP) is one of the safest bets for high box office returns.</a:t>
              </a:r>
              <a:endParaRPr sz="850">
                <a:solidFill>
                  <a:srgbClr val="334155"/>
                </a:solidFill>
                <a:latin typeface="Open Sans"/>
                <a:ea typeface="Open Sans"/>
                <a:cs typeface="Open Sans"/>
                <a:sym typeface="Open Sans"/>
              </a:endParaRPr>
            </a:p>
          </p:txBody>
        </p:sp>
      </p:grpSp>
      <p:grpSp>
        <p:nvGrpSpPr>
          <p:cNvPr id="234" name="Google Shape;234;p21"/>
          <p:cNvGrpSpPr/>
          <p:nvPr/>
        </p:nvGrpSpPr>
        <p:grpSpPr>
          <a:xfrm>
            <a:off x="571500" y="3581400"/>
            <a:ext cx="3857700" cy="1371600"/>
            <a:chOff x="0" y="0"/>
            <a:chExt cx="3857700" cy="1371600"/>
          </a:xfrm>
        </p:grpSpPr>
        <p:sp>
          <p:nvSpPr>
            <p:cNvPr id="235" name="Google Shape;235;p21"/>
            <p:cNvSpPr/>
            <p:nvPr/>
          </p:nvSpPr>
          <p:spPr>
            <a:xfrm>
              <a:off x="0" y="0"/>
              <a:ext cx="3857700" cy="1371600"/>
            </a:xfrm>
            <a:prstGeom prst="roundRect">
              <a:avLst>
                <a:gd fmla="val 69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1"/>
            <p:cNvSpPr txBox="1"/>
            <p:nvPr/>
          </p:nvSpPr>
          <p:spPr>
            <a:xfrm>
              <a:off x="152400" y="114300"/>
              <a:ext cx="35529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50">
                  <a:solidFill>
                    <a:srgbClr val="0D47A1"/>
                  </a:solidFill>
                  <a:latin typeface="Montserrat"/>
                  <a:ea typeface="Montserrat"/>
                  <a:cs typeface="Montserrat"/>
                  <a:sym typeface="Montserrat"/>
                </a:rPr>
                <a:t>Which film director and film producer should you hire to make sure you make the most money?</a:t>
              </a:r>
              <a:endParaRPr b="1" sz="950">
                <a:solidFill>
                  <a:srgbClr val="0D47A1"/>
                </a:solidFill>
                <a:latin typeface="Montserrat"/>
                <a:ea typeface="Montserrat"/>
                <a:cs typeface="Montserrat"/>
                <a:sym typeface="Montserrat"/>
              </a:endParaRPr>
            </a:p>
            <a:p>
              <a:pPr indent="0" lvl="0" marL="0" rtl="0" algn="l">
                <a:spcBef>
                  <a:spcPts val="500"/>
                </a:spcBef>
                <a:spcAft>
                  <a:spcPts val="0"/>
                </a:spcAft>
                <a:buNone/>
              </a:pPr>
              <a:r>
                <a:rPr b="1" lang="en-GB" sz="850">
                  <a:solidFill>
                    <a:srgbClr val="0284C7"/>
                  </a:solidFill>
                  <a:latin typeface="Open Sans"/>
                  <a:ea typeface="Open Sans"/>
                  <a:cs typeface="Open Sans"/>
                  <a:sym typeface="Open Sans"/>
                </a:rPr>
                <a:t>Ans:</a:t>
              </a:r>
              <a:r>
                <a:rPr lang="en-GB" sz="850">
                  <a:solidFill>
                    <a:srgbClr val="334155"/>
                  </a:solidFill>
                  <a:latin typeface="Open Sans"/>
                  <a:ea typeface="Open Sans"/>
                  <a:cs typeface="Open Sans"/>
                  <a:sym typeface="Open Sans"/>
                </a:rPr>
                <a:t> Joss Whedon tops the list for directors (with a median revenue of $1.4B), and Christopher Meledandri is the top producer ($923M). The data shows that top producers tend to be much more consistent for hits across their careers compared to directors, whose box office numbers can vary wildly from film to film.</a:t>
              </a:r>
              <a:endParaRPr sz="850">
                <a:solidFill>
                  <a:srgbClr val="334155"/>
                </a:solidFill>
                <a:latin typeface="Open Sans"/>
                <a:ea typeface="Open Sans"/>
                <a:cs typeface="Open Sans"/>
                <a:sym typeface="Open Sans"/>
              </a:endParaRPr>
            </a:p>
          </p:txBody>
        </p:sp>
      </p:grpSp>
      <p:grpSp>
        <p:nvGrpSpPr>
          <p:cNvPr id="237" name="Google Shape;237;p21"/>
          <p:cNvGrpSpPr/>
          <p:nvPr/>
        </p:nvGrpSpPr>
        <p:grpSpPr>
          <a:xfrm>
            <a:off x="4714875" y="762000"/>
            <a:ext cx="3857700" cy="2019300"/>
            <a:chOff x="0" y="0"/>
            <a:chExt cx="3857700" cy="2019300"/>
          </a:xfrm>
        </p:grpSpPr>
        <p:sp>
          <p:nvSpPr>
            <p:cNvPr id="238" name="Google Shape;238;p21"/>
            <p:cNvSpPr/>
            <p:nvPr/>
          </p:nvSpPr>
          <p:spPr>
            <a:xfrm>
              <a:off x="0" y="0"/>
              <a:ext cx="3857700" cy="2019300"/>
            </a:xfrm>
            <a:prstGeom prst="roundRect">
              <a:avLst>
                <a:gd fmla="val 471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1"/>
            <p:cNvSpPr txBox="1"/>
            <p:nvPr/>
          </p:nvSpPr>
          <p:spPr>
            <a:xfrm>
              <a:off x="152400" y="133350"/>
              <a:ext cx="3552900" cy="175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50">
                  <a:solidFill>
                    <a:srgbClr val="0D47A1"/>
                  </a:solidFill>
                  <a:latin typeface="Montserrat"/>
                  <a:ea typeface="Montserrat"/>
                  <a:cs typeface="Montserrat"/>
                  <a:sym typeface="Montserrat"/>
                </a:rPr>
                <a:t>How should you spend to produce the movie to optimize ROI?</a:t>
              </a:r>
              <a:endParaRPr b="1" sz="950">
                <a:solidFill>
                  <a:srgbClr val="0D47A1"/>
                </a:solidFill>
                <a:latin typeface="Montserrat"/>
                <a:ea typeface="Montserrat"/>
                <a:cs typeface="Montserrat"/>
                <a:sym typeface="Montserrat"/>
              </a:endParaRPr>
            </a:p>
            <a:p>
              <a:pPr indent="0" lvl="0" marL="0" rtl="0" algn="l">
                <a:spcBef>
                  <a:spcPts val="600"/>
                </a:spcBef>
                <a:spcAft>
                  <a:spcPts val="0"/>
                </a:spcAft>
                <a:buNone/>
              </a:pPr>
              <a:r>
                <a:rPr b="1" lang="en-GB" sz="850">
                  <a:solidFill>
                    <a:srgbClr val="0284C7"/>
                  </a:solidFill>
                  <a:latin typeface="Open Sans"/>
                  <a:ea typeface="Open Sans"/>
                  <a:cs typeface="Open Sans"/>
                  <a:sym typeface="Open Sans"/>
                </a:rPr>
                <a:t>Ans:</a:t>
              </a:r>
              <a:r>
                <a:rPr lang="en-GB" sz="850">
                  <a:solidFill>
                    <a:srgbClr val="334155"/>
                  </a:solidFill>
                  <a:latin typeface="Open Sans"/>
                  <a:ea typeface="Open Sans"/>
                  <a:cs typeface="Open Sans"/>
                  <a:sym typeface="Open Sans"/>
                </a:rPr>
                <a:t> It depends on how you measure success. Analysis shows that for the best risk-adjusted returns, a budget between $40-100M is the sweet spot. If you just want the biggest possible absolute total gross, you have to spend big (over $100-200M). That said, micro-budgets (under $5M) actually give the highest percentage ROI (median 3.78x) simply because they are so cheap to make—they just won't pull in blockbuster-level cash.</a:t>
              </a:r>
              <a:endParaRPr sz="850">
                <a:solidFill>
                  <a:srgbClr val="334155"/>
                </a:solidFill>
                <a:latin typeface="Open Sans"/>
                <a:ea typeface="Open Sans"/>
                <a:cs typeface="Open Sans"/>
                <a:sym typeface="Open Sans"/>
              </a:endParaRPr>
            </a:p>
          </p:txBody>
        </p:sp>
      </p:grpSp>
      <p:grpSp>
        <p:nvGrpSpPr>
          <p:cNvPr id="240" name="Google Shape;240;p21"/>
          <p:cNvGrpSpPr/>
          <p:nvPr/>
        </p:nvGrpSpPr>
        <p:grpSpPr>
          <a:xfrm>
            <a:off x="4714875" y="2895600"/>
            <a:ext cx="3857700" cy="2057400"/>
            <a:chOff x="0" y="0"/>
            <a:chExt cx="3857700" cy="2057400"/>
          </a:xfrm>
        </p:grpSpPr>
        <p:sp>
          <p:nvSpPr>
            <p:cNvPr id="241" name="Google Shape;241;p21"/>
            <p:cNvSpPr/>
            <p:nvPr/>
          </p:nvSpPr>
          <p:spPr>
            <a:xfrm>
              <a:off x="0" y="0"/>
              <a:ext cx="3857700" cy="2057400"/>
            </a:xfrm>
            <a:prstGeom prst="roundRect">
              <a:avLst>
                <a:gd fmla="val 462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1"/>
            <p:cNvSpPr txBox="1"/>
            <p:nvPr/>
          </p:nvSpPr>
          <p:spPr>
            <a:xfrm>
              <a:off x="152400" y="133350"/>
              <a:ext cx="3552900" cy="17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50">
                  <a:solidFill>
                    <a:srgbClr val="0D47A1"/>
                  </a:solidFill>
                  <a:latin typeface="Montserrat"/>
                  <a:ea typeface="Montserrat"/>
                  <a:cs typeface="Montserrat"/>
                  <a:sym typeface="Montserrat"/>
                </a:rPr>
                <a:t>Any other impactful parameters you want to include</a:t>
              </a:r>
              <a:endParaRPr b="1" sz="950">
                <a:solidFill>
                  <a:srgbClr val="0D47A1"/>
                </a:solidFill>
                <a:latin typeface="Montserrat"/>
                <a:ea typeface="Montserrat"/>
                <a:cs typeface="Montserrat"/>
                <a:sym typeface="Montserrat"/>
              </a:endParaRPr>
            </a:p>
            <a:p>
              <a:pPr indent="0" lvl="0" marL="0" rtl="0" algn="l">
                <a:spcBef>
                  <a:spcPts val="600"/>
                </a:spcBef>
                <a:spcAft>
                  <a:spcPts val="0"/>
                </a:spcAft>
                <a:buNone/>
              </a:pPr>
              <a:r>
                <a:rPr b="1" lang="en-GB" sz="850">
                  <a:solidFill>
                    <a:srgbClr val="0284C7"/>
                  </a:solidFill>
                  <a:latin typeface="Open Sans"/>
                  <a:ea typeface="Open Sans"/>
                  <a:cs typeface="Open Sans"/>
                  <a:sym typeface="Open Sans"/>
                </a:rPr>
                <a:t>Ans:</a:t>
              </a:r>
              <a:r>
                <a:rPr lang="en-GB" sz="850">
                  <a:solidFill>
                    <a:srgbClr val="334155"/>
                  </a:solidFill>
                  <a:latin typeface="Open Sans"/>
                  <a:ea typeface="Open Sans"/>
                  <a:cs typeface="Open Sans"/>
                  <a:sym typeface="Open Sans"/>
                </a:rPr>
                <a:t> Budget and pre-release popularity scores are the biggest predictors of a movie's final scale. Beyond that, timing is everything like releasing during the summer or the holiday season gives a big bump. Runtimes hitting that 120-150 minute sweet spot, having a large crew, and filming in English for global distribution also consistently drive up revenue.</a:t>
              </a:r>
              <a:endParaRPr sz="850">
                <a:solidFill>
                  <a:srgbClr val="334155"/>
                </a:solidFill>
                <a:latin typeface="Open Sans"/>
                <a:ea typeface="Open Sans"/>
                <a:cs typeface="Open Sans"/>
                <a:sym typeface="Open Sans"/>
              </a:endParaRPr>
            </a:p>
          </p:txBody>
        </p:sp>
      </p:grpSp>
      <p:sp>
        <p:nvSpPr>
          <p:cNvPr id="243" name="Google Shape;243;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247" name="Shape 247"/>
        <p:cNvGrpSpPr/>
        <p:nvPr/>
      </p:nvGrpSpPr>
      <p:grpSpPr>
        <a:xfrm>
          <a:off x="0" y="0"/>
          <a:ext cx="0" cy="0"/>
          <a:chOff x="0" y="0"/>
          <a:chExt cx="0" cy="0"/>
        </a:xfrm>
      </p:grpSpPr>
      <p:sp>
        <p:nvSpPr>
          <p:cNvPr id="248" name="Google Shape;248;p22"/>
          <p:cNvSpPr txBox="1"/>
          <p:nvPr/>
        </p:nvSpPr>
        <p:spPr>
          <a:xfrm>
            <a:off x="0" y="415875"/>
            <a:ext cx="7257000" cy="29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4800">
                <a:solidFill>
                  <a:srgbClr val="0D47A1"/>
                </a:solidFill>
                <a:latin typeface="Montserrat"/>
                <a:ea typeface="Montserrat"/>
                <a:cs typeface="Montserrat"/>
                <a:sym typeface="Montserrat"/>
              </a:rPr>
              <a:t>Thank you</a:t>
            </a:r>
            <a:endParaRPr b="1" sz="4800">
              <a:solidFill>
                <a:srgbClr val="0D47A1"/>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49" name="Google Shape;249;p22"/>
          <p:cNvSpPr/>
          <p:nvPr/>
        </p:nvSpPr>
        <p:spPr>
          <a:xfrm>
            <a:off x="8001000" y="4572000"/>
            <a:ext cx="571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